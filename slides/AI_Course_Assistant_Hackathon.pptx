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688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Introduce product name and tagline. Fill in Team name and member names before presenting. The tagline "From scattered course materials to grounded, multimodal answers" frames the core value proposition immediately.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Problem. Emphasize three distinct pain points. Keep it brief — the icons and card titles do the heavy lifting. The bottom callout summarizes the root problem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User Stories. Each story maps directly to a feature. Stories 1–2 map to RAG + citations. Story 3 maps to Vision Engine. Story 4 maps to conversation memory. Story 5 maps to document search. Keep the discussion grounded in real student pain.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Solution Overview. Stress that this is a domain-specific assistant, not a generic chatbot. The three-column layout (Input → Engine → Output) maps directly to the user journey. The bottom callout reinforces the grounding principle.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Architecture. Point out how module names match source files exactly. Top row = inference path. Bottom row = document ingestion path. Supporting modules panel shows auxiliary components. Emphasize dual-path design: real-time query path and offline ingestion path.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RAG Pipeline. Key numbers to highlight: fetch_k=15, Top 5, bge-reranker-v2-m3. Explain why casting wide then reranking reduces noise better than fetching Top-5 directly. Mention metadata filtering gives precise scope per assignment/workshop.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Agentic &amp; Multimodal. Emphasize three distinct capabilities. The "Execution Steps &amp; Tool Calls" phrase — this is observable agent behavior (action/observation), NOT internal chain-of-thought. Make clear web search is a fallback, not a replacement for course knowledge.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UX Demo Flow. Walk through each numbered step during the live demo. Replace the screenshot placeholder with actual Streamlit UI screenshot. Step 3 explicitly mentions "Execution Steps &amp; Tool Calls" — not chain-of-thought. Step 8 shows graceful off-topic handling.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Technical Differentiators. This table is the key comparison slide. "Two-Stage Retrieval" row is the most technically distinctive — pause here. Source Citations row addresses the hallucination problem directly. Off-topic Redirect shows production-quality thinking.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Testing. Do NOT claim pass rates or coverage numbers unless CI results are available. The warning banner makes this explicit. External APIs (OpenAI, Pinecone, Tavily) are mocked in tests. Streamlit AppTest covers UI-level flows without running a real server.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Demo Script. Presenter reads left column (action), audience sees middle column, key message on right. Time stamps are approximate — adjust based on rehearsal. If voice demo is not feasible in venue, skip step 5 and extend the follow-up conversation instead.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Deployment. Be honest about what is confirmed vs. not. Never claim production-ready without a URL or benchmark evidence. The three-color dot system (green/yellow/red) makes status clear at a glance. Roadmap shows the team has thought ahead.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Closing. Three pillars mirror the three main pain points from Slide 2. Fill in GitHub URL, Demo URL, and contact info before presenting. End with the tagline — it bookends the opening of Slide 1. Say thank you and open for Q&amp;A.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Shape 2"/>
          <p:cNvSpPr/>
          <p:nvPr/>
        </p:nvSpPr>
        <p:spPr>
          <a:xfrm>
            <a:off x="54864" y="0"/>
            <a:ext cx="9089136" cy="1005840"/>
          </a:xfrm>
          <a:prstGeom prst="rect">
            <a:avLst/>
          </a:prstGeom>
          <a:solidFill>
            <a:srgbClr val="0B1F3A"/>
          </a:solidFill>
          <a:ln w="12700">
            <a:solidFill>
              <a:srgbClr val="0B1F3A"/>
            </a:solidFill>
            <a:prstDash val="solid"/>
          </a:ln>
        </p:spPr>
      </p:sp>
      <p:sp>
        <p:nvSpPr>
          <p:cNvPr id="5" name="Text 3"/>
          <p:cNvSpPr/>
          <p:nvPr/>
        </p:nvSpPr>
        <p:spPr>
          <a:xfrm>
            <a:off x="457200" y="109728"/>
            <a:ext cx="8229600" cy="27432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HACKATHON AI · DOMAIN-SPECIFIC ASSISTANT</a:t>
            </a:r>
            <a:endParaRPr lang="en-US" sz="900" dirty="0"/>
          </a:p>
        </p:txBody>
      </p:sp>
      <p:sp>
        <p:nvSpPr>
          <p:cNvPr id="6" name="Text 4"/>
          <p:cNvSpPr/>
          <p:nvPr/>
        </p:nvSpPr>
        <p:spPr>
          <a:xfrm>
            <a:off x="457200" y="822960"/>
            <a:ext cx="8229600" cy="100584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AI Course Assistant</a:t>
            </a:r>
            <a:endParaRPr lang="en-US" sz="5200" dirty="0"/>
          </a:p>
        </p:txBody>
      </p:sp>
      <p:sp>
        <p:nvSpPr>
          <p:cNvPr id="7" name="Text 5"/>
          <p:cNvSpPr/>
          <p:nvPr/>
        </p:nvSpPr>
        <p:spPr>
          <a:xfrm>
            <a:off x="457200" y="1920240"/>
            <a:ext cx="6858000" cy="502920"/>
          </a:xfrm>
          <a:prstGeom prst="rect">
            <a:avLst/>
          </a:prstGeom>
          <a:noFill/>
          <a:ln/>
        </p:spPr>
        <p:txBody>
          <a:bodyPr wrap="square" rtlCol="0" anchor="ctr"/>
          <a:lstStyle/>
          <a:p>
            <a:pPr marL="0" indent="0">
              <a:buNone/>
            </a:pPr>
            <a:r>
              <a:rPr lang="en-US" sz="1600" i="1" dirty="0">
                <a:solidFill>
                  <a:srgbClr val="00C2CB"/>
                </a:solidFill>
                <a:latin typeface="Calibri" pitchFamily="34" charset="0"/>
                <a:ea typeface="Calibri" pitchFamily="34" charset="-122"/>
                <a:cs typeface="Calibri" pitchFamily="34" charset="-120"/>
              </a:rPr>
              <a:t>From scattered course materials to grounded, multimodal answers</a:t>
            </a:r>
            <a:endParaRPr lang="en-US" sz="1600" dirty="0"/>
          </a:p>
        </p:txBody>
      </p:sp>
      <p:sp>
        <p:nvSpPr>
          <p:cNvPr id="8" name="Shape 6"/>
          <p:cNvSpPr/>
          <p:nvPr/>
        </p:nvSpPr>
        <p:spPr>
          <a:xfrm>
            <a:off x="457200" y="2514600"/>
            <a:ext cx="8138160" cy="0"/>
          </a:xfrm>
          <a:prstGeom prst="line">
            <a:avLst/>
          </a:prstGeom>
          <a:noFill/>
          <a:ln w="12700">
            <a:solidFill>
              <a:srgbClr val="1E3A5F"/>
            </a:solidFill>
            <a:prstDash val="solid"/>
          </a:ln>
        </p:spPr>
      </p:sp>
      <p:sp>
        <p:nvSpPr>
          <p:cNvPr id="9" name="Shape 7"/>
          <p:cNvSpPr/>
          <p:nvPr/>
        </p:nvSpPr>
        <p:spPr>
          <a:xfrm>
            <a:off x="457200" y="2651760"/>
            <a:ext cx="1325880" cy="256032"/>
          </a:xfrm>
          <a:prstGeom prst="roundRect">
            <a:avLst>
              <a:gd name="adj" fmla="val 28571"/>
            </a:avLst>
          </a:prstGeom>
          <a:solidFill>
            <a:srgbClr val="112240"/>
          </a:solidFill>
          <a:ln w="12700">
            <a:solidFill>
              <a:srgbClr val="112240"/>
            </a:solidFill>
            <a:prstDash val="solid"/>
          </a:ln>
        </p:spPr>
      </p:sp>
      <p:sp>
        <p:nvSpPr>
          <p:cNvPr id="10" name="Text 8"/>
          <p:cNvSpPr/>
          <p:nvPr/>
        </p:nvSpPr>
        <p:spPr>
          <a:xfrm>
            <a:off x="457200" y="2660904"/>
            <a:ext cx="132588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RAG · Pinecone</a:t>
            </a:r>
            <a:endParaRPr lang="en-US" sz="900" dirty="0"/>
          </a:p>
        </p:txBody>
      </p:sp>
      <p:sp>
        <p:nvSpPr>
          <p:cNvPr id="11" name="Shape 9"/>
          <p:cNvSpPr/>
          <p:nvPr/>
        </p:nvSpPr>
        <p:spPr>
          <a:xfrm>
            <a:off x="1901952" y="2651760"/>
            <a:ext cx="1325880" cy="256032"/>
          </a:xfrm>
          <a:prstGeom prst="roundRect">
            <a:avLst>
              <a:gd name="adj" fmla="val 28571"/>
            </a:avLst>
          </a:prstGeom>
          <a:solidFill>
            <a:srgbClr val="112240"/>
          </a:solidFill>
          <a:ln w="12700">
            <a:solidFill>
              <a:srgbClr val="112240"/>
            </a:solidFill>
            <a:prstDash val="solid"/>
          </a:ln>
        </p:spPr>
      </p:sp>
      <p:sp>
        <p:nvSpPr>
          <p:cNvPr id="12" name="Text 10"/>
          <p:cNvSpPr/>
          <p:nvPr/>
        </p:nvSpPr>
        <p:spPr>
          <a:xfrm>
            <a:off x="1901952" y="2660904"/>
            <a:ext cx="132588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LangGraph ReAct</a:t>
            </a:r>
            <a:endParaRPr lang="en-US" sz="900" dirty="0"/>
          </a:p>
        </p:txBody>
      </p:sp>
      <p:sp>
        <p:nvSpPr>
          <p:cNvPr id="13" name="Shape 11"/>
          <p:cNvSpPr/>
          <p:nvPr/>
        </p:nvSpPr>
        <p:spPr>
          <a:xfrm>
            <a:off x="3346704" y="2651760"/>
            <a:ext cx="1325880" cy="256032"/>
          </a:xfrm>
          <a:prstGeom prst="roundRect">
            <a:avLst>
              <a:gd name="adj" fmla="val 28571"/>
            </a:avLst>
          </a:prstGeom>
          <a:solidFill>
            <a:srgbClr val="112240"/>
          </a:solidFill>
          <a:ln w="12700">
            <a:solidFill>
              <a:srgbClr val="112240"/>
            </a:solidFill>
            <a:prstDash val="solid"/>
          </a:ln>
        </p:spPr>
      </p:sp>
      <p:sp>
        <p:nvSpPr>
          <p:cNvPr id="14" name="Text 12"/>
          <p:cNvSpPr/>
          <p:nvPr/>
        </p:nvSpPr>
        <p:spPr>
          <a:xfrm>
            <a:off x="3346704" y="2660904"/>
            <a:ext cx="132588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bge-reranker-v2-m3</a:t>
            </a:r>
            <a:endParaRPr lang="en-US" sz="900" dirty="0"/>
          </a:p>
        </p:txBody>
      </p:sp>
      <p:sp>
        <p:nvSpPr>
          <p:cNvPr id="15" name="Shape 13"/>
          <p:cNvSpPr/>
          <p:nvPr/>
        </p:nvSpPr>
        <p:spPr>
          <a:xfrm>
            <a:off x="4791456" y="2651760"/>
            <a:ext cx="1325880" cy="256032"/>
          </a:xfrm>
          <a:prstGeom prst="roundRect">
            <a:avLst>
              <a:gd name="adj" fmla="val 28571"/>
            </a:avLst>
          </a:prstGeom>
          <a:solidFill>
            <a:srgbClr val="112240"/>
          </a:solidFill>
          <a:ln w="12700">
            <a:solidFill>
              <a:srgbClr val="112240"/>
            </a:solidFill>
            <a:prstDash val="solid"/>
          </a:ln>
        </p:spPr>
      </p:sp>
      <p:sp>
        <p:nvSpPr>
          <p:cNvPr id="16" name="Text 14"/>
          <p:cNvSpPr/>
          <p:nvPr/>
        </p:nvSpPr>
        <p:spPr>
          <a:xfrm>
            <a:off x="4791456" y="2660904"/>
            <a:ext cx="132588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PyMuPDF · Vision</a:t>
            </a:r>
            <a:endParaRPr lang="en-US" sz="900" dirty="0"/>
          </a:p>
        </p:txBody>
      </p:sp>
      <p:sp>
        <p:nvSpPr>
          <p:cNvPr id="17" name="Shape 15"/>
          <p:cNvSpPr/>
          <p:nvPr/>
        </p:nvSpPr>
        <p:spPr>
          <a:xfrm>
            <a:off x="6236208" y="2651760"/>
            <a:ext cx="1325880" cy="256032"/>
          </a:xfrm>
          <a:prstGeom prst="roundRect">
            <a:avLst>
              <a:gd name="adj" fmla="val 28571"/>
            </a:avLst>
          </a:prstGeom>
          <a:solidFill>
            <a:srgbClr val="112240"/>
          </a:solidFill>
          <a:ln w="12700">
            <a:solidFill>
              <a:srgbClr val="112240"/>
            </a:solidFill>
            <a:prstDash val="solid"/>
          </a:ln>
        </p:spPr>
      </p:sp>
      <p:sp>
        <p:nvSpPr>
          <p:cNvPr id="18" name="Text 16"/>
          <p:cNvSpPr/>
          <p:nvPr/>
        </p:nvSpPr>
        <p:spPr>
          <a:xfrm>
            <a:off x="6236208" y="2660904"/>
            <a:ext cx="132588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STT / TTS</a:t>
            </a:r>
            <a:endParaRPr lang="en-US" sz="900" dirty="0"/>
          </a:p>
        </p:txBody>
      </p:sp>
      <p:sp>
        <p:nvSpPr>
          <p:cNvPr id="19" name="Shape 17"/>
          <p:cNvSpPr/>
          <p:nvPr/>
        </p:nvSpPr>
        <p:spPr>
          <a:xfrm>
            <a:off x="7680960" y="2651760"/>
            <a:ext cx="1325880" cy="256032"/>
          </a:xfrm>
          <a:prstGeom prst="roundRect">
            <a:avLst>
              <a:gd name="adj" fmla="val 28571"/>
            </a:avLst>
          </a:prstGeom>
          <a:solidFill>
            <a:srgbClr val="112240"/>
          </a:solidFill>
          <a:ln w="12700">
            <a:solidFill>
              <a:srgbClr val="112240"/>
            </a:solidFill>
            <a:prstDash val="solid"/>
          </a:ln>
        </p:spPr>
      </p:sp>
      <p:sp>
        <p:nvSpPr>
          <p:cNvPr id="20" name="Text 18"/>
          <p:cNvSpPr/>
          <p:nvPr/>
        </p:nvSpPr>
        <p:spPr>
          <a:xfrm>
            <a:off x="7680960" y="2660904"/>
            <a:ext cx="132588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Streamlit</a:t>
            </a:r>
            <a:endParaRPr lang="en-US" sz="900" dirty="0"/>
          </a:p>
        </p:txBody>
      </p:sp>
      <p:sp>
        <p:nvSpPr>
          <p:cNvPr id="21" name="Shape 19"/>
          <p:cNvSpPr/>
          <p:nvPr/>
        </p:nvSpPr>
        <p:spPr>
          <a:xfrm>
            <a:off x="457200" y="3154680"/>
            <a:ext cx="8229600" cy="1371600"/>
          </a:xfrm>
          <a:prstGeom prst="roundRect">
            <a:avLst>
              <a:gd name="adj" fmla="val 6667"/>
            </a:avLst>
          </a:prstGeom>
          <a:solidFill>
            <a:srgbClr val="112240"/>
          </a:solidFill>
          <a:ln w="12700">
            <a:solidFill>
              <a:srgbClr val="1E3A5F"/>
            </a:solidFill>
            <a:prstDash val="solid"/>
          </a:ln>
        </p:spPr>
      </p:sp>
      <p:sp>
        <p:nvSpPr>
          <p:cNvPr id="22" name="Text 20"/>
          <p:cNvSpPr/>
          <p:nvPr/>
        </p:nvSpPr>
        <p:spPr>
          <a:xfrm>
            <a:off x="685800" y="3273552"/>
            <a:ext cx="1097280" cy="22860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TEAM</a:t>
            </a:r>
            <a:endParaRPr lang="en-US" sz="900" dirty="0"/>
          </a:p>
        </p:txBody>
      </p:sp>
      <p:sp>
        <p:nvSpPr>
          <p:cNvPr id="23" name="Text 21"/>
          <p:cNvSpPr/>
          <p:nvPr/>
        </p:nvSpPr>
        <p:spPr>
          <a:xfrm>
            <a:off x="685800" y="3493008"/>
            <a:ext cx="4114800" cy="256032"/>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Group </a:t>
            </a:r>
            <a:r>
              <a:rPr lang="en-US" sz="1400">
                <a:solidFill>
                  <a:srgbClr val="FFFFFF"/>
                </a:solidFill>
                <a:latin typeface="Calibri" pitchFamily="34" charset="0"/>
                <a:ea typeface="Calibri" pitchFamily="34" charset="-122"/>
                <a:cs typeface="Calibri" pitchFamily="34" charset="-120"/>
              </a:rPr>
              <a:t>3 – </a:t>
            </a:r>
            <a:r>
              <a:rPr lang="vi-VN" sz="1400" dirty="0">
                <a:solidFill>
                  <a:srgbClr val="FFFFFF"/>
                </a:solidFill>
                <a:latin typeface="Calibri" pitchFamily="34" charset="0"/>
                <a:ea typeface="Calibri" pitchFamily="34" charset="-122"/>
                <a:cs typeface="Calibri" pitchFamily="34" charset="-120"/>
              </a:rPr>
              <a:t>Khát nước quá</a:t>
            </a:r>
            <a:endParaRPr lang="en-US" sz="1400" dirty="0"/>
          </a:p>
        </p:txBody>
      </p:sp>
      <p:sp>
        <p:nvSpPr>
          <p:cNvPr id="24" name="Text 22"/>
          <p:cNvSpPr/>
          <p:nvPr/>
        </p:nvSpPr>
        <p:spPr>
          <a:xfrm>
            <a:off x="685799" y="3767328"/>
            <a:ext cx="6436895" cy="201168"/>
          </a:xfrm>
          <a:prstGeom prst="rect">
            <a:avLst/>
          </a:prstGeom>
          <a:noFill/>
          <a:ln/>
        </p:spPr>
        <p:txBody>
          <a:bodyPr wrap="square" rtlCol="0" anchor="ctr"/>
          <a:lstStyle/>
          <a:p>
            <a:pPr marL="0" indent="0">
              <a:buNone/>
            </a:pPr>
            <a:r>
              <a:rPr lang="en-US" sz="1100" dirty="0">
                <a:solidFill>
                  <a:srgbClr val="A0B4CC"/>
                </a:solidFill>
                <a:latin typeface="Calibri" pitchFamily="34" charset="0"/>
                <a:ea typeface="Calibri" pitchFamily="34" charset="-122"/>
                <a:cs typeface="Calibri" pitchFamily="34" charset="-120"/>
              </a:rPr>
              <a:t>Members:</a:t>
            </a:r>
            <a:r>
              <a:rPr lang="vi-VN" sz="1100" dirty="0">
                <a:solidFill>
                  <a:srgbClr val="A0B4CC"/>
                </a:solidFill>
                <a:latin typeface="Calibri" pitchFamily="34" charset="0"/>
                <a:ea typeface="Calibri" pitchFamily="34" charset="-122"/>
                <a:cs typeface="Calibri" pitchFamily="34" charset="-120"/>
              </a:rPr>
              <a:t> </a:t>
            </a:r>
            <a:r>
              <a:rPr lang="en-US" sz="1100" dirty="0">
                <a:solidFill>
                  <a:srgbClr val="A0B4CC"/>
                </a:solidFill>
                <a:latin typeface="Calibri" pitchFamily="34" charset="0"/>
                <a:ea typeface="Calibri" pitchFamily="34" charset="-122"/>
                <a:cs typeface="Calibri" pitchFamily="34" charset="-120"/>
              </a:rPr>
              <a:t>AnNPH5 CuongTQ7 DungPQ6 </a:t>
            </a:r>
            <a:r>
              <a:rPr lang="en-US" sz="1100" dirty="0" err="1">
                <a:solidFill>
                  <a:srgbClr val="A0B4CC"/>
                </a:solidFill>
                <a:latin typeface="Calibri" pitchFamily="34" charset="0"/>
                <a:ea typeface="Calibri" pitchFamily="34" charset="-122"/>
                <a:cs typeface="Calibri" pitchFamily="34" charset="-120"/>
              </a:rPr>
              <a:t>GiapHN</a:t>
            </a:r>
            <a:r>
              <a:rPr lang="en-US" sz="1100" dirty="0">
                <a:solidFill>
                  <a:srgbClr val="A0B4CC"/>
                </a:solidFill>
                <a:latin typeface="Calibri" pitchFamily="34" charset="0"/>
                <a:ea typeface="Calibri" pitchFamily="34" charset="-122"/>
                <a:cs typeface="Calibri" pitchFamily="34" charset="-120"/>
              </a:rPr>
              <a:t> </a:t>
            </a:r>
            <a:r>
              <a:rPr lang="en-US" sz="1100" dirty="0" err="1">
                <a:solidFill>
                  <a:srgbClr val="A0B4CC"/>
                </a:solidFill>
                <a:latin typeface="Calibri" pitchFamily="34" charset="0"/>
                <a:ea typeface="Calibri" pitchFamily="34" charset="-122"/>
                <a:cs typeface="Calibri" pitchFamily="34" charset="-120"/>
              </a:rPr>
              <a:t>LocNTH</a:t>
            </a:r>
            <a:r>
              <a:rPr lang="en-US" sz="1100" dirty="0">
                <a:solidFill>
                  <a:srgbClr val="A0B4CC"/>
                </a:solidFill>
                <a:latin typeface="Calibri" pitchFamily="34" charset="0"/>
                <a:ea typeface="Calibri" pitchFamily="34" charset="-122"/>
                <a:cs typeface="Calibri" pitchFamily="34" charset="-120"/>
              </a:rPr>
              <a:t> ThangTP3 ThanhVD7 </a:t>
            </a:r>
            <a:r>
              <a:rPr lang="en-US" sz="1100" dirty="0" err="1">
                <a:solidFill>
                  <a:srgbClr val="A0B4CC"/>
                </a:solidFill>
                <a:latin typeface="Calibri" pitchFamily="34" charset="0"/>
                <a:ea typeface="Calibri" pitchFamily="34" charset="-122"/>
                <a:cs typeface="Calibri" pitchFamily="34" charset="-120"/>
              </a:rPr>
              <a:t>TrucNLT</a:t>
            </a:r>
            <a:r>
              <a:rPr lang="en-US" sz="1100" dirty="0">
                <a:solidFill>
                  <a:srgbClr val="A0B4CC"/>
                </a:solidFill>
                <a:latin typeface="Calibri" pitchFamily="34" charset="0"/>
                <a:ea typeface="Calibri" pitchFamily="34" charset="-122"/>
                <a:cs typeface="Calibri" pitchFamily="34" charset="-120"/>
              </a:rPr>
              <a:t> VietNQ32</a:t>
            </a:r>
            <a:endParaRPr lang="en-US" sz="1100" dirty="0"/>
          </a:p>
        </p:txBody>
      </p:sp>
      <p:sp>
        <p:nvSpPr>
          <p:cNvPr id="25" name="Text 23"/>
          <p:cNvSpPr/>
          <p:nvPr/>
        </p:nvSpPr>
        <p:spPr>
          <a:xfrm>
            <a:off x="685800" y="4023360"/>
            <a:ext cx="5486400" cy="201168"/>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AI Application Engineer Course</a:t>
            </a:r>
            <a:endParaRPr lang="en-US" sz="1000" dirty="0"/>
          </a:p>
        </p:txBody>
      </p:sp>
      <p:sp>
        <p:nvSpPr>
          <p:cNvPr id="26" name="Text 24"/>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1 / 13</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9FF"/>
          </a:solidFill>
          <a:ln w="12700">
            <a:solidFill>
              <a:srgbClr val="F5F9FF"/>
            </a:solidFill>
            <a:prstDash val="solid"/>
          </a:ln>
        </p:spPr>
      </p:sp>
      <p:sp>
        <p:nvSpPr>
          <p:cNvPr id="3" name="Shape 1"/>
          <p:cNvSpPr/>
          <p:nvPr/>
        </p:nvSpPr>
        <p:spPr>
          <a:xfrm>
            <a:off x="0" y="0"/>
            <a:ext cx="9144000" cy="868680"/>
          </a:xfrm>
          <a:prstGeom prst="rect">
            <a:avLst/>
          </a:prstGeom>
          <a:solidFill>
            <a:srgbClr val="0A1628"/>
          </a:solidFill>
          <a:ln w="12700">
            <a:solidFill>
              <a:srgbClr val="0A1628"/>
            </a:solidFill>
            <a:prstDash val="solid"/>
          </a:ln>
        </p:spPr>
      </p:sp>
      <p:sp>
        <p:nvSpPr>
          <p:cNvPr id="4" name="Shape 2"/>
          <p:cNvSpPr/>
          <p:nvPr/>
        </p:nvSpPr>
        <p:spPr>
          <a:xfrm>
            <a:off x="0" y="0"/>
            <a:ext cx="54864" cy="5143500"/>
          </a:xfrm>
          <a:prstGeom prst="rect">
            <a:avLst/>
          </a:prstGeom>
          <a:solidFill>
            <a:srgbClr val="00C2CB"/>
          </a:solidFill>
          <a:ln w="12700">
            <a:solidFill>
              <a:srgbClr val="00C2CB"/>
            </a:solidFill>
            <a:prstDash val="solid"/>
          </a:ln>
        </p:spPr>
      </p:sp>
      <p:sp>
        <p:nvSpPr>
          <p:cNvPr id="5" name="Text 3"/>
          <p:cNvSpPr/>
          <p:nvPr/>
        </p:nvSpPr>
        <p:spPr>
          <a:xfrm>
            <a:off x="457200" y="137160"/>
            <a:ext cx="5486400" cy="27432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PROBLEM &amp; MOTIVATION</a:t>
            </a:r>
            <a:endParaRPr lang="en-US" sz="900" dirty="0"/>
          </a:p>
        </p:txBody>
      </p:sp>
      <p:sp>
        <p:nvSpPr>
          <p:cNvPr id="6" name="Text 4"/>
          <p:cNvSpPr/>
          <p:nvPr/>
        </p:nvSpPr>
        <p:spPr>
          <a:xfrm>
            <a:off x="457200" y="411480"/>
            <a:ext cx="8229600" cy="36576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Why students need a smarter assistant</a:t>
            </a:r>
            <a:endParaRPr lang="en-US" sz="2200" dirty="0"/>
          </a:p>
        </p:txBody>
      </p:sp>
      <p:sp>
        <p:nvSpPr>
          <p:cNvPr id="7" name="Shape 5"/>
          <p:cNvSpPr/>
          <p:nvPr/>
        </p:nvSpPr>
        <p:spPr>
          <a:xfrm>
            <a:off x="457200" y="1097280"/>
            <a:ext cx="2651760" cy="3566160"/>
          </a:xfrm>
          <a:prstGeom prst="roundRect">
            <a:avLst>
              <a:gd name="adj" fmla="val 4138"/>
            </a:avLst>
          </a:prstGeom>
          <a:solidFill>
            <a:srgbClr val="FFFFFF"/>
          </a:solidFill>
          <a:ln w="12700">
            <a:solidFill>
              <a:srgbClr val="D0DCF0"/>
            </a:solidFill>
            <a:prstDash val="solid"/>
          </a:ln>
        </p:spPr>
      </p:sp>
      <p:sp>
        <p:nvSpPr>
          <p:cNvPr id="8" name="Shape 6"/>
          <p:cNvSpPr/>
          <p:nvPr/>
        </p:nvSpPr>
        <p:spPr>
          <a:xfrm>
            <a:off x="457200" y="1097280"/>
            <a:ext cx="2651760" cy="457200"/>
          </a:xfrm>
          <a:prstGeom prst="roundRect">
            <a:avLst>
              <a:gd name="adj" fmla="val 24000"/>
            </a:avLst>
          </a:prstGeom>
          <a:solidFill>
            <a:srgbClr val="1A6ED8"/>
          </a:solidFill>
          <a:ln w="12700">
            <a:solidFill>
              <a:srgbClr val="1A6ED8"/>
            </a:solidFill>
            <a:prstDash val="solid"/>
          </a:ln>
        </p:spPr>
      </p:sp>
      <p:sp>
        <p:nvSpPr>
          <p:cNvPr id="9" name="Shape 7"/>
          <p:cNvSpPr/>
          <p:nvPr/>
        </p:nvSpPr>
        <p:spPr>
          <a:xfrm>
            <a:off x="457200" y="1371600"/>
            <a:ext cx="2651760" cy="201168"/>
          </a:xfrm>
          <a:prstGeom prst="rect">
            <a:avLst/>
          </a:prstGeom>
          <a:solidFill>
            <a:srgbClr val="1A6ED8"/>
          </a:solidFill>
          <a:ln w="12700">
            <a:solidFill>
              <a:srgbClr val="1A6ED8"/>
            </a:solidFill>
            <a:prstDash val="solid"/>
          </a:ln>
        </p:spPr>
      </p:sp>
      <p:sp>
        <p:nvSpPr>
          <p:cNvPr id="10" name="Text 8"/>
          <p:cNvSpPr/>
          <p:nvPr/>
        </p:nvSpPr>
        <p:spPr>
          <a:xfrm>
            <a:off x="1280160" y="1115568"/>
            <a:ext cx="914400" cy="384048"/>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566928" y="1627632"/>
            <a:ext cx="2423160" cy="384048"/>
          </a:xfrm>
          <a:prstGeom prst="rect">
            <a:avLst/>
          </a:prstGeom>
          <a:noFill/>
          <a:ln/>
        </p:spPr>
        <p:txBody>
          <a:bodyPr wrap="square" rtlCol="0" anchor="ctr"/>
          <a:lstStyle/>
          <a:p>
            <a:pPr marL="0" indent="0" algn="ctr">
              <a:buNone/>
            </a:pPr>
            <a:r>
              <a:rPr lang="en-US" sz="1400" b="1" dirty="0">
                <a:solidFill>
                  <a:srgbClr val="0A1628"/>
                </a:solidFill>
                <a:latin typeface="Cambria" pitchFamily="34" charset="0"/>
                <a:ea typeface="Cambria" pitchFamily="34" charset="-122"/>
                <a:cs typeface="Cambria" pitchFamily="34" charset="-120"/>
              </a:rPr>
              <a:t>Information Overload</a:t>
            </a:r>
            <a:endParaRPr lang="en-US" sz="1400" dirty="0"/>
          </a:p>
        </p:txBody>
      </p:sp>
      <p:sp>
        <p:nvSpPr>
          <p:cNvPr id="12" name="Text 10"/>
          <p:cNvSpPr/>
          <p:nvPr/>
        </p:nvSpPr>
        <p:spPr>
          <a:xfrm>
            <a:off x="621792" y="2103120"/>
            <a:ext cx="2331720" cy="2286000"/>
          </a:xfrm>
          <a:prstGeom prst="rect">
            <a:avLst/>
          </a:prstGeom>
          <a:noFill/>
          <a:ln/>
        </p:spPr>
        <p:txBody>
          <a:bodyPr wrap="square" rtlCol="0" anchor="t"/>
          <a:lstStyle/>
          <a:p>
            <a:pPr marL="0" indent="0" algn="l">
              <a:buNone/>
            </a:pPr>
            <a:r>
              <a:rPr lang="en-US" sz="1200" dirty="0">
                <a:solidFill>
                  <a:srgbClr val="3A4A5A"/>
                </a:solidFill>
                <a:latin typeface="Calibri" pitchFamily="34" charset="0"/>
                <a:ea typeface="Calibri" pitchFamily="34" charset="-122"/>
                <a:cs typeface="Calibri" pitchFamily="34" charset="-120"/>
              </a:rPr>
              <a:t>Assignments, Workshops &amp; Guidelines spread across dozens of PDFs — no single place to search.</a:t>
            </a:r>
            <a:endParaRPr lang="en-US" sz="1200" dirty="0"/>
          </a:p>
        </p:txBody>
      </p:sp>
      <p:sp>
        <p:nvSpPr>
          <p:cNvPr id="13" name="Shape 11"/>
          <p:cNvSpPr/>
          <p:nvPr/>
        </p:nvSpPr>
        <p:spPr>
          <a:xfrm>
            <a:off x="3291840" y="1097280"/>
            <a:ext cx="2651760" cy="3566160"/>
          </a:xfrm>
          <a:prstGeom prst="roundRect">
            <a:avLst>
              <a:gd name="adj" fmla="val 4138"/>
            </a:avLst>
          </a:prstGeom>
          <a:solidFill>
            <a:srgbClr val="FFFFFF"/>
          </a:solidFill>
          <a:ln w="12700">
            <a:solidFill>
              <a:srgbClr val="D0DCF0"/>
            </a:solidFill>
            <a:prstDash val="solid"/>
          </a:ln>
        </p:spPr>
      </p:sp>
      <p:sp>
        <p:nvSpPr>
          <p:cNvPr id="14" name="Shape 12"/>
          <p:cNvSpPr/>
          <p:nvPr/>
        </p:nvSpPr>
        <p:spPr>
          <a:xfrm>
            <a:off x="3291840" y="1097280"/>
            <a:ext cx="2651760" cy="457200"/>
          </a:xfrm>
          <a:prstGeom prst="roundRect">
            <a:avLst>
              <a:gd name="adj" fmla="val 24000"/>
            </a:avLst>
          </a:prstGeom>
          <a:solidFill>
            <a:srgbClr val="00C2CB"/>
          </a:solidFill>
          <a:ln w="12700">
            <a:solidFill>
              <a:srgbClr val="00C2CB"/>
            </a:solidFill>
            <a:prstDash val="solid"/>
          </a:ln>
        </p:spPr>
      </p:sp>
      <p:sp>
        <p:nvSpPr>
          <p:cNvPr id="15" name="Shape 13"/>
          <p:cNvSpPr/>
          <p:nvPr/>
        </p:nvSpPr>
        <p:spPr>
          <a:xfrm>
            <a:off x="3291840" y="1371600"/>
            <a:ext cx="2651760" cy="201168"/>
          </a:xfrm>
          <a:prstGeom prst="rect">
            <a:avLst/>
          </a:prstGeom>
          <a:solidFill>
            <a:srgbClr val="00C2CB"/>
          </a:solidFill>
          <a:ln w="12700">
            <a:solidFill>
              <a:srgbClr val="00C2CB"/>
            </a:solidFill>
            <a:prstDash val="solid"/>
          </a:ln>
        </p:spPr>
      </p:sp>
      <p:sp>
        <p:nvSpPr>
          <p:cNvPr id="16" name="Text 14"/>
          <p:cNvSpPr/>
          <p:nvPr/>
        </p:nvSpPr>
        <p:spPr>
          <a:xfrm>
            <a:off x="4114800" y="1115568"/>
            <a:ext cx="914400" cy="384048"/>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3401568" y="1627632"/>
            <a:ext cx="2423160" cy="384048"/>
          </a:xfrm>
          <a:prstGeom prst="rect">
            <a:avLst/>
          </a:prstGeom>
          <a:noFill/>
          <a:ln/>
        </p:spPr>
        <p:txBody>
          <a:bodyPr wrap="square" rtlCol="0" anchor="ctr"/>
          <a:lstStyle/>
          <a:p>
            <a:pPr marL="0" indent="0" algn="ctr">
              <a:buNone/>
            </a:pPr>
            <a:r>
              <a:rPr lang="en-US" sz="1400" b="1" dirty="0">
                <a:solidFill>
                  <a:srgbClr val="0A1628"/>
                </a:solidFill>
                <a:latin typeface="Cambria" pitchFamily="34" charset="0"/>
                <a:ea typeface="Cambria" pitchFamily="34" charset="-122"/>
                <a:cs typeface="Cambria" pitchFamily="34" charset="-120"/>
              </a:rPr>
              <a:t>Lost Context</a:t>
            </a:r>
            <a:endParaRPr lang="en-US" sz="1400" dirty="0"/>
          </a:p>
        </p:txBody>
      </p:sp>
      <p:sp>
        <p:nvSpPr>
          <p:cNvPr id="18" name="Text 16"/>
          <p:cNvSpPr/>
          <p:nvPr/>
        </p:nvSpPr>
        <p:spPr>
          <a:xfrm>
            <a:off x="3456432" y="2103120"/>
            <a:ext cx="2331720" cy="2286000"/>
          </a:xfrm>
          <a:prstGeom prst="rect">
            <a:avLst/>
          </a:prstGeom>
          <a:noFill/>
          <a:ln/>
        </p:spPr>
        <p:txBody>
          <a:bodyPr wrap="square" rtlCol="0" anchor="t"/>
          <a:lstStyle/>
          <a:p>
            <a:pPr marL="0" indent="0" algn="l">
              <a:buNone/>
            </a:pPr>
            <a:r>
              <a:rPr lang="en-US" sz="1200" dirty="0">
                <a:solidFill>
                  <a:srgbClr val="3A4A5A"/>
                </a:solidFill>
                <a:latin typeface="Calibri" pitchFamily="34" charset="0"/>
                <a:ea typeface="Calibri" pitchFamily="34" charset="-122"/>
                <a:cs typeface="Calibri" pitchFamily="34" charset="-120"/>
              </a:rPr>
              <a:t>Asking follow-up questions means repeating context every time — no memory across turns.</a:t>
            </a:r>
            <a:endParaRPr lang="en-US" sz="1200" dirty="0"/>
          </a:p>
        </p:txBody>
      </p:sp>
      <p:sp>
        <p:nvSpPr>
          <p:cNvPr id="19" name="Shape 17"/>
          <p:cNvSpPr/>
          <p:nvPr/>
        </p:nvSpPr>
        <p:spPr>
          <a:xfrm>
            <a:off x="6126480" y="1097280"/>
            <a:ext cx="2651760" cy="3566160"/>
          </a:xfrm>
          <a:prstGeom prst="roundRect">
            <a:avLst>
              <a:gd name="adj" fmla="val 4138"/>
            </a:avLst>
          </a:prstGeom>
          <a:solidFill>
            <a:srgbClr val="FFFFFF"/>
          </a:solidFill>
          <a:ln w="12700">
            <a:solidFill>
              <a:srgbClr val="D0DCF0"/>
            </a:solidFill>
            <a:prstDash val="solid"/>
          </a:ln>
        </p:spPr>
      </p:sp>
      <p:sp>
        <p:nvSpPr>
          <p:cNvPr id="20" name="Shape 18"/>
          <p:cNvSpPr/>
          <p:nvPr/>
        </p:nvSpPr>
        <p:spPr>
          <a:xfrm>
            <a:off x="6126480" y="1097280"/>
            <a:ext cx="2651760" cy="457200"/>
          </a:xfrm>
          <a:prstGeom prst="roundRect">
            <a:avLst>
              <a:gd name="adj" fmla="val 24000"/>
            </a:avLst>
          </a:prstGeom>
          <a:solidFill>
            <a:srgbClr val="E04040"/>
          </a:solidFill>
          <a:ln w="12700">
            <a:solidFill>
              <a:srgbClr val="E04040"/>
            </a:solidFill>
            <a:prstDash val="solid"/>
          </a:ln>
        </p:spPr>
      </p:sp>
      <p:sp>
        <p:nvSpPr>
          <p:cNvPr id="21" name="Shape 19"/>
          <p:cNvSpPr/>
          <p:nvPr/>
        </p:nvSpPr>
        <p:spPr>
          <a:xfrm>
            <a:off x="6126480" y="1371600"/>
            <a:ext cx="2651760" cy="201168"/>
          </a:xfrm>
          <a:prstGeom prst="rect">
            <a:avLst/>
          </a:prstGeom>
          <a:solidFill>
            <a:srgbClr val="E04040"/>
          </a:solidFill>
          <a:ln w="12700">
            <a:solidFill>
              <a:srgbClr val="E04040"/>
            </a:solidFill>
            <a:prstDash val="solid"/>
          </a:ln>
        </p:spPr>
      </p:sp>
      <p:sp>
        <p:nvSpPr>
          <p:cNvPr id="22" name="Text 20"/>
          <p:cNvSpPr/>
          <p:nvPr/>
        </p:nvSpPr>
        <p:spPr>
          <a:xfrm>
            <a:off x="6949440" y="1115568"/>
            <a:ext cx="914400" cy="384048"/>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6236208" y="1627632"/>
            <a:ext cx="2423160" cy="384048"/>
          </a:xfrm>
          <a:prstGeom prst="rect">
            <a:avLst/>
          </a:prstGeom>
          <a:noFill/>
          <a:ln/>
        </p:spPr>
        <p:txBody>
          <a:bodyPr wrap="square" rtlCol="0" anchor="ctr"/>
          <a:lstStyle/>
          <a:p>
            <a:pPr marL="0" indent="0" algn="ctr">
              <a:buNone/>
            </a:pPr>
            <a:r>
              <a:rPr lang="en-US" sz="1400" b="1" dirty="0">
                <a:solidFill>
                  <a:srgbClr val="0A1628"/>
                </a:solidFill>
                <a:latin typeface="Cambria" pitchFamily="34" charset="0"/>
                <a:ea typeface="Cambria" pitchFamily="34" charset="-122"/>
                <a:cs typeface="Cambria" pitchFamily="34" charset="-120"/>
              </a:rPr>
              <a:t>Hallucination Risk</a:t>
            </a:r>
            <a:endParaRPr lang="en-US" sz="1400" dirty="0"/>
          </a:p>
        </p:txBody>
      </p:sp>
      <p:sp>
        <p:nvSpPr>
          <p:cNvPr id="24" name="Text 22"/>
          <p:cNvSpPr/>
          <p:nvPr/>
        </p:nvSpPr>
        <p:spPr>
          <a:xfrm>
            <a:off x="6291072" y="2103120"/>
            <a:ext cx="2331720" cy="2286000"/>
          </a:xfrm>
          <a:prstGeom prst="rect">
            <a:avLst/>
          </a:prstGeom>
          <a:noFill/>
          <a:ln/>
        </p:spPr>
        <p:txBody>
          <a:bodyPr wrap="square" rtlCol="0" anchor="t"/>
          <a:lstStyle/>
          <a:p>
            <a:pPr marL="0" indent="0" algn="l">
              <a:buNone/>
            </a:pPr>
            <a:r>
              <a:rPr lang="en-US" sz="1200" dirty="0">
                <a:solidFill>
                  <a:srgbClr val="3A4A5A"/>
                </a:solidFill>
                <a:latin typeface="Calibri" pitchFamily="34" charset="0"/>
                <a:ea typeface="Calibri" pitchFamily="34" charset="-122"/>
                <a:cs typeface="Calibri" pitchFamily="34" charset="-120"/>
              </a:rPr>
              <a:t>General AI answers lack source citations and page references — students can't verify correctness.</a:t>
            </a:r>
            <a:endParaRPr lang="en-US" sz="1200" dirty="0"/>
          </a:p>
        </p:txBody>
      </p:sp>
      <p:sp>
        <p:nvSpPr>
          <p:cNvPr id="25" name="Shape 23"/>
          <p:cNvSpPr/>
          <p:nvPr/>
        </p:nvSpPr>
        <p:spPr>
          <a:xfrm>
            <a:off x="457200" y="4617720"/>
            <a:ext cx="8229600" cy="384048"/>
          </a:xfrm>
          <a:prstGeom prst="roundRect">
            <a:avLst>
              <a:gd name="adj" fmla="val 19048"/>
            </a:avLst>
          </a:prstGeom>
          <a:solidFill>
            <a:srgbClr val="0A1628"/>
          </a:solidFill>
          <a:ln w="12700">
            <a:solidFill>
              <a:srgbClr val="0A1628"/>
            </a:solidFill>
            <a:prstDash val="solid"/>
          </a:ln>
        </p:spPr>
      </p:sp>
      <p:sp>
        <p:nvSpPr>
          <p:cNvPr id="26" name="Text 24"/>
          <p:cNvSpPr/>
          <p:nvPr/>
        </p:nvSpPr>
        <p:spPr>
          <a:xfrm>
            <a:off x="548640" y="4636008"/>
            <a:ext cx="8046720" cy="347472"/>
          </a:xfrm>
          <a:prstGeom prst="rect">
            <a:avLst/>
          </a:prstGeom>
          <a:noFill/>
          <a:ln/>
        </p:spPr>
        <p:txBody>
          <a:bodyPr wrap="square"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Result: Students waste time searching manually and can't trust AI answers without verified sources.</a:t>
            </a:r>
            <a:endParaRPr lang="en-US" sz="1100" dirty="0"/>
          </a:p>
        </p:txBody>
      </p:sp>
      <p:sp>
        <p:nvSpPr>
          <p:cNvPr id="27" name="Text 25"/>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0B4CC"/>
                </a:solidFill>
                <a:latin typeface="Calibri" pitchFamily="34" charset="0"/>
                <a:ea typeface="Calibri" pitchFamily="34" charset="-122"/>
                <a:cs typeface="Calibri" pitchFamily="34" charset="-120"/>
              </a:rPr>
              <a:t>2 / 13</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Text 2"/>
          <p:cNvSpPr/>
          <p:nvPr/>
        </p:nvSpPr>
        <p:spPr>
          <a:xfrm>
            <a:off x="457200" y="73152"/>
            <a:ext cx="8229600" cy="201168"/>
          </a:xfrm>
          <a:prstGeom prst="rect">
            <a:avLst/>
          </a:prstGeom>
          <a:noFill/>
          <a:ln/>
        </p:spPr>
        <p:txBody>
          <a:bodyPr wrap="square" rtlCol="0" anchor="ctr"/>
          <a:lstStyle/>
          <a:p>
            <a:pPr marL="0" indent="0" algn="l">
              <a:buNone/>
            </a:pPr>
            <a:r>
              <a:rPr lang="en-US" sz="900" b="1" kern="0" spc="200" dirty="0">
                <a:solidFill>
                  <a:srgbClr val="00C2CB"/>
                </a:solidFill>
                <a:latin typeface="Calibri" pitchFamily="34" charset="0"/>
                <a:ea typeface="Calibri" pitchFamily="34" charset="-122"/>
                <a:cs typeface="Calibri" pitchFamily="34" charset="-120"/>
              </a:rPr>
              <a:t>WHO WE SERVE</a:t>
            </a:r>
            <a:endParaRPr lang="en-US" sz="900" dirty="0"/>
          </a:p>
        </p:txBody>
      </p:sp>
      <p:sp>
        <p:nvSpPr>
          <p:cNvPr id="5" name="Text 3"/>
          <p:cNvSpPr/>
          <p:nvPr/>
        </p:nvSpPr>
        <p:spPr>
          <a:xfrm>
            <a:off x="457200" y="256032"/>
            <a:ext cx="8229600" cy="47548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Target Users &amp; User Stories</a:t>
            </a:r>
            <a:endParaRPr lang="en-US" sz="2800" dirty="0"/>
          </a:p>
        </p:txBody>
      </p:sp>
      <p:sp>
        <p:nvSpPr>
          <p:cNvPr id="6" name="Shape 4"/>
          <p:cNvSpPr/>
          <p:nvPr/>
        </p:nvSpPr>
        <p:spPr>
          <a:xfrm>
            <a:off x="457200" y="804672"/>
            <a:ext cx="1828800" cy="256032"/>
          </a:xfrm>
          <a:prstGeom prst="roundRect">
            <a:avLst>
              <a:gd name="adj" fmla="val 28571"/>
            </a:avLst>
          </a:prstGeom>
          <a:solidFill>
            <a:srgbClr val="112240"/>
          </a:solidFill>
          <a:ln w="12700">
            <a:solidFill>
              <a:srgbClr val="112240"/>
            </a:solidFill>
            <a:prstDash val="solid"/>
          </a:ln>
        </p:spPr>
      </p:sp>
      <p:sp>
        <p:nvSpPr>
          <p:cNvPr id="7" name="Text 5"/>
          <p:cNvSpPr/>
          <p:nvPr/>
        </p:nvSpPr>
        <p:spPr>
          <a:xfrm>
            <a:off x="457200" y="813816"/>
            <a:ext cx="182880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 Student</a:t>
            </a:r>
            <a:endParaRPr lang="en-US" sz="900" dirty="0"/>
          </a:p>
        </p:txBody>
      </p:sp>
      <p:sp>
        <p:nvSpPr>
          <p:cNvPr id="8" name="Shape 6"/>
          <p:cNvSpPr/>
          <p:nvPr/>
        </p:nvSpPr>
        <p:spPr>
          <a:xfrm>
            <a:off x="2468880" y="804672"/>
            <a:ext cx="1828800" cy="256032"/>
          </a:xfrm>
          <a:prstGeom prst="roundRect">
            <a:avLst>
              <a:gd name="adj" fmla="val 28571"/>
            </a:avLst>
          </a:prstGeom>
          <a:solidFill>
            <a:srgbClr val="112240"/>
          </a:solidFill>
          <a:ln w="12700">
            <a:solidFill>
              <a:srgbClr val="112240"/>
            </a:solidFill>
            <a:prstDash val="solid"/>
          </a:ln>
        </p:spPr>
      </p:sp>
      <p:sp>
        <p:nvSpPr>
          <p:cNvPr id="9" name="Text 7"/>
          <p:cNvSpPr/>
          <p:nvPr/>
        </p:nvSpPr>
        <p:spPr>
          <a:xfrm>
            <a:off x="2468880" y="813816"/>
            <a:ext cx="182880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 Developer-Learner</a:t>
            </a:r>
            <a:endParaRPr lang="en-US" sz="900" dirty="0"/>
          </a:p>
        </p:txBody>
      </p:sp>
      <p:sp>
        <p:nvSpPr>
          <p:cNvPr id="10" name="Shape 8"/>
          <p:cNvSpPr/>
          <p:nvPr/>
        </p:nvSpPr>
        <p:spPr>
          <a:xfrm>
            <a:off x="4480560" y="804672"/>
            <a:ext cx="1828800" cy="256032"/>
          </a:xfrm>
          <a:prstGeom prst="roundRect">
            <a:avLst>
              <a:gd name="adj" fmla="val 28571"/>
            </a:avLst>
          </a:prstGeom>
          <a:solidFill>
            <a:srgbClr val="112240"/>
          </a:solidFill>
          <a:ln w="12700">
            <a:solidFill>
              <a:srgbClr val="112240"/>
            </a:solidFill>
            <a:prstDash val="solid"/>
          </a:ln>
        </p:spPr>
      </p:sp>
      <p:sp>
        <p:nvSpPr>
          <p:cNvPr id="11" name="Text 9"/>
          <p:cNvSpPr/>
          <p:nvPr/>
        </p:nvSpPr>
        <p:spPr>
          <a:xfrm>
            <a:off x="4480560" y="813816"/>
            <a:ext cx="1828800" cy="256032"/>
          </a:xfrm>
          <a:prstGeom prst="rect">
            <a:avLst/>
          </a:prstGeom>
          <a:noFill/>
          <a:ln/>
        </p:spPr>
        <p:txBody>
          <a:bodyPr wrap="square" lIns="0" tIns="0" rIns="0" bIns="0"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 Mentor / Instructor</a:t>
            </a:r>
            <a:endParaRPr lang="en-US" sz="900" dirty="0"/>
          </a:p>
        </p:txBody>
      </p:sp>
      <p:sp>
        <p:nvSpPr>
          <p:cNvPr id="12" name="Shape 10"/>
          <p:cNvSpPr/>
          <p:nvPr/>
        </p:nvSpPr>
        <p:spPr>
          <a:xfrm>
            <a:off x="457200" y="1170432"/>
            <a:ext cx="4114800" cy="1005840"/>
          </a:xfrm>
          <a:prstGeom prst="roundRect">
            <a:avLst>
              <a:gd name="adj" fmla="val 9091"/>
            </a:avLst>
          </a:prstGeom>
          <a:solidFill>
            <a:srgbClr val="112240"/>
          </a:solidFill>
          <a:ln w="12700">
            <a:solidFill>
              <a:srgbClr val="1E3A5F"/>
            </a:solidFill>
            <a:prstDash val="solid"/>
          </a:ln>
        </p:spPr>
      </p:sp>
      <p:sp>
        <p:nvSpPr>
          <p:cNvPr id="13" name="Shape 11"/>
          <p:cNvSpPr/>
          <p:nvPr/>
        </p:nvSpPr>
        <p:spPr>
          <a:xfrm>
            <a:off x="548640" y="1280160"/>
            <a:ext cx="347472" cy="347472"/>
          </a:xfrm>
          <a:prstGeom prst="ellipse">
            <a:avLst/>
          </a:prstGeom>
          <a:solidFill>
            <a:srgbClr val="00C2CB"/>
          </a:solidFill>
          <a:ln w="12700">
            <a:solidFill>
              <a:srgbClr val="00C2CB"/>
            </a:solidFill>
            <a:prstDash val="solid"/>
          </a:ln>
        </p:spPr>
      </p:sp>
      <p:sp>
        <p:nvSpPr>
          <p:cNvPr id="14" name="Text 12"/>
          <p:cNvSpPr/>
          <p:nvPr/>
        </p:nvSpPr>
        <p:spPr>
          <a:xfrm>
            <a:off x="548640" y="1280160"/>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01</a:t>
            </a:r>
            <a:endParaRPr lang="en-US" sz="900" dirty="0"/>
          </a:p>
        </p:txBody>
      </p:sp>
      <p:sp>
        <p:nvSpPr>
          <p:cNvPr id="15" name="Text 13"/>
          <p:cNvSpPr/>
          <p:nvPr/>
        </p:nvSpPr>
        <p:spPr>
          <a:xfrm>
            <a:off x="987552" y="1261872"/>
            <a:ext cx="3493008" cy="201168"/>
          </a:xfrm>
          <a:prstGeom prst="rect">
            <a:avLst/>
          </a:prstGeom>
          <a:noFill/>
          <a:ln/>
        </p:spPr>
        <p:txBody>
          <a:bodyPr wrap="square" rtlCol="0" anchor="ctr"/>
          <a:lstStyle/>
          <a:p>
            <a:pPr marL="0" indent="0">
              <a:buNone/>
            </a:pPr>
            <a:r>
              <a:rPr lang="en-US" sz="900" b="1" dirty="0">
                <a:solidFill>
                  <a:srgbClr val="00C2CB"/>
                </a:solidFill>
                <a:latin typeface="Calibri" pitchFamily="34" charset="0"/>
                <a:ea typeface="Calibri" pitchFamily="34" charset="-122"/>
                <a:cs typeface="Calibri" pitchFamily="34" charset="-120"/>
              </a:rPr>
              <a:t>As a Student, I want to…</a:t>
            </a:r>
            <a:endParaRPr lang="en-US" sz="900" dirty="0"/>
          </a:p>
        </p:txBody>
      </p:sp>
      <p:sp>
        <p:nvSpPr>
          <p:cNvPr id="16" name="Text 14"/>
          <p:cNvSpPr/>
          <p:nvPr/>
        </p:nvSpPr>
        <p:spPr>
          <a:xfrm>
            <a:off x="987552" y="1444752"/>
            <a:ext cx="3493008" cy="65836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 want to ask about an Assignment requirement in natural language — without searching through PDFs manually.</a:t>
            </a:r>
            <a:endParaRPr lang="en-US" sz="1100" dirty="0"/>
          </a:p>
        </p:txBody>
      </p:sp>
      <p:sp>
        <p:nvSpPr>
          <p:cNvPr id="17" name="Shape 15"/>
          <p:cNvSpPr/>
          <p:nvPr/>
        </p:nvSpPr>
        <p:spPr>
          <a:xfrm>
            <a:off x="457200" y="2313432"/>
            <a:ext cx="4114800" cy="1005840"/>
          </a:xfrm>
          <a:prstGeom prst="roundRect">
            <a:avLst>
              <a:gd name="adj" fmla="val 9091"/>
            </a:avLst>
          </a:prstGeom>
          <a:solidFill>
            <a:srgbClr val="112240"/>
          </a:solidFill>
          <a:ln w="12700">
            <a:solidFill>
              <a:srgbClr val="1E3A5F"/>
            </a:solidFill>
            <a:prstDash val="solid"/>
          </a:ln>
        </p:spPr>
      </p:sp>
      <p:sp>
        <p:nvSpPr>
          <p:cNvPr id="18" name="Shape 16"/>
          <p:cNvSpPr/>
          <p:nvPr/>
        </p:nvSpPr>
        <p:spPr>
          <a:xfrm>
            <a:off x="548640" y="2423160"/>
            <a:ext cx="347472" cy="347472"/>
          </a:xfrm>
          <a:prstGeom prst="ellipse">
            <a:avLst/>
          </a:prstGeom>
          <a:solidFill>
            <a:srgbClr val="00C2CB"/>
          </a:solidFill>
          <a:ln w="12700">
            <a:solidFill>
              <a:srgbClr val="00C2CB"/>
            </a:solidFill>
            <a:prstDash val="solid"/>
          </a:ln>
        </p:spPr>
      </p:sp>
      <p:sp>
        <p:nvSpPr>
          <p:cNvPr id="19" name="Text 17"/>
          <p:cNvSpPr/>
          <p:nvPr/>
        </p:nvSpPr>
        <p:spPr>
          <a:xfrm>
            <a:off x="548640" y="2423160"/>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02</a:t>
            </a:r>
            <a:endParaRPr lang="en-US" sz="900" dirty="0"/>
          </a:p>
        </p:txBody>
      </p:sp>
      <p:sp>
        <p:nvSpPr>
          <p:cNvPr id="20" name="Text 18"/>
          <p:cNvSpPr/>
          <p:nvPr/>
        </p:nvSpPr>
        <p:spPr>
          <a:xfrm>
            <a:off x="987552" y="2404872"/>
            <a:ext cx="3493008" cy="201168"/>
          </a:xfrm>
          <a:prstGeom prst="rect">
            <a:avLst/>
          </a:prstGeom>
          <a:noFill/>
          <a:ln/>
        </p:spPr>
        <p:txBody>
          <a:bodyPr wrap="square" rtlCol="0" anchor="ctr"/>
          <a:lstStyle/>
          <a:p>
            <a:pPr marL="0" indent="0">
              <a:buNone/>
            </a:pPr>
            <a:r>
              <a:rPr lang="en-US" sz="900" b="1" dirty="0">
                <a:solidFill>
                  <a:srgbClr val="00C2CB"/>
                </a:solidFill>
                <a:latin typeface="Calibri" pitchFamily="34" charset="0"/>
                <a:ea typeface="Calibri" pitchFamily="34" charset="-122"/>
                <a:cs typeface="Calibri" pitchFamily="34" charset="-120"/>
              </a:rPr>
              <a:t>As a Student, I want to…</a:t>
            </a:r>
            <a:endParaRPr lang="en-US" sz="900" dirty="0"/>
          </a:p>
        </p:txBody>
      </p:sp>
      <p:sp>
        <p:nvSpPr>
          <p:cNvPr id="21" name="Text 19"/>
          <p:cNvSpPr/>
          <p:nvPr/>
        </p:nvSpPr>
        <p:spPr>
          <a:xfrm>
            <a:off x="987552" y="2587752"/>
            <a:ext cx="3493008" cy="65836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 want answers to cite the source document and page number so I can verify correctness.</a:t>
            </a:r>
            <a:endParaRPr lang="en-US" sz="1100" dirty="0"/>
          </a:p>
        </p:txBody>
      </p:sp>
      <p:sp>
        <p:nvSpPr>
          <p:cNvPr id="22" name="Shape 20"/>
          <p:cNvSpPr/>
          <p:nvPr/>
        </p:nvSpPr>
        <p:spPr>
          <a:xfrm>
            <a:off x="457200" y="3456432"/>
            <a:ext cx="4114800" cy="1005840"/>
          </a:xfrm>
          <a:prstGeom prst="roundRect">
            <a:avLst>
              <a:gd name="adj" fmla="val 9091"/>
            </a:avLst>
          </a:prstGeom>
          <a:solidFill>
            <a:srgbClr val="112240"/>
          </a:solidFill>
          <a:ln w="12700">
            <a:solidFill>
              <a:srgbClr val="1E3A5F"/>
            </a:solidFill>
            <a:prstDash val="solid"/>
          </a:ln>
        </p:spPr>
      </p:sp>
      <p:sp>
        <p:nvSpPr>
          <p:cNvPr id="23" name="Shape 21"/>
          <p:cNvSpPr/>
          <p:nvPr/>
        </p:nvSpPr>
        <p:spPr>
          <a:xfrm>
            <a:off x="548640" y="3566160"/>
            <a:ext cx="347472" cy="347472"/>
          </a:xfrm>
          <a:prstGeom prst="ellipse">
            <a:avLst/>
          </a:prstGeom>
          <a:solidFill>
            <a:srgbClr val="00C2CB"/>
          </a:solidFill>
          <a:ln w="12700">
            <a:solidFill>
              <a:srgbClr val="00C2CB"/>
            </a:solidFill>
            <a:prstDash val="solid"/>
          </a:ln>
        </p:spPr>
      </p:sp>
      <p:sp>
        <p:nvSpPr>
          <p:cNvPr id="24" name="Text 22"/>
          <p:cNvSpPr/>
          <p:nvPr/>
        </p:nvSpPr>
        <p:spPr>
          <a:xfrm>
            <a:off x="548640" y="3566160"/>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03</a:t>
            </a:r>
            <a:endParaRPr lang="en-US" sz="900" dirty="0"/>
          </a:p>
        </p:txBody>
      </p:sp>
      <p:sp>
        <p:nvSpPr>
          <p:cNvPr id="25" name="Text 23"/>
          <p:cNvSpPr/>
          <p:nvPr/>
        </p:nvSpPr>
        <p:spPr>
          <a:xfrm>
            <a:off x="987552" y="3547872"/>
            <a:ext cx="3493008" cy="201168"/>
          </a:xfrm>
          <a:prstGeom prst="rect">
            <a:avLst/>
          </a:prstGeom>
          <a:noFill/>
          <a:ln/>
        </p:spPr>
        <p:txBody>
          <a:bodyPr wrap="square" rtlCol="0" anchor="ctr"/>
          <a:lstStyle/>
          <a:p>
            <a:pPr marL="0" indent="0">
              <a:buNone/>
            </a:pPr>
            <a:r>
              <a:rPr lang="en-US" sz="900" b="1" dirty="0">
                <a:solidFill>
                  <a:srgbClr val="00C2CB"/>
                </a:solidFill>
                <a:latin typeface="Calibri" pitchFamily="34" charset="0"/>
                <a:ea typeface="Calibri" pitchFamily="34" charset="-122"/>
                <a:cs typeface="Calibri" pitchFamily="34" charset="-120"/>
              </a:rPr>
              <a:t>As a Student, I want to…</a:t>
            </a:r>
            <a:endParaRPr lang="en-US" sz="900" dirty="0"/>
          </a:p>
        </p:txBody>
      </p:sp>
      <p:sp>
        <p:nvSpPr>
          <p:cNvPr id="26" name="Text 24"/>
          <p:cNvSpPr/>
          <p:nvPr/>
        </p:nvSpPr>
        <p:spPr>
          <a:xfrm>
            <a:off x="987552" y="3730752"/>
            <a:ext cx="3493008" cy="65836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 want to upload an error screenshot and get a specific analysis — not a generic explanation.</a:t>
            </a:r>
            <a:endParaRPr lang="en-US" sz="1100" dirty="0"/>
          </a:p>
        </p:txBody>
      </p:sp>
      <p:sp>
        <p:nvSpPr>
          <p:cNvPr id="27" name="Shape 25"/>
          <p:cNvSpPr/>
          <p:nvPr/>
        </p:nvSpPr>
        <p:spPr>
          <a:xfrm>
            <a:off x="4846320" y="1170432"/>
            <a:ext cx="4114800" cy="1005840"/>
          </a:xfrm>
          <a:prstGeom prst="roundRect">
            <a:avLst>
              <a:gd name="adj" fmla="val 9091"/>
            </a:avLst>
          </a:prstGeom>
          <a:solidFill>
            <a:srgbClr val="112240"/>
          </a:solidFill>
          <a:ln w="12700">
            <a:solidFill>
              <a:srgbClr val="1E3A5F"/>
            </a:solidFill>
            <a:prstDash val="solid"/>
          </a:ln>
        </p:spPr>
      </p:sp>
      <p:sp>
        <p:nvSpPr>
          <p:cNvPr id="28" name="Shape 26"/>
          <p:cNvSpPr/>
          <p:nvPr/>
        </p:nvSpPr>
        <p:spPr>
          <a:xfrm>
            <a:off x="4937760" y="1280160"/>
            <a:ext cx="347472" cy="347472"/>
          </a:xfrm>
          <a:prstGeom prst="ellipse">
            <a:avLst/>
          </a:prstGeom>
          <a:solidFill>
            <a:srgbClr val="00C2CB"/>
          </a:solidFill>
          <a:ln w="12700">
            <a:solidFill>
              <a:srgbClr val="00C2CB"/>
            </a:solidFill>
            <a:prstDash val="solid"/>
          </a:ln>
        </p:spPr>
      </p:sp>
      <p:sp>
        <p:nvSpPr>
          <p:cNvPr id="29" name="Text 27"/>
          <p:cNvSpPr/>
          <p:nvPr/>
        </p:nvSpPr>
        <p:spPr>
          <a:xfrm>
            <a:off x="4937760" y="1280160"/>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04</a:t>
            </a:r>
            <a:endParaRPr lang="en-US" sz="900" dirty="0"/>
          </a:p>
        </p:txBody>
      </p:sp>
      <p:sp>
        <p:nvSpPr>
          <p:cNvPr id="30" name="Text 28"/>
          <p:cNvSpPr/>
          <p:nvPr/>
        </p:nvSpPr>
        <p:spPr>
          <a:xfrm>
            <a:off x="5376672" y="1261872"/>
            <a:ext cx="3493008" cy="201168"/>
          </a:xfrm>
          <a:prstGeom prst="rect">
            <a:avLst/>
          </a:prstGeom>
          <a:noFill/>
          <a:ln/>
        </p:spPr>
        <p:txBody>
          <a:bodyPr wrap="square" rtlCol="0" anchor="ctr"/>
          <a:lstStyle/>
          <a:p>
            <a:pPr marL="0" indent="0">
              <a:buNone/>
            </a:pPr>
            <a:r>
              <a:rPr lang="en-US" sz="900" b="1" dirty="0">
                <a:solidFill>
                  <a:srgbClr val="00C2CB"/>
                </a:solidFill>
                <a:latin typeface="Calibri" pitchFamily="34" charset="0"/>
                <a:ea typeface="Calibri" pitchFamily="34" charset="-122"/>
                <a:cs typeface="Calibri" pitchFamily="34" charset="-120"/>
              </a:rPr>
              <a:t>As a Student, I want to…</a:t>
            </a:r>
            <a:endParaRPr lang="en-US" sz="900" dirty="0"/>
          </a:p>
        </p:txBody>
      </p:sp>
      <p:sp>
        <p:nvSpPr>
          <p:cNvPr id="31" name="Text 29"/>
          <p:cNvSpPr/>
          <p:nvPr/>
        </p:nvSpPr>
        <p:spPr>
          <a:xfrm>
            <a:off x="5376672" y="1444752"/>
            <a:ext cx="3493008" cy="65836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 want to ask follow-up questions without repeating context every time.</a:t>
            </a:r>
            <a:endParaRPr lang="en-US" sz="1100" dirty="0"/>
          </a:p>
        </p:txBody>
      </p:sp>
      <p:sp>
        <p:nvSpPr>
          <p:cNvPr id="32" name="Shape 30"/>
          <p:cNvSpPr/>
          <p:nvPr/>
        </p:nvSpPr>
        <p:spPr>
          <a:xfrm>
            <a:off x="4846320" y="2313432"/>
            <a:ext cx="4114800" cy="1005840"/>
          </a:xfrm>
          <a:prstGeom prst="roundRect">
            <a:avLst>
              <a:gd name="adj" fmla="val 9091"/>
            </a:avLst>
          </a:prstGeom>
          <a:solidFill>
            <a:srgbClr val="112240"/>
          </a:solidFill>
          <a:ln w="12700">
            <a:solidFill>
              <a:srgbClr val="1E3A5F"/>
            </a:solidFill>
            <a:prstDash val="solid"/>
          </a:ln>
        </p:spPr>
      </p:sp>
      <p:sp>
        <p:nvSpPr>
          <p:cNvPr id="33" name="Shape 31"/>
          <p:cNvSpPr/>
          <p:nvPr/>
        </p:nvSpPr>
        <p:spPr>
          <a:xfrm>
            <a:off x="4937760" y="2423160"/>
            <a:ext cx="347472" cy="347472"/>
          </a:xfrm>
          <a:prstGeom prst="ellipse">
            <a:avLst/>
          </a:prstGeom>
          <a:solidFill>
            <a:srgbClr val="00C2CB"/>
          </a:solidFill>
          <a:ln w="12700">
            <a:solidFill>
              <a:srgbClr val="00C2CB"/>
            </a:solidFill>
            <a:prstDash val="solid"/>
          </a:ln>
        </p:spPr>
      </p:sp>
      <p:sp>
        <p:nvSpPr>
          <p:cNvPr id="34" name="Text 32"/>
          <p:cNvSpPr/>
          <p:nvPr/>
        </p:nvSpPr>
        <p:spPr>
          <a:xfrm>
            <a:off x="4937760" y="2423160"/>
            <a:ext cx="347472" cy="347472"/>
          </a:xfrm>
          <a:prstGeom prst="rect">
            <a:avLst/>
          </a:prstGeom>
          <a:noFill/>
          <a:ln/>
        </p:spPr>
        <p:txBody>
          <a:bodyPr wrap="square" lIns="0" tIns="0" rIns="0" bIns="0" rtlCol="0" anchor="ctr"/>
          <a:lstStyle/>
          <a:p>
            <a:pPr marL="0" indent="0" algn="ctr">
              <a:buNone/>
            </a:pPr>
            <a:r>
              <a:rPr lang="en-US" sz="900" b="1" dirty="0">
                <a:solidFill>
                  <a:srgbClr val="0A1628"/>
                </a:solidFill>
                <a:latin typeface="Calibri" pitchFamily="34" charset="0"/>
                <a:ea typeface="Calibri" pitchFamily="34" charset="-122"/>
                <a:cs typeface="Calibri" pitchFamily="34" charset="-120"/>
              </a:rPr>
              <a:t>05</a:t>
            </a:r>
            <a:endParaRPr lang="en-US" sz="900" dirty="0"/>
          </a:p>
        </p:txBody>
      </p:sp>
      <p:sp>
        <p:nvSpPr>
          <p:cNvPr id="35" name="Text 33"/>
          <p:cNvSpPr/>
          <p:nvPr/>
        </p:nvSpPr>
        <p:spPr>
          <a:xfrm>
            <a:off x="5376672" y="2404872"/>
            <a:ext cx="3493008" cy="201168"/>
          </a:xfrm>
          <a:prstGeom prst="rect">
            <a:avLst/>
          </a:prstGeom>
          <a:noFill/>
          <a:ln/>
        </p:spPr>
        <p:txBody>
          <a:bodyPr wrap="square" rtlCol="0" anchor="ctr"/>
          <a:lstStyle/>
          <a:p>
            <a:pPr marL="0" indent="0">
              <a:buNone/>
            </a:pPr>
            <a:r>
              <a:rPr lang="en-US" sz="900" b="1" dirty="0">
                <a:solidFill>
                  <a:srgbClr val="00C2CB"/>
                </a:solidFill>
                <a:latin typeface="Calibri" pitchFamily="34" charset="0"/>
                <a:ea typeface="Calibri" pitchFamily="34" charset="-122"/>
                <a:cs typeface="Calibri" pitchFamily="34" charset="-120"/>
              </a:rPr>
              <a:t>As a Mentor, I want to…</a:t>
            </a:r>
            <a:endParaRPr lang="en-US" sz="900" dirty="0"/>
          </a:p>
        </p:txBody>
      </p:sp>
      <p:sp>
        <p:nvSpPr>
          <p:cNvPr id="36" name="Text 34"/>
          <p:cNvSpPr/>
          <p:nvPr/>
        </p:nvSpPr>
        <p:spPr>
          <a:xfrm>
            <a:off x="5376672" y="2587752"/>
            <a:ext cx="3493008" cy="65836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I want to quickly find content across multiple course documents without manually scanning each file.</a:t>
            </a:r>
            <a:endParaRPr lang="en-US" sz="1100" dirty="0"/>
          </a:p>
        </p:txBody>
      </p:sp>
      <p:sp>
        <p:nvSpPr>
          <p:cNvPr id="37" name="Text 35"/>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3 / 13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9FF"/>
          </a:solidFill>
          <a:ln w="12700">
            <a:solidFill>
              <a:srgbClr val="F5F9FF"/>
            </a:solidFill>
            <a:prstDash val="solid"/>
          </a:ln>
        </p:spPr>
      </p:sp>
      <p:sp>
        <p:nvSpPr>
          <p:cNvPr id="3" name="Shape 1"/>
          <p:cNvSpPr/>
          <p:nvPr/>
        </p:nvSpPr>
        <p:spPr>
          <a:xfrm>
            <a:off x="0" y="0"/>
            <a:ext cx="9144000" cy="868680"/>
          </a:xfrm>
          <a:prstGeom prst="rect">
            <a:avLst/>
          </a:prstGeom>
          <a:solidFill>
            <a:srgbClr val="0A1628"/>
          </a:solidFill>
          <a:ln w="12700">
            <a:solidFill>
              <a:srgbClr val="0A1628"/>
            </a:solidFill>
            <a:prstDash val="solid"/>
          </a:ln>
        </p:spPr>
      </p:sp>
      <p:sp>
        <p:nvSpPr>
          <p:cNvPr id="4" name="Shape 2"/>
          <p:cNvSpPr/>
          <p:nvPr/>
        </p:nvSpPr>
        <p:spPr>
          <a:xfrm>
            <a:off x="0" y="0"/>
            <a:ext cx="54864" cy="5143500"/>
          </a:xfrm>
          <a:prstGeom prst="rect">
            <a:avLst/>
          </a:prstGeom>
          <a:solidFill>
            <a:srgbClr val="00C2CB"/>
          </a:solidFill>
          <a:ln w="12700">
            <a:solidFill>
              <a:srgbClr val="00C2CB"/>
            </a:solidFill>
            <a:prstDash val="solid"/>
          </a:ln>
        </p:spPr>
      </p:sp>
      <p:sp>
        <p:nvSpPr>
          <p:cNvPr id="5" name="Text 3"/>
          <p:cNvSpPr/>
          <p:nvPr/>
        </p:nvSpPr>
        <p:spPr>
          <a:xfrm>
            <a:off x="457200" y="137160"/>
            <a:ext cx="5486400" cy="22860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SOLUTION OVERVIEW</a:t>
            </a:r>
            <a:endParaRPr lang="en-US" sz="900" dirty="0"/>
          </a:p>
        </p:txBody>
      </p:sp>
      <p:sp>
        <p:nvSpPr>
          <p:cNvPr id="6" name="Text 4"/>
          <p:cNvSpPr/>
          <p:nvPr/>
        </p:nvSpPr>
        <p:spPr>
          <a:xfrm>
            <a:off x="457200" y="411480"/>
            <a:ext cx="8229600" cy="36576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AI Course Assistant — domain-specific, not generic</a:t>
            </a:r>
            <a:endParaRPr lang="en-US" sz="2200" dirty="0"/>
          </a:p>
        </p:txBody>
      </p:sp>
      <p:sp>
        <p:nvSpPr>
          <p:cNvPr id="7" name="Text 5"/>
          <p:cNvSpPr/>
          <p:nvPr/>
        </p:nvSpPr>
        <p:spPr>
          <a:xfrm>
            <a:off x="457200" y="1005840"/>
            <a:ext cx="2377440" cy="256032"/>
          </a:xfrm>
          <a:prstGeom prst="rect">
            <a:avLst/>
          </a:prstGeom>
          <a:noFill/>
          <a:ln/>
        </p:spPr>
        <p:txBody>
          <a:bodyPr wrap="square" rtlCol="0" anchor="ctr"/>
          <a:lstStyle/>
          <a:p>
            <a:pPr marL="0" indent="0" algn="ctr">
              <a:buNone/>
            </a:pPr>
            <a:r>
              <a:rPr lang="en-US" sz="1000" b="1" kern="0" spc="200" dirty="0">
                <a:solidFill>
                  <a:srgbClr val="00C2CB"/>
                </a:solidFill>
                <a:latin typeface="Calibri" pitchFamily="34" charset="0"/>
                <a:ea typeface="Calibri" pitchFamily="34" charset="-122"/>
                <a:cs typeface="Calibri" pitchFamily="34" charset="-120"/>
              </a:rPr>
              <a:t>INPUT</a:t>
            </a:r>
            <a:endParaRPr lang="en-US" sz="1000" dirty="0"/>
          </a:p>
        </p:txBody>
      </p:sp>
      <p:sp>
        <p:nvSpPr>
          <p:cNvPr id="8" name="Shape 6"/>
          <p:cNvSpPr/>
          <p:nvPr/>
        </p:nvSpPr>
        <p:spPr>
          <a:xfrm>
            <a:off x="457200" y="1280160"/>
            <a:ext cx="2377440" cy="868680"/>
          </a:xfrm>
          <a:prstGeom prst="roundRect">
            <a:avLst>
              <a:gd name="adj" fmla="val 10526"/>
            </a:avLst>
          </a:prstGeom>
          <a:solidFill>
            <a:srgbClr val="FFFFFF"/>
          </a:solidFill>
          <a:ln w="12700">
            <a:solidFill>
              <a:srgbClr val="D0DCF0"/>
            </a:solidFill>
            <a:prstDash val="solid"/>
          </a:ln>
        </p:spPr>
      </p:sp>
      <p:sp>
        <p:nvSpPr>
          <p:cNvPr id="9" name="Text 7"/>
          <p:cNvSpPr/>
          <p:nvPr/>
        </p:nvSpPr>
        <p:spPr>
          <a:xfrm>
            <a:off x="457200" y="1325880"/>
            <a:ext cx="502920" cy="50292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0" name="Text 8"/>
          <p:cNvSpPr/>
          <p:nvPr/>
        </p:nvSpPr>
        <p:spPr>
          <a:xfrm>
            <a:off x="1005840" y="1353312"/>
            <a:ext cx="169164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Text Query</a:t>
            </a:r>
            <a:endParaRPr lang="en-US" sz="1200" dirty="0"/>
          </a:p>
        </p:txBody>
      </p:sp>
      <p:sp>
        <p:nvSpPr>
          <p:cNvPr id="11" name="Text 9"/>
          <p:cNvSpPr/>
          <p:nvPr/>
        </p:nvSpPr>
        <p:spPr>
          <a:xfrm>
            <a:off x="1005840" y="1581912"/>
            <a:ext cx="1691640" cy="411480"/>
          </a:xfrm>
          <a:prstGeom prst="rect">
            <a:avLst/>
          </a:prstGeom>
          <a:noFill/>
          <a:ln/>
        </p:spPr>
        <p:txBody>
          <a:bodyPr wrap="square" rtlCol="0" anchor="ctr"/>
          <a:lstStyle/>
          <a:p>
            <a:pPr marL="0" indent="0">
              <a:buNone/>
            </a:pPr>
            <a:r>
              <a:rPr lang="en-US" sz="1000" dirty="0">
                <a:solidFill>
                  <a:srgbClr val="6080A0"/>
                </a:solidFill>
                <a:latin typeface="Calibri" pitchFamily="34" charset="0"/>
                <a:ea typeface="Calibri" pitchFamily="34" charset="-122"/>
                <a:cs typeface="Calibri" pitchFamily="34" charset="-120"/>
              </a:rPr>
              <a:t>Natural language, Vietnamese or English</a:t>
            </a:r>
            <a:endParaRPr lang="en-US" sz="1000" dirty="0"/>
          </a:p>
        </p:txBody>
      </p:sp>
      <p:sp>
        <p:nvSpPr>
          <p:cNvPr id="12" name="Shape 10"/>
          <p:cNvSpPr/>
          <p:nvPr/>
        </p:nvSpPr>
        <p:spPr>
          <a:xfrm>
            <a:off x="457200" y="2286000"/>
            <a:ext cx="2377440" cy="868680"/>
          </a:xfrm>
          <a:prstGeom prst="roundRect">
            <a:avLst>
              <a:gd name="adj" fmla="val 10526"/>
            </a:avLst>
          </a:prstGeom>
          <a:solidFill>
            <a:srgbClr val="FFFFFF"/>
          </a:solidFill>
          <a:ln w="12700">
            <a:solidFill>
              <a:srgbClr val="D0DCF0"/>
            </a:solidFill>
            <a:prstDash val="solid"/>
          </a:ln>
        </p:spPr>
      </p:sp>
      <p:sp>
        <p:nvSpPr>
          <p:cNvPr id="13" name="Text 11"/>
          <p:cNvSpPr/>
          <p:nvPr/>
        </p:nvSpPr>
        <p:spPr>
          <a:xfrm>
            <a:off x="457200" y="2331720"/>
            <a:ext cx="502920" cy="50292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005840" y="2359152"/>
            <a:ext cx="169164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Voice Input</a:t>
            </a:r>
            <a:endParaRPr lang="en-US" sz="1200" dirty="0"/>
          </a:p>
        </p:txBody>
      </p:sp>
      <p:sp>
        <p:nvSpPr>
          <p:cNvPr id="15" name="Text 13"/>
          <p:cNvSpPr/>
          <p:nvPr/>
        </p:nvSpPr>
        <p:spPr>
          <a:xfrm>
            <a:off x="1005840" y="2587752"/>
            <a:ext cx="1691640" cy="411480"/>
          </a:xfrm>
          <a:prstGeom prst="rect">
            <a:avLst/>
          </a:prstGeom>
          <a:noFill/>
          <a:ln/>
        </p:spPr>
        <p:txBody>
          <a:bodyPr wrap="square" rtlCol="0" anchor="ctr"/>
          <a:lstStyle/>
          <a:p>
            <a:pPr marL="0" indent="0">
              <a:buNone/>
            </a:pPr>
            <a:r>
              <a:rPr lang="en-US" sz="1000" dirty="0">
                <a:solidFill>
                  <a:srgbClr val="6080A0"/>
                </a:solidFill>
                <a:latin typeface="Calibri" pitchFamily="34" charset="0"/>
                <a:ea typeface="Calibri" pitchFamily="34" charset="-122"/>
                <a:cs typeface="Calibri" pitchFamily="34" charset="-120"/>
              </a:rPr>
              <a:t>STT — auto-detects language</a:t>
            </a:r>
            <a:endParaRPr lang="en-US" sz="1000" dirty="0"/>
          </a:p>
        </p:txBody>
      </p:sp>
      <p:sp>
        <p:nvSpPr>
          <p:cNvPr id="16" name="Shape 14"/>
          <p:cNvSpPr/>
          <p:nvPr/>
        </p:nvSpPr>
        <p:spPr>
          <a:xfrm>
            <a:off x="457200" y="3291840"/>
            <a:ext cx="2377440" cy="868680"/>
          </a:xfrm>
          <a:prstGeom prst="roundRect">
            <a:avLst>
              <a:gd name="adj" fmla="val 10526"/>
            </a:avLst>
          </a:prstGeom>
          <a:solidFill>
            <a:srgbClr val="FFFFFF"/>
          </a:solidFill>
          <a:ln w="12700">
            <a:solidFill>
              <a:srgbClr val="D0DCF0"/>
            </a:solidFill>
            <a:prstDash val="solid"/>
          </a:ln>
        </p:spPr>
      </p:sp>
      <p:sp>
        <p:nvSpPr>
          <p:cNvPr id="17" name="Text 15"/>
          <p:cNvSpPr/>
          <p:nvPr/>
        </p:nvSpPr>
        <p:spPr>
          <a:xfrm>
            <a:off x="457200" y="3337560"/>
            <a:ext cx="502920" cy="50292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005840" y="3364992"/>
            <a:ext cx="1691640" cy="228600"/>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Image Upload</a:t>
            </a:r>
            <a:endParaRPr lang="en-US" sz="1200" dirty="0"/>
          </a:p>
        </p:txBody>
      </p:sp>
      <p:sp>
        <p:nvSpPr>
          <p:cNvPr id="19" name="Text 17"/>
          <p:cNvSpPr/>
          <p:nvPr/>
        </p:nvSpPr>
        <p:spPr>
          <a:xfrm>
            <a:off x="1005840" y="3593592"/>
            <a:ext cx="1691640" cy="411480"/>
          </a:xfrm>
          <a:prstGeom prst="rect">
            <a:avLst/>
          </a:prstGeom>
          <a:noFill/>
          <a:ln/>
        </p:spPr>
        <p:txBody>
          <a:bodyPr wrap="square" rtlCol="0" anchor="ctr"/>
          <a:lstStyle/>
          <a:p>
            <a:pPr marL="0" indent="0">
              <a:buNone/>
            </a:pPr>
            <a:r>
              <a:rPr lang="en-US" sz="1000" dirty="0">
                <a:solidFill>
                  <a:srgbClr val="6080A0"/>
                </a:solidFill>
                <a:latin typeface="Calibri" pitchFamily="34" charset="0"/>
                <a:ea typeface="Calibri" pitchFamily="34" charset="-122"/>
                <a:cs typeface="Calibri" pitchFamily="34" charset="-120"/>
              </a:rPr>
              <a:t>Screenshot, diagram, error traceback</a:t>
            </a:r>
            <a:endParaRPr lang="en-US" sz="1000" dirty="0"/>
          </a:p>
        </p:txBody>
      </p:sp>
      <p:sp>
        <p:nvSpPr>
          <p:cNvPr id="20" name="Shape 18"/>
          <p:cNvSpPr/>
          <p:nvPr/>
        </p:nvSpPr>
        <p:spPr>
          <a:xfrm>
            <a:off x="3063240" y="1005840"/>
            <a:ext cx="3017520" cy="3200400"/>
          </a:xfrm>
          <a:prstGeom prst="rect">
            <a:avLst/>
          </a:prstGeom>
          <a:solidFill>
            <a:srgbClr val="0A1628"/>
          </a:solidFill>
          <a:ln w="12700">
            <a:solidFill>
              <a:srgbClr val="0A1628"/>
            </a:solidFill>
            <a:prstDash val="solid"/>
          </a:ln>
        </p:spPr>
      </p:sp>
      <p:sp>
        <p:nvSpPr>
          <p:cNvPr id="21" name="Shape 19"/>
          <p:cNvSpPr/>
          <p:nvPr/>
        </p:nvSpPr>
        <p:spPr>
          <a:xfrm>
            <a:off x="3154680" y="1097280"/>
            <a:ext cx="2834640" cy="3017520"/>
          </a:xfrm>
          <a:prstGeom prst="roundRect">
            <a:avLst>
              <a:gd name="adj" fmla="val 3871"/>
            </a:avLst>
          </a:prstGeom>
          <a:solidFill>
            <a:srgbClr val="112240"/>
          </a:solidFill>
          <a:ln w="12700">
            <a:solidFill>
              <a:srgbClr val="00C2CB"/>
            </a:solidFill>
            <a:prstDash val="solid"/>
          </a:ln>
        </p:spPr>
      </p:sp>
      <p:sp>
        <p:nvSpPr>
          <p:cNvPr id="22" name="Text 20"/>
          <p:cNvSpPr/>
          <p:nvPr/>
        </p:nvSpPr>
        <p:spPr>
          <a:xfrm>
            <a:off x="3154680" y="1143000"/>
            <a:ext cx="2834640" cy="502920"/>
          </a:xfrm>
          <a:prstGeom prst="rect">
            <a:avLst/>
          </a:prstGeom>
          <a:noFill/>
          <a:ln/>
        </p:spPr>
        <p:txBody>
          <a:bodyPr wrap="square"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3" name="Text 21"/>
          <p:cNvSpPr/>
          <p:nvPr/>
        </p:nvSpPr>
        <p:spPr>
          <a:xfrm>
            <a:off x="3154680" y="1664208"/>
            <a:ext cx="2834640" cy="292608"/>
          </a:xfrm>
          <a:prstGeom prst="rect">
            <a:avLst/>
          </a:prstGeom>
          <a:noFill/>
          <a:ln/>
        </p:spPr>
        <p:txBody>
          <a:bodyPr wrap="square" rtlCol="0" anchor="ctr"/>
          <a:lstStyle/>
          <a:p>
            <a:pPr marL="0" indent="0" algn="ctr">
              <a:buNone/>
            </a:pPr>
            <a:r>
              <a:rPr lang="en-US" sz="1400" b="1" dirty="0">
                <a:solidFill>
                  <a:srgbClr val="00C2CB"/>
                </a:solidFill>
                <a:latin typeface="Cambria" pitchFamily="34" charset="0"/>
                <a:ea typeface="Cambria" pitchFamily="34" charset="-122"/>
                <a:cs typeface="Cambria" pitchFamily="34" charset="-120"/>
              </a:rPr>
              <a:t>AI Course Assistant</a:t>
            </a:r>
            <a:endParaRPr lang="en-US" sz="1400" dirty="0"/>
          </a:p>
        </p:txBody>
      </p:sp>
      <p:sp>
        <p:nvSpPr>
          <p:cNvPr id="24" name="Text 22"/>
          <p:cNvSpPr/>
          <p:nvPr/>
        </p:nvSpPr>
        <p:spPr>
          <a:xfrm>
            <a:off x="3246120" y="1984248"/>
            <a:ext cx="2651760" cy="411480"/>
          </a:xfrm>
          <a:prstGeom prst="rect">
            <a:avLst/>
          </a:prstGeom>
          <a:noFill/>
          <a:ln/>
        </p:spPr>
        <p:txBody>
          <a:bodyPr wrap="square" rtlCol="0" anchor="ctr"/>
          <a:lstStyle/>
          <a:p>
            <a:pPr marL="0" indent="0" algn="ctr">
              <a:buNone/>
            </a:pPr>
            <a:r>
              <a:rPr lang="en-US" sz="1000" dirty="0">
                <a:solidFill>
                  <a:srgbClr val="A0B4CC"/>
                </a:solidFill>
                <a:latin typeface="Calibri" pitchFamily="34" charset="0"/>
                <a:ea typeface="Calibri" pitchFamily="34" charset="-122"/>
                <a:cs typeface="Calibri" pitchFamily="34" charset="-120"/>
              </a:rPr>
              <a:t>Domain-Specific</a:t>
            </a:r>
            <a:endParaRPr lang="en-US" sz="1000" dirty="0"/>
          </a:p>
          <a:p>
            <a:pPr marL="0" indent="0" algn="ctr">
              <a:buNone/>
            </a:pPr>
            <a:r>
              <a:rPr lang="en-US" sz="1000" dirty="0">
                <a:solidFill>
                  <a:srgbClr val="A0B4CC"/>
                </a:solidFill>
                <a:latin typeface="Calibri" pitchFamily="34" charset="0"/>
                <a:ea typeface="Calibri" pitchFamily="34" charset="-122"/>
                <a:cs typeface="Calibri" pitchFamily="34" charset="-120"/>
              </a:rPr>
              <a:t>LangGraph ReAct Agent</a:t>
            </a:r>
            <a:endParaRPr lang="en-US" sz="1000" dirty="0"/>
          </a:p>
        </p:txBody>
      </p:sp>
      <p:sp>
        <p:nvSpPr>
          <p:cNvPr id="25" name="Text 23"/>
          <p:cNvSpPr/>
          <p:nvPr/>
        </p:nvSpPr>
        <p:spPr>
          <a:xfrm>
            <a:off x="3246120" y="2487168"/>
            <a:ext cx="265176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Understand query &amp; context</a:t>
            </a:r>
            <a:endParaRPr lang="en-US" sz="1000" dirty="0"/>
          </a:p>
        </p:txBody>
      </p:sp>
      <p:sp>
        <p:nvSpPr>
          <p:cNvPr id="26" name="Text 24"/>
          <p:cNvSpPr/>
          <p:nvPr/>
        </p:nvSpPr>
        <p:spPr>
          <a:xfrm>
            <a:off x="3246120" y="2788920"/>
            <a:ext cx="265176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Retrieve &amp; rerank documents</a:t>
            </a:r>
            <a:endParaRPr lang="en-US" sz="1000" dirty="0"/>
          </a:p>
        </p:txBody>
      </p:sp>
      <p:sp>
        <p:nvSpPr>
          <p:cNvPr id="27" name="Text 25"/>
          <p:cNvSpPr/>
          <p:nvPr/>
        </p:nvSpPr>
        <p:spPr>
          <a:xfrm>
            <a:off x="3246120" y="3090672"/>
            <a:ext cx="265176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Route to correct tool</a:t>
            </a:r>
            <a:endParaRPr lang="en-US" sz="1000" dirty="0"/>
          </a:p>
        </p:txBody>
      </p:sp>
      <p:sp>
        <p:nvSpPr>
          <p:cNvPr id="28" name="Text 26"/>
          <p:cNvSpPr/>
          <p:nvPr/>
        </p:nvSpPr>
        <p:spPr>
          <a:xfrm>
            <a:off x="3246120" y="3392424"/>
            <a:ext cx="2651760" cy="27432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Generate grounded answer</a:t>
            </a:r>
            <a:endParaRPr lang="en-US" sz="1000" dirty="0"/>
          </a:p>
        </p:txBody>
      </p:sp>
      <p:sp>
        <p:nvSpPr>
          <p:cNvPr id="29" name="Text 27"/>
          <p:cNvSpPr/>
          <p:nvPr/>
        </p:nvSpPr>
        <p:spPr>
          <a:xfrm>
            <a:off x="6309360" y="1005840"/>
            <a:ext cx="2377440" cy="256032"/>
          </a:xfrm>
          <a:prstGeom prst="rect">
            <a:avLst/>
          </a:prstGeom>
          <a:noFill/>
          <a:ln/>
        </p:spPr>
        <p:txBody>
          <a:bodyPr wrap="square" rtlCol="0" anchor="ctr"/>
          <a:lstStyle/>
          <a:p>
            <a:pPr marL="0" indent="0" algn="ctr">
              <a:buNone/>
            </a:pPr>
            <a:r>
              <a:rPr lang="en-US" sz="1000" b="1" kern="0" spc="200" dirty="0">
                <a:solidFill>
                  <a:srgbClr val="00C2CB"/>
                </a:solidFill>
                <a:latin typeface="Calibri" pitchFamily="34" charset="0"/>
                <a:ea typeface="Calibri" pitchFamily="34" charset="-122"/>
                <a:cs typeface="Calibri" pitchFamily="34" charset="-120"/>
              </a:rPr>
              <a:t>OUTPUT</a:t>
            </a:r>
            <a:endParaRPr lang="en-US" sz="1000" dirty="0"/>
          </a:p>
        </p:txBody>
      </p:sp>
      <p:sp>
        <p:nvSpPr>
          <p:cNvPr id="30" name="Shape 28"/>
          <p:cNvSpPr/>
          <p:nvPr/>
        </p:nvSpPr>
        <p:spPr>
          <a:xfrm>
            <a:off x="6309360" y="1280160"/>
            <a:ext cx="2377440" cy="749808"/>
          </a:xfrm>
          <a:prstGeom prst="roundRect">
            <a:avLst>
              <a:gd name="adj" fmla="val 12195"/>
            </a:avLst>
          </a:prstGeom>
          <a:solidFill>
            <a:srgbClr val="FFFFFF"/>
          </a:solidFill>
          <a:ln w="12700">
            <a:solidFill>
              <a:srgbClr val="D0DCF0"/>
            </a:solidFill>
            <a:prstDash val="solid"/>
          </a:ln>
        </p:spPr>
      </p:sp>
      <p:sp>
        <p:nvSpPr>
          <p:cNvPr id="31" name="Text 29"/>
          <p:cNvSpPr/>
          <p:nvPr/>
        </p:nvSpPr>
        <p:spPr>
          <a:xfrm>
            <a:off x="6309360" y="1316736"/>
            <a:ext cx="502920" cy="45720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6839712" y="1335024"/>
            <a:ext cx="1719072"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Grounded Answer</a:t>
            </a:r>
            <a:endParaRPr lang="en-US" sz="1100" dirty="0"/>
          </a:p>
        </p:txBody>
      </p:sp>
      <p:sp>
        <p:nvSpPr>
          <p:cNvPr id="33" name="Text 31"/>
          <p:cNvSpPr/>
          <p:nvPr/>
        </p:nvSpPr>
        <p:spPr>
          <a:xfrm>
            <a:off x="6839712" y="1554480"/>
            <a:ext cx="1719072" cy="347472"/>
          </a:xfrm>
          <a:prstGeom prst="rect">
            <a:avLst/>
          </a:prstGeom>
          <a:noFill/>
          <a:ln/>
        </p:spPr>
        <p:txBody>
          <a:bodyPr wrap="square" rtlCol="0" anchor="ctr"/>
          <a:lstStyle/>
          <a:p>
            <a:pPr marL="0" indent="0">
              <a:buNone/>
            </a:pPr>
            <a:r>
              <a:rPr lang="en-US" sz="900" dirty="0">
                <a:solidFill>
                  <a:srgbClr val="6080A0"/>
                </a:solidFill>
                <a:latin typeface="Calibri" pitchFamily="34" charset="0"/>
                <a:ea typeface="Calibri" pitchFamily="34" charset="-122"/>
                <a:cs typeface="Calibri" pitchFamily="34" charset="-120"/>
              </a:rPr>
              <a:t>With filename &amp; page number</a:t>
            </a:r>
            <a:endParaRPr lang="en-US" sz="900" dirty="0"/>
          </a:p>
        </p:txBody>
      </p:sp>
      <p:sp>
        <p:nvSpPr>
          <p:cNvPr id="34" name="Shape 32"/>
          <p:cNvSpPr/>
          <p:nvPr/>
        </p:nvSpPr>
        <p:spPr>
          <a:xfrm>
            <a:off x="6309360" y="2103120"/>
            <a:ext cx="2377440" cy="749808"/>
          </a:xfrm>
          <a:prstGeom prst="roundRect">
            <a:avLst>
              <a:gd name="adj" fmla="val 12195"/>
            </a:avLst>
          </a:prstGeom>
          <a:solidFill>
            <a:srgbClr val="FFFFFF"/>
          </a:solidFill>
          <a:ln w="12700">
            <a:solidFill>
              <a:srgbClr val="D0DCF0"/>
            </a:solidFill>
            <a:prstDash val="solid"/>
          </a:ln>
        </p:spPr>
      </p:sp>
      <p:sp>
        <p:nvSpPr>
          <p:cNvPr id="35" name="Text 33"/>
          <p:cNvSpPr/>
          <p:nvPr/>
        </p:nvSpPr>
        <p:spPr>
          <a:xfrm>
            <a:off x="6309360" y="2139696"/>
            <a:ext cx="502920" cy="45720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36" name="Text 34"/>
          <p:cNvSpPr/>
          <p:nvPr/>
        </p:nvSpPr>
        <p:spPr>
          <a:xfrm>
            <a:off x="6839712" y="2157984"/>
            <a:ext cx="1719072"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Source Citations</a:t>
            </a:r>
            <a:endParaRPr lang="en-US" sz="1100" dirty="0"/>
          </a:p>
        </p:txBody>
      </p:sp>
      <p:sp>
        <p:nvSpPr>
          <p:cNvPr id="37" name="Text 35"/>
          <p:cNvSpPr/>
          <p:nvPr/>
        </p:nvSpPr>
        <p:spPr>
          <a:xfrm>
            <a:off x="6839712" y="2377440"/>
            <a:ext cx="1719072" cy="347472"/>
          </a:xfrm>
          <a:prstGeom prst="rect">
            <a:avLst/>
          </a:prstGeom>
          <a:noFill/>
          <a:ln/>
        </p:spPr>
        <p:txBody>
          <a:bodyPr wrap="square" rtlCol="0" anchor="ctr"/>
          <a:lstStyle/>
          <a:p>
            <a:pPr marL="0" indent="0">
              <a:buNone/>
            </a:pPr>
            <a:r>
              <a:rPr lang="en-US" sz="900" dirty="0">
                <a:solidFill>
                  <a:srgbClr val="6080A0"/>
                </a:solidFill>
                <a:latin typeface="Calibri" pitchFamily="34" charset="0"/>
                <a:ea typeface="Calibri" pitchFamily="34" charset="-122"/>
                <a:cs typeface="Calibri" pitchFamily="34" charset="-120"/>
              </a:rPr>
              <a:t>Direct metadata references</a:t>
            </a:r>
            <a:endParaRPr lang="en-US" sz="900" dirty="0"/>
          </a:p>
        </p:txBody>
      </p:sp>
      <p:sp>
        <p:nvSpPr>
          <p:cNvPr id="38" name="Shape 36"/>
          <p:cNvSpPr/>
          <p:nvPr/>
        </p:nvSpPr>
        <p:spPr>
          <a:xfrm>
            <a:off x="6309360" y="2926080"/>
            <a:ext cx="2377440" cy="749808"/>
          </a:xfrm>
          <a:prstGeom prst="roundRect">
            <a:avLst>
              <a:gd name="adj" fmla="val 12195"/>
            </a:avLst>
          </a:prstGeom>
          <a:solidFill>
            <a:srgbClr val="FFFFFF"/>
          </a:solidFill>
          <a:ln w="12700">
            <a:solidFill>
              <a:srgbClr val="D0DCF0"/>
            </a:solidFill>
            <a:prstDash val="solid"/>
          </a:ln>
        </p:spPr>
      </p:sp>
      <p:sp>
        <p:nvSpPr>
          <p:cNvPr id="39" name="Text 37"/>
          <p:cNvSpPr/>
          <p:nvPr/>
        </p:nvSpPr>
        <p:spPr>
          <a:xfrm>
            <a:off x="6309360" y="2962656"/>
            <a:ext cx="502920" cy="45720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40" name="Text 38"/>
          <p:cNvSpPr/>
          <p:nvPr/>
        </p:nvSpPr>
        <p:spPr>
          <a:xfrm>
            <a:off x="6839712" y="2980944"/>
            <a:ext cx="1719072"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TTS Audio</a:t>
            </a:r>
            <a:endParaRPr lang="en-US" sz="1100" dirty="0"/>
          </a:p>
        </p:txBody>
      </p:sp>
      <p:sp>
        <p:nvSpPr>
          <p:cNvPr id="41" name="Text 39"/>
          <p:cNvSpPr/>
          <p:nvPr/>
        </p:nvSpPr>
        <p:spPr>
          <a:xfrm>
            <a:off x="6839712" y="3200400"/>
            <a:ext cx="1719072" cy="347472"/>
          </a:xfrm>
          <a:prstGeom prst="rect">
            <a:avLst/>
          </a:prstGeom>
          <a:noFill/>
          <a:ln/>
        </p:spPr>
        <p:txBody>
          <a:bodyPr wrap="square" rtlCol="0" anchor="ctr"/>
          <a:lstStyle/>
          <a:p>
            <a:pPr marL="0" indent="0">
              <a:buNone/>
            </a:pPr>
            <a:r>
              <a:rPr lang="en-US" sz="900" dirty="0">
                <a:solidFill>
                  <a:srgbClr val="6080A0"/>
                </a:solidFill>
                <a:latin typeface="Calibri" pitchFamily="34" charset="0"/>
                <a:ea typeface="Calibri" pitchFamily="34" charset="-122"/>
                <a:cs typeface="Calibri" pitchFamily="34" charset="-120"/>
              </a:rPr>
              <a:t>Auto language detection</a:t>
            </a:r>
            <a:endParaRPr lang="en-US" sz="900" dirty="0"/>
          </a:p>
        </p:txBody>
      </p:sp>
      <p:sp>
        <p:nvSpPr>
          <p:cNvPr id="42" name="Shape 40"/>
          <p:cNvSpPr/>
          <p:nvPr/>
        </p:nvSpPr>
        <p:spPr>
          <a:xfrm>
            <a:off x="6309360" y="3749040"/>
            <a:ext cx="2377440" cy="749808"/>
          </a:xfrm>
          <a:prstGeom prst="roundRect">
            <a:avLst>
              <a:gd name="adj" fmla="val 12195"/>
            </a:avLst>
          </a:prstGeom>
          <a:solidFill>
            <a:srgbClr val="FFFFFF"/>
          </a:solidFill>
          <a:ln w="12700">
            <a:solidFill>
              <a:srgbClr val="D0DCF0"/>
            </a:solidFill>
            <a:prstDash val="solid"/>
          </a:ln>
        </p:spPr>
      </p:sp>
      <p:sp>
        <p:nvSpPr>
          <p:cNvPr id="43" name="Text 41"/>
          <p:cNvSpPr/>
          <p:nvPr/>
        </p:nvSpPr>
        <p:spPr>
          <a:xfrm>
            <a:off x="6309360" y="3785616"/>
            <a:ext cx="502920" cy="457200"/>
          </a:xfrm>
          <a:prstGeom prst="rect">
            <a:avLst/>
          </a:prstGeom>
          <a:noFill/>
          <a:ln/>
        </p:spPr>
        <p:txBody>
          <a:bodyPr wrap="square"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a:t>
            </a:r>
            <a:endParaRPr lang="en-US" sz="1600" dirty="0"/>
          </a:p>
        </p:txBody>
      </p:sp>
      <p:sp>
        <p:nvSpPr>
          <p:cNvPr id="44" name="Text 42"/>
          <p:cNvSpPr/>
          <p:nvPr/>
        </p:nvSpPr>
        <p:spPr>
          <a:xfrm>
            <a:off x="6839712" y="3803904"/>
            <a:ext cx="1719072"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Follow-up Qs</a:t>
            </a:r>
            <a:endParaRPr lang="en-US" sz="1100" dirty="0"/>
          </a:p>
        </p:txBody>
      </p:sp>
      <p:sp>
        <p:nvSpPr>
          <p:cNvPr id="45" name="Text 43"/>
          <p:cNvSpPr/>
          <p:nvPr/>
        </p:nvSpPr>
        <p:spPr>
          <a:xfrm>
            <a:off x="6839712" y="4023360"/>
            <a:ext cx="1719072" cy="347472"/>
          </a:xfrm>
          <a:prstGeom prst="rect">
            <a:avLst/>
          </a:prstGeom>
          <a:noFill/>
          <a:ln/>
        </p:spPr>
        <p:txBody>
          <a:bodyPr wrap="square" rtlCol="0" anchor="ctr"/>
          <a:lstStyle/>
          <a:p>
            <a:pPr marL="0" indent="0">
              <a:buNone/>
            </a:pPr>
            <a:r>
              <a:rPr lang="en-US" sz="900" dirty="0">
                <a:solidFill>
                  <a:srgbClr val="6080A0"/>
                </a:solidFill>
                <a:latin typeface="Calibri" pitchFamily="34" charset="0"/>
                <a:ea typeface="Calibri" pitchFamily="34" charset="-122"/>
                <a:cs typeface="Calibri" pitchFamily="34" charset="-120"/>
              </a:rPr>
              <a:t>Contextual suggestions</a:t>
            </a:r>
            <a:endParaRPr lang="en-US" sz="900" dirty="0"/>
          </a:p>
        </p:txBody>
      </p:sp>
      <p:sp>
        <p:nvSpPr>
          <p:cNvPr id="46" name="Shape 44"/>
          <p:cNvSpPr/>
          <p:nvPr/>
        </p:nvSpPr>
        <p:spPr>
          <a:xfrm>
            <a:off x="2807208" y="2578608"/>
            <a:ext cx="228600" cy="164592"/>
          </a:xfrm>
          <a:prstGeom prst="rightArrow">
            <a:avLst/>
          </a:prstGeom>
          <a:solidFill>
            <a:srgbClr val="00C2CB"/>
          </a:solidFill>
          <a:ln w="12700">
            <a:solidFill>
              <a:srgbClr val="00C2CB"/>
            </a:solidFill>
            <a:prstDash val="solid"/>
          </a:ln>
        </p:spPr>
      </p:sp>
      <p:sp>
        <p:nvSpPr>
          <p:cNvPr id="47" name="Shape 45"/>
          <p:cNvSpPr/>
          <p:nvPr/>
        </p:nvSpPr>
        <p:spPr>
          <a:xfrm>
            <a:off x="6053328" y="2578608"/>
            <a:ext cx="228600" cy="164592"/>
          </a:xfrm>
          <a:prstGeom prst="rightArrow">
            <a:avLst/>
          </a:prstGeom>
          <a:solidFill>
            <a:srgbClr val="00C2CB"/>
          </a:solidFill>
          <a:ln w="12700">
            <a:solidFill>
              <a:srgbClr val="00C2CB"/>
            </a:solidFill>
            <a:prstDash val="solid"/>
          </a:ln>
        </p:spPr>
      </p:sp>
      <p:sp>
        <p:nvSpPr>
          <p:cNvPr id="48" name="Shape 46"/>
          <p:cNvSpPr/>
          <p:nvPr/>
        </p:nvSpPr>
        <p:spPr>
          <a:xfrm>
            <a:off x="457200" y="4617720"/>
            <a:ext cx="8229600" cy="384048"/>
          </a:xfrm>
          <a:prstGeom prst="roundRect">
            <a:avLst>
              <a:gd name="adj" fmla="val 19048"/>
            </a:avLst>
          </a:prstGeom>
          <a:solidFill>
            <a:srgbClr val="0A1628"/>
          </a:solidFill>
          <a:ln w="12700">
            <a:solidFill>
              <a:srgbClr val="00C2CB"/>
            </a:solidFill>
            <a:prstDash val="solid"/>
          </a:ln>
        </p:spPr>
      </p:sp>
      <p:sp>
        <p:nvSpPr>
          <p:cNvPr id="49" name="Text 47"/>
          <p:cNvSpPr/>
          <p:nvPr/>
        </p:nvSpPr>
        <p:spPr>
          <a:xfrm>
            <a:off x="640080" y="4636008"/>
            <a:ext cx="7863840" cy="347472"/>
          </a:xfrm>
          <a:prstGeom prst="rect">
            <a:avLst/>
          </a:prstGeom>
          <a:noFill/>
          <a:ln/>
        </p:spPr>
        <p:txBody>
          <a:bodyPr wrap="square" rtlCol="0" anchor="ctr"/>
          <a:lstStyle/>
          <a:p>
            <a:pPr marL="0" indent="0" algn="l">
              <a:buNone/>
            </a:pPr>
            <a:r>
              <a:rPr lang="en-US" sz="1100" dirty="0">
                <a:solidFill>
                  <a:srgbClr val="00C2CB"/>
                </a:solidFill>
                <a:latin typeface="Calibri" pitchFamily="34" charset="0"/>
                <a:ea typeface="Calibri" pitchFamily="34" charset="-122"/>
                <a:cs typeface="Calibri" pitchFamily="34" charset="-120"/>
              </a:rPr>
              <a:t>⚡  Domain-grounded: Answers only from course knowledge. Web search activated only when internal docs are insufficient.</a:t>
            </a:r>
            <a:endParaRPr lang="en-US" sz="1100" dirty="0"/>
          </a:p>
        </p:txBody>
      </p:sp>
      <p:sp>
        <p:nvSpPr>
          <p:cNvPr id="50" name="Text 48"/>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0B4CC"/>
                </a:solidFill>
                <a:latin typeface="Calibri" pitchFamily="34" charset="0"/>
                <a:ea typeface="Calibri" pitchFamily="34" charset="-122"/>
                <a:cs typeface="Calibri" pitchFamily="34" charset="-120"/>
              </a:rPr>
              <a:t>4 / 13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Text 2"/>
          <p:cNvSpPr/>
          <p:nvPr/>
        </p:nvSpPr>
        <p:spPr>
          <a:xfrm>
            <a:off x="457200" y="73152"/>
            <a:ext cx="8229600" cy="201168"/>
          </a:xfrm>
          <a:prstGeom prst="rect">
            <a:avLst/>
          </a:prstGeom>
          <a:noFill/>
          <a:ln/>
        </p:spPr>
        <p:txBody>
          <a:bodyPr wrap="square" rtlCol="0" anchor="ctr"/>
          <a:lstStyle/>
          <a:p>
            <a:pPr marL="0" indent="0" algn="l">
              <a:buNone/>
            </a:pPr>
            <a:r>
              <a:rPr lang="en-US" sz="900" b="1" kern="0" spc="200" dirty="0">
                <a:solidFill>
                  <a:srgbClr val="00C2CB"/>
                </a:solidFill>
                <a:latin typeface="Calibri" pitchFamily="34" charset="0"/>
                <a:ea typeface="Calibri" pitchFamily="34" charset="-122"/>
                <a:cs typeface="Calibri" pitchFamily="34" charset="-120"/>
              </a:rPr>
              <a:t>SYSTEM ARCHITECTURE</a:t>
            </a:r>
            <a:endParaRPr lang="en-US" sz="900" dirty="0"/>
          </a:p>
        </p:txBody>
      </p:sp>
      <p:sp>
        <p:nvSpPr>
          <p:cNvPr id="5" name="Text 3"/>
          <p:cNvSpPr/>
          <p:nvPr/>
        </p:nvSpPr>
        <p:spPr>
          <a:xfrm>
            <a:off x="457200" y="256032"/>
            <a:ext cx="8229600" cy="384048"/>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End-to-End Architecture</a:t>
            </a:r>
            <a:endParaRPr lang="en-US" sz="2600" dirty="0"/>
          </a:p>
        </p:txBody>
      </p:sp>
      <p:sp>
        <p:nvSpPr>
          <p:cNvPr id="6" name="Shape 4"/>
          <p:cNvSpPr/>
          <p:nvPr/>
        </p:nvSpPr>
        <p:spPr>
          <a:xfrm>
            <a:off x="164592" y="777240"/>
            <a:ext cx="777240" cy="658368"/>
          </a:xfrm>
          <a:prstGeom prst="roundRect">
            <a:avLst>
              <a:gd name="adj" fmla="val 13889"/>
            </a:avLst>
          </a:prstGeom>
          <a:solidFill>
            <a:srgbClr val="00C2CB"/>
          </a:solidFill>
          <a:ln w="12700">
            <a:solidFill>
              <a:srgbClr val="00C2CB"/>
            </a:solidFill>
            <a:prstDash val="solid"/>
          </a:ln>
        </p:spPr>
      </p:sp>
      <p:sp>
        <p:nvSpPr>
          <p:cNvPr id="7" name="Text 5"/>
          <p:cNvSpPr/>
          <p:nvPr/>
        </p:nvSpPr>
        <p:spPr>
          <a:xfrm>
            <a:off x="192024" y="822960"/>
            <a:ext cx="722376" cy="347472"/>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User</a:t>
            </a:r>
            <a:endParaRPr lang="en-US" sz="1000" dirty="0"/>
          </a:p>
        </p:txBody>
      </p:sp>
      <p:sp>
        <p:nvSpPr>
          <p:cNvPr id="8" name="Shape 6"/>
          <p:cNvSpPr/>
          <p:nvPr/>
        </p:nvSpPr>
        <p:spPr>
          <a:xfrm>
            <a:off x="960120" y="1024128"/>
            <a:ext cx="182880" cy="128016"/>
          </a:xfrm>
          <a:prstGeom prst="rightArrow">
            <a:avLst/>
          </a:prstGeom>
          <a:solidFill>
            <a:srgbClr val="00C2CB"/>
          </a:solidFill>
          <a:ln w="12700">
            <a:solidFill>
              <a:srgbClr val="00C2CB"/>
            </a:solidFill>
            <a:prstDash val="solid"/>
          </a:ln>
        </p:spPr>
      </p:sp>
      <p:sp>
        <p:nvSpPr>
          <p:cNvPr id="9" name="Shape 7"/>
          <p:cNvSpPr/>
          <p:nvPr/>
        </p:nvSpPr>
        <p:spPr>
          <a:xfrm>
            <a:off x="1161288" y="777240"/>
            <a:ext cx="1097280" cy="658368"/>
          </a:xfrm>
          <a:prstGeom prst="roundRect">
            <a:avLst>
              <a:gd name="adj" fmla="val 13889"/>
            </a:avLst>
          </a:prstGeom>
          <a:solidFill>
            <a:srgbClr val="112240"/>
          </a:solidFill>
          <a:ln w="12700">
            <a:solidFill>
              <a:srgbClr val="2A4A70"/>
            </a:solidFill>
            <a:prstDash val="solid"/>
          </a:ln>
        </p:spPr>
      </p:sp>
      <p:sp>
        <p:nvSpPr>
          <p:cNvPr id="10" name="Text 8"/>
          <p:cNvSpPr/>
          <p:nvPr/>
        </p:nvSpPr>
        <p:spPr>
          <a:xfrm>
            <a:off x="1188720" y="822960"/>
            <a:ext cx="1042416" cy="347472"/>
          </a:xfrm>
          <a:prstGeom prst="rect">
            <a:avLst/>
          </a:prstGeom>
          <a:noFill/>
          <a:ln/>
        </p:spPr>
        <p:txBody>
          <a:bodyPr wrap="square"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Streamlit UI</a:t>
            </a:r>
            <a:endParaRPr lang="en-US" sz="1000" dirty="0"/>
          </a:p>
        </p:txBody>
      </p:sp>
      <p:sp>
        <p:nvSpPr>
          <p:cNvPr id="11" name="Text 9"/>
          <p:cNvSpPr/>
          <p:nvPr/>
        </p:nvSpPr>
        <p:spPr>
          <a:xfrm>
            <a:off x="1188720" y="1197864"/>
            <a:ext cx="1042416" cy="182880"/>
          </a:xfrm>
          <a:prstGeom prst="rect">
            <a:avLst/>
          </a:prstGeom>
          <a:noFill/>
          <a:ln/>
        </p:spPr>
        <p:txBody>
          <a:bodyPr wrap="square" rtlCol="0" anchor="ctr"/>
          <a:lstStyle/>
          <a:p>
            <a:pPr marL="0" indent="0" algn="ctr">
              <a:buNone/>
            </a:pPr>
            <a:r>
              <a:rPr lang="en-US" sz="700" dirty="0">
                <a:solidFill>
                  <a:srgbClr val="A0B4CC"/>
                </a:solidFill>
                <a:latin typeface="Calibri" pitchFamily="34" charset="0"/>
                <a:ea typeface="Calibri" pitchFamily="34" charset="-122"/>
                <a:cs typeface="Calibri" pitchFamily="34" charset="-120"/>
              </a:rPr>
              <a:t>app.py</a:t>
            </a:r>
            <a:endParaRPr lang="en-US" sz="700" dirty="0"/>
          </a:p>
        </p:txBody>
      </p:sp>
      <p:sp>
        <p:nvSpPr>
          <p:cNvPr id="12" name="Shape 10"/>
          <p:cNvSpPr/>
          <p:nvPr/>
        </p:nvSpPr>
        <p:spPr>
          <a:xfrm>
            <a:off x="2276856" y="1024128"/>
            <a:ext cx="182880" cy="128016"/>
          </a:xfrm>
          <a:prstGeom prst="rightArrow">
            <a:avLst/>
          </a:prstGeom>
          <a:solidFill>
            <a:srgbClr val="00C2CB"/>
          </a:solidFill>
          <a:ln w="12700">
            <a:solidFill>
              <a:srgbClr val="00C2CB"/>
            </a:solidFill>
            <a:prstDash val="solid"/>
          </a:ln>
        </p:spPr>
      </p:sp>
      <p:sp>
        <p:nvSpPr>
          <p:cNvPr id="13" name="Shape 11"/>
          <p:cNvSpPr/>
          <p:nvPr/>
        </p:nvSpPr>
        <p:spPr>
          <a:xfrm>
            <a:off x="2478024" y="777240"/>
            <a:ext cx="1234440" cy="658368"/>
          </a:xfrm>
          <a:prstGeom prst="roundRect">
            <a:avLst>
              <a:gd name="adj" fmla="val 13889"/>
            </a:avLst>
          </a:prstGeom>
          <a:solidFill>
            <a:srgbClr val="112240"/>
          </a:solidFill>
          <a:ln w="12700">
            <a:solidFill>
              <a:srgbClr val="2A4A70"/>
            </a:solidFill>
            <a:prstDash val="solid"/>
          </a:ln>
        </p:spPr>
      </p:sp>
      <p:sp>
        <p:nvSpPr>
          <p:cNvPr id="14" name="Text 12"/>
          <p:cNvSpPr/>
          <p:nvPr/>
        </p:nvSpPr>
        <p:spPr>
          <a:xfrm>
            <a:off x="2505456" y="822960"/>
            <a:ext cx="1179576" cy="347472"/>
          </a:xfrm>
          <a:prstGeom prst="rect">
            <a:avLst/>
          </a:prstGeom>
          <a:noFill/>
          <a:ln/>
        </p:spPr>
        <p:txBody>
          <a:bodyPr wrap="square"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Vision Engine</a:t>
            </a:r>
            <a:endParaRPr lang="en-US" sz="1000" dirty="0"/>
          </a:p>
        </p:txBody>
      </p:sp>
      <p:sp>
        <p:nvSpPr>
          <p:cNvPr id="15" name="Text 13"/>
          <p:cNvSpPr/>
          <p:nvPr/>
        </p:nvSpPr>
        <p:spPr>
          <a:xfrm>
            <a:off x="2505456" y="1197864"/>
            <a:ext cx="1179576" cy="182880"/>
          </a:xfrm>
          <a:prstGeom prst="rect">
            <a:avLst/>
          </a:prstGeom>
          <a:noFill/>
          <a:ln/>
        </p:spPr>
        <p:txBody>
          <a:bodyPr wrap="square" rtlCol="0" anchor="ctr"/>
          <a:lstStyle/>
          <a:p>
            <a:pPr marL="0" indent="0" algn="ctr">
              <a:buNone/>
            </a:pPr>
            <a:r>
              <a:rPr lang="en-US" sz="700" dirty="0">
                <a:solidFill>
                  <a:srgbClr val="A0B4CC"/>
                </a:solidFill>
                <a:latin typeface="Calibri" pitchFamily="34" charset="0"/>
                <a:ea typeface="Calibri" pitchFamily="34" charset="-122"/>
                <a:cs typeface="Calibri" pitchFamily="34" charset="-120"/>
              </a:rPr>
              <a:t>vision_engine.py</a:t>
            </a:r>
            <a:endParaRPr lang="en-US" sz="700" dirty="0"/>
          </a:p>
        </p:txBody>
      </p:sp>
      <p:sp>
        <p:nvSpPr>
          <p:cNvPr id="16" name="Shape 14"/>
          <p:cNvSpPr/>
          <p:nvPr/>
        </p:nvSpPr>
        <p:spPr>
          <a:xfrm>
            <a:off x="3730752" y="1024128"/>
            <a:ext cx="182880" cy="128016"/>
          </a:xfrm>
          <a:prstGeom prst="rightArrow">
            <a:avLst/>
          </a:prstGeom>
          <a:solidFill>
            <a:srgbClr val="00C2CB"/>
          </a:solidFill>
          <a:ln w="12700">
            <a:solidFill>
              <a:srgbClr val="00C2CB"/>
            </a:solidFill>
            <a:prstDash val="solid"/>
          </a:ln>
        </p:spPr>
      </p:sp>
      <p:sp>
        <p:nvSpPr>
          <p:cNvPr id="17" name="Shape 15"/>
          <p:cNvSpPr/>
          <p:nvPr/>
        </p:nvSpPr>
        <p:spPr>
          <a:xfrm>
            <a:off x="3931920" y="777240"/>
            <a:ext cx="1234440" cy="658368"/>
          </a:xfrm>
          <a:prstGeom prst="roundRect">
            <a:avLst>
              <a:gd name="adj" fmla="val 13889"/>
            </a:avLst>
          </a:prstGeom>
          <a:solidFill>
            <a:srgbClr val="112240"/>
          </a:solidFill>
          <a:ln w="12700">
            <a:solidFill>
              <a:srgbClr val="2A4A70"/>
            </a:solidFill>
            <a:prstDash val="solid"/>
          </a:ln>
        </p:spPr>
      </p:sp>
      <p:sp>
        <p:nvSpPr>
          <p:cNvPr id="18" name="Text 16"/>
          <p:cNvSpPr/>
          <p:nvPr/>
        </p:nvSpPr>
        <p:spPr>
          <a:xfrm>
            <a:off x="3959352" y="822960"/>
            <a:ext cx="1179576" cy="347472"/>
          </a:xfrm>
          <a:prstGeom prst="rect">
            <a:avLst/>
          </a:prstGeom>
          <a:noFill/>
          <a:ln/>
        </p:spPr>
        <p:txBody>
          <a:bodyPr wrap="square"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LangGraph</a:t>
            </a:r>
            <a:endParaRPr lang="en-US" sz="1000" dirty="0"/>
          </a:p>
          <a:p>
            <a:pPr marL="0" indent="0" algn="ctr">
              <a:buNone/>
            </a:pPr>
            <a:r>
              <a:rPr lang="en-US" sz="1000" b="1" dirty="0">
                <a:solidFill>
                  <a:srgbClr val="00C2CB"/>
                </a:solidFill>
                <a:latin typeface="Calibri" pitchFamily="34" charset="0"/>
                <a:ea typeface="Calibri" pitchFamily="34" charset="-122"/>
                <a:cs typeface="Calibri" pitchFamily="34" charset="-120"/>
              </a:rPr>
              <a:t>ReAct Agent</a:t>
            </a:r>
            <a:endParaRPr lang="en-US" sz="1000" dirty="0"/>
          </a:p>
        </p:txBody>
      </p:sp>
      <p:sp>
        <p:nvSpPr>
          <p:cNvPr id="19" name="Text 17"/>
          <p:cNvSpPr/>
          <p:nvPr/>
        </p:nvSpPr>
        <p:spPr>
          <a:xfrm>
            <a:off x="3959352" y="1197864"/>
            <a:ext cx="1179576" cy="182880"/>
          </a:xfrm>
          <a:prstGeom prst="rect">
            <a:avLst/>
          </a:prstGeom>
          <a:noFill/>
          <a:ln/>
        </p:spPr>
        <p:txBody>
          <a:bodyPr wrap="square" rtlCol="0" anchor="ctr"/>
          <a:lstStyle/>
          <a:p>
            <a:pPr marL="0" indent="0" algn="ctr">
              <a:buNone/>
            </a:pPr>
            <a:r>
              <a:rPr lang="en-US" sz="700" dirty="0">
                <a:solidFill>
                  <a:srgbClr val="A0B4CC"/>
                </a:solidFill>
                <a:latin typeface="Calibri" pitchFamily="34" charset="0"/>
                <a:ea typeface="Calibri" pitchFamily="34" charset="-122"/>
                <a:cs typeface="Calibri" pitchFamily="34" charset="-120"/>
              </a:rPr>
              <a:t>agent_runner.py</a:t>
            </a:r>
            <a:endParaRPr lang="en-US" sz="700" dirty="0"/>
          </a:p>
        </p:txBody>
      </p:sp>
      <p:sp>
        <p:nvSpPr>
          <p:cNvPr id="20" name="Shape 18"/>
          <p:cNvSpPr/>
          <p:nvPr/>
        </p:nvSpPr>
        <p:spPr>
          <a:xfrm>
            <a:off x="5184648" y="1024128"/>
            <a:ext cx="182880" cy="128016"/>
          </a:xfrm>
          <a:prstGeom prst="rightArrow">
            <a:avLst/>
          </a:prstGeom>
          <a:solidFill>
            <a:srgbClr val="00C2CB"/>
          </a:solidFill>
          <a:ln w="12700">
            <a:solidFill>
              <a:srgbClr val="00C2CB"/>
            </a:solidFill>
            <a:prstDash val="solid"/>
          </a:ln>
        </p:spPr>
      </p:sp>
      <p:sp>
        <p:nvSpPr>
          <p:cNvPr id="21" name="Shape 19"/>
          <p:cNvSpPr/>
          <p:nvPr/>
        </p:nvSpPr>
        <p:spPr>
          <a:xfrm>
            <a:off x="5385816" y="777240"/>
            <a:ext cx="914400" cy="658368"/>
          </a:xfrm>
          <a:prstGeom prst="roundRect">
            <a:avLst>
              <a:gd name="adj" fmla="val 13889"/>
            </a:avLst>
          </a:prstGeom>
          <a:solidFill>
            <a:srgbClr val="112240"/>
          </a:solidFill>
          <a:ln w="12700">
            <a:solidFill>
              <a:srgbClr val="2A4A70"/>
            </a:solidFill>
            <a:prstDash val="solid"/>
          </a:ln>
        </p:spPr>
      </p:sp>
      <p:sp>
        <p:nvSpPr>
          <p:cNvPr id="22" name="Text 20"/>
          <p:cNvSpPr/>
          <p:nvPr/>
        </p:nvSpPr>
        <p:spPr>
          <a:xfrm>
            <a:off x="5413248" y="822960"/>
            <a:ext cx="859536" cy="347472"/>
          </a:xfrm>
          <a:prstGeom prst="rect">
            <a:avLst/>
          </a:prstGeom>
          <a:noFill/>
          <a:ln/>
        </p:spPr>
        <p:txBody>
          <a:bodyPr wrap="square"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Tool</a:t>
            </a:r>
            <a:endParaRPr lang="en-US" sz="1000" dirty="0"/>
          </a:p>
          <a:p>
            <a:pPr marL="0" indent="0" algn="ctr">
              <a:buNone/>
            </a:pPr>
            <a:r>
              <a:rPr lang="en-US" sz="1000" b="1" dirty="0">
                <a:solidFill>
                  <a:srgbClr val="00C2CB"/>
                </a:solidFill>
                <a:latin typeface="Calibri" pitchFamily="34" charset="0"/>
                <a:ea typeface="Calibri" pitchFamily="34" charset="-122"/>
                <a:cs typeface="Calibri" pitchFamily="34" charset="-120"/>
              </a:rPr>
              <a:t>Routing</a:t>
            </a:r>
            <a:endParaRPr lang="en-US" sz="1000" dirty="0"/>
          </a:p>
        </p:txBody>
      </p:sp>
      <p:sp>
        <p:nvSpPr>
          <p:cNvPr id="23" name="Text 21"/>
          <p:cNvSpPr/>
          <p:nvPr/>
        </p:nvSpPr>
        <p:spPr>
          <a:xfrm>
            <a:off x="5413248" y="1197864"/>
            <a:ext cx="859536" cy="182880"/>
          </a:xfrm>
          <a:prstGeom prst="rect">
            <a:avLst/>
          </a:prstGeom>
          <a:noFill/>
          <a:ln/>
        </p:spPr>
        <p:txBody>
          <a:bodyPr wrap="square" rtlCol="0" anchor="ctr"/>
          <a:lstStyle/>
          <a:p>
            <a:pPr marL="0" indent="0" algn="ctr">
              <a:buNone/>
            </a:pPr>
            <a:r>
              <a:rPr lang="en-US" sz="700" dirty="0">
                <a:solidFill>
                  <a:srgbClr val="A0B4CC"/>
                </a:solidFill>
                <a:latin typeface="Calibri" pitchFamily="34" charset="0"/>
                <a:ea typeface="Calibri" pitchFamily="34" charset="-122"/>
                <a:cs typeface="Calibri" pitchFamily="34" charset="-120"/>
              </a:rPr>
              <a:t>tools.py</a:t>
            </a:r>
            <a:endParaRPr lang="en-US" sz="700" dirty="0"/>
          </a:p>
        </p:txBody>
      </p:sp>
      <p:sp>
        <p:nvSpPr>
          <p:cNvPr id="24" name="Shape 22"/>
          <p:cNvSpPr/>
          <p:nvPr/>
        </p:nvSpPr>
        <p:spPr>
          <a:xfrm>
            <a:off x="6537960" y="777240"/>
            <a:ext cx="1234440" cy="658368"/>
          </a:xfrm>
          <a:prstGeom prst="roundRect">
            <a:avLst>
              <a:gd name="adj" fmla="val 13889"/>
            </a:avLst>
          </a:prstGeom>
          <a:solidFill>
            <a:srgbClr val="112240"/>
          </a:solidFill>
          <a:ln w="12700">
            <a:solidFill>
              <a:srgbClr val="2A4A70"/>
            </a:solidFill>
            <a:prstDash val="solid"/>
          </a:ln>
        </p:spPr>
      </p:sp>
      <p:sp>
        <p:nvSpPr>
          <p:cNvPr id="25" name="Text 23"/>
          <p:cNvSpPr/>
          <p:nvPr/>
        </p:nvSpPr>
        <p:spPr>
          <a:xfrm>
            <a:off x="6565392" y="822960"/>
            <a:ext cx="1179576" cy="347472"/>
          </a:xfrm>
          <a:prstGeom prst="rect">
            <a:avLst/>
          </a:prstGeom>
          <a:noFill/>
          <a:ln/>
        </p:spPr>
        <p:txBody>
          <a:bodyPr wrap="square"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Course</a:t>
            </a:r>
            <a:endParaRPr lang="en-US" sz="1000" dirty="0"/>
          </a:p>
          <a:p>
            <a:pPr marL="0" indent="0" algn="ctr">
              <a:buNone/>
            </a:pPr>
            <a:r>
              <a:rPr lang="en-US" sz="1000" b="1" dirty="0">
                <a:solidFill>
                  <a:srgbClr val="00C2CB"/>
                </a:solidFill>
                <a:latin typeface="Calibri" pitchFamily="34" charset="0"/>
                <a:ea typeface="Calibri" pitchFamily="34" charset="-122"/>
                <a:cs typeface="Calibri" pitchFamily="34" charset="-120"/>
              </a:rPr>
              <a:t>Knowledge</a:t>
            </a:r>
            <a:endParaRPr lang="en-US" sz="1000" dirty="0"/>
          </a:p>
        </p:txBody>
      </p:sp>
      <p:sp>
        <p:nvSpPr>
          <p:cNvPr id="26" name="Text 24"/>
          <p:cNvSpPr/>
          <p:nvPr/>
        </p:nvSpPr>
        <p:spPr>
          <a:xfrm>
            <a:off x="6565392" y="1197864"/>
            <a:ext cx="1179576" cy="182880"/>
          </a:xfrm>
          <a:prstGeom prst="rect">
            <a:avLst/>
          </a:prstGeom>
          <a:noFill/>
          <a:ln/>
        </p:spPr>
        <p:txBody>
          <a:bodyPr wrap="square" rtlCol="0" anchor="ctr"/>
          <a:lstStyle/>
          <a:p>
            <a:pPr marL="0" indent="0" algn="ctr">
              <a:buNone/>
            </a:pPr>
            <a:r>
              <a:rPr lang="en-US" sz="700" dirty="0">
                <a:solidFill>
                  <a:srgbClr val="A0B4CC"/>
                </a:solidFill>
                <a:latin typeface="Calibri" pitchFamily="34" charset="0"/>
                <a:ea typeface="Calibri" pitchFamily="34" charset="-122"/>
                <a:cs typeface="Calibri" pitchFamily="34" charset="-120"/>
              </a:rPr>
              <a:t>search_course_knowledge</a:t>
            </a:r>
            <a:endParaRPr lang="en-US" sz="700" dirty="0"/>
          </a:p>
        </p:txBody>
      </p:sp>
      <p:sp>
        <p:nvSpPr>
          <p:cNvPr id="27" name="Shape 25"/>
          <p:cNvSpPr/>
          <p:nvPr/>
        </p:nvSpPr>
        <p:spPr>
          <a:xfrm>
            <a:off x="6537960" y="1554480"/>
            <a:ext cx="1234440" cy="658368"/>
          </a:xfrm>
          <a:prstGeom prst="roundRect">
            <a:avLst>
              <a:gd name="adj" fmla="val 13889"/>
            </a:avLst>
          </a:prstGeom>
          <a:solidFill>
            <a:srgbClr val="112240"/>
          </a:solidFill>
          <a:ln w="12700">
            <a:solidFill>
              <a:srgbClr val="2A4A70"/>
            </a:solidFill>
            <a:prstDash val="solid"/>
          </a:ln>
        </p:spPr>
      </p:sp>
      <p:sp>
        <p:nvSpPr>
          <p:cNvPr id="28" name="Text 26"/>
          <p:cNvSpPr/>
          <p:nvPr/>
        </p:nvSpPr>
        <p:spPr>
          <a:xfrm>
            <a:off x="6565392" y="1600200"/>
            <a:ext cx="1179576" cy="347472"/>
          </a:xfrm>
          <a:prstGeom prst="rect">
            <a:avLst/>
          </a:prstGeom>
          <a:noFill/>
          <a:ln/>
        </p:spPr>
        <p:txBody>
          <a:bodyPr wrap="square" rtlCol="0" anchor="ctr"/>
          <a:lstStyle/>
          <a:p>
            <a:pPr marL="0" indent="0" algn="ctr">
              <a:buNone/>
            </a:pPr>
            <a:r>
              <a:rPr lang="en-US" sz="1000" b="1" dirty="0">
                <a:solidFill>
                  <a:srgbClr val="1A6ED8"/>
                </a:solidFill>
                <a:latin typeface="Calibri" pitchFamily="34" charset="0"/>
                <a:ea typeface="Calibri" pitchFamily="34" charset="-122"/>
                <a:cs typeface="Calibri" pitchFamily="34" charset="-120"/>
              </a:rPr>
              <a:t>Tavily</a:t>
            </a:r>
            <a:endParaRPr lang="en-US" sz="1000" dirty="0"/>
          </a:p>
          <a:p>
            <a:pPr marL="0" indent="0" algn="ctr">
              <a:buNone/>
            </a:pPr>
            <a:r>
              <a:rPr lang="en-US" sz="1000" b="1" dirty="0">
                <a:solidFill>
                  <a:srgbClr val="1A6ED8"/>
                </a:solidFill>
                <a:latin typeface="Calibri" pitchFamily="34" charset="0"/>
                <a:ea typeface="Calibri" pitchFamily="34" charset="-122"/>
                <a:cs typeface="Calibri" pitchFamily="34" charset="-120"/>
              </a:rPr>
              <a:t>Web Search</a:t>
            </a:r>
            <a:endParaRPr lang="en-US" sz="1000" dirty="0"/>
          </a:p>
        </p:txBody>
      </p:sp>
      <p:sp>
        <p:nvSpPr>
          <p:cNvPr id="29" name="Text 27"/>
          <p:cNvSpPr/>
          <p:nvPr/>
        </p:nvSpPr>
        <p:spPr>
          <a:xfrm>
            <a:off x="6565392" y="1975104"/>
            <a:ext cx="1179576" cy="182880"/>
          </a:xfrm>
          <a:prstGeom prst="rect">
            <a:avLst/>
          </a:prstGeom>
          <a:noFill/>
          <a:ln/>
        </p:spPr>
        <p:txBody>
          <a:bodyPr wrap="square" rtlCol="0" anchor="ctr"/>
          <a:lstStyle/>
          <a:p>
            <a:pPr marL="0" indent="0" algn="ctr">
              <a:buNone/>
            </a:pPr>
            <a:r>
              <a:rPr lang="en-US" sz="700" dirty="0">
                <a:solidFill>
                  <a:srgbClr val="A0B4CC"/>
                </a:solidFill>
                <a:latin typeface="Calibri" pitchFamily="34" charset="0"/>
                <a:ea typeface="Calibri" pitchFamily="34" charset="-122"/>
                <a:cs typeface="Calibri" pitchFamily="34" charset="-120"/>
              </a:rPr>
              <a:t>TavilySearchResults</a:t>
            </a:r>
            <a:endParaRPr lang="en-US" sz="700" dirty="0"/>
          </a:p>
        </p:txBody>
      </p:sp>
      <p:sp>
        <p:nvSpPr>
          <p:cNvPr id="30" name="Shape 28"/>
          <p:cNvSpPr/>
          <p:nvPr/>
        </p:nvSpPr>
        <p:spPr>
          <a:xfrm>
            <a:off x="6492240" y="1097280"/>
            <a:ext cx="0" cy="822960"/>
          </a:xfrm>
          <a:prstGeom prst="line">
            <a:avLst/>
          </a:prstGeom>
          <a:noFill/>
          <a:ln w="12700">
            <a:solidFill>
              <a:srgbClr val="A0B4CC"/>
            </a:solidFill>
            <a:prstDash val="solid"/>
          </a:ln>
        </p:spPr>
      </p:sp>
      <p:sp>
        <p:nvSpPr>
          <p:cNvPr id="31" name="Shape 29"/>
          <p:cNvSpPr/>
          <p:nvPr/>
        </p:nvSpPr>
        <p:spPr>
          <a:xfrm>
            <a:off x="6492240" y="1051560"/>
            <a:ext cx="182880" cy="128016"/>
          </a:xfrm>
          <a:prstGeom prst="rightArrow">
            <a:avLst/>
          </a:prstGeom>
          <a:solidFill>
            <a:srgbClr val="00C2CB"/>
          </a:solidFill>
          <a:ln w="12700">
            <a:solidFill>
              <a:srgbClr val="00C2CB"/>
            </a:solidFill>
            <a:prstDash val="solid"/>
          </a:ln>
        </p:spPr>
      </p:sp>
      <p:sp>
        <p:nvSpPr>
          <p:cNvPr id="32" name="Shape 30"/>
          <p:cNvSpPr/>
          <p:nvPr/>
        </p:nvSpPr>
        <p:spPr>
          <a:xfrm>
            <a:off x="6492240" y="1819656"/>
            <a:ext cx="182880" cy="128016"/>
          </a:xfrm>
          <a:prstGeom prst="rightArrow">
            <a:avLst/>
          </a:prstGeom>
          <a:solidFill>
            <a:srgbClr val="1A6ED8"/>
          </a:solidFill>
          <a:ln w="12700">
            <a:solidFill>
              <a:srgbClr val="1A6ED8"/>
            </a:solidFill>
            <a:prstDash val="solid"/>
          </a:ln>
        </p:spPr>
      </p:sp>
      <p:sp>
        <p:nvSpPr>
          <p:cNvPr id="33" name="Shape 31"/>
          <p:cNvSpPr/>
          <p:nvPr/>
        </p:nvSpPr>
        <p:spPr>
          <a:xfrm>
            <a:off x="6537960" y="2377440"/>
            <a:ext cx="1234440" cy="566928"/>
          </a:xfrm>
          <a:prstGeom prst="roundRect">
            <a:avLst>
              <a:gd name="adj" fmla="val 16129"/>
            </a:avLst>
          </a:prstGeom>
          <a:solidFill>
            <a:srgbClr val="0A2040"/>
          </a:solidFill>
          <a:ln w="12700">
            <a:solidFill>
              <a:srgbClr val="00C2CB"/>
            </a:solidFill>
            <a:prstDash val="solid"/>
          </a:ln>
        </p:spPr>
      </p:sp>
      <p:sp>
        <p:nvSpPr>
          <p:cNvPr id="34" name="Text 32"/>
          <p:cNvSpPr/>
          <p:nvPr/>
        </p:nvSpPr>
        <p:spPr>
          <a:xfrm>
            <a:off x="6565392" y="2423160"/>
            <a:ext cx="1179576" cy="475488"/>
          </a:xfrm>
          <a:prstGeom prst="rect">
            <a:avLst/>
          </a:prstGeom>
          <a:noFill/>
          <a:ln/>
        </p:spPr>
        <p:txBody>
          <a:bodyPr wrap="square" rtlCol="0" anchor="ctr"/>
          <a:lstStyle/>
          <a:p>
            <a:pPr marL="0" indent="0" algn="ctr">
              <a:buNone/>
            </a:pPr>
            <a:r>
              <a:rPr lang="en-US" sz="1000" b="1" dirty="0">
                <a:solidFill>
                  <a:srgbClr val="00C2CB"/>
                </a:solidFill>
                <a:latin typeface="Calibri" pitchFamily="34" charset="0"/>
                <a:ea typeface="Calibri" pitchFamily="34" charset="-122"/>
                <a:cs typeface="Calibri" pitchFamily="34" charset="-120"/>
              </a:rPr>
              <a:t>Pinecone</a:t>
            </a:r>
            <a:endParaRPr lang="en-US" sz="1000" dirty="0"/>
          </a:p>
          <a:p>
            <a:pPr marL="0" indent="0" algn="ctr">
              <a:buNone/>
            </a:pPr>
            <a:r>
              <a:rPr lang="en-US" sz="1000" b="1" dirty="0">
                <a:solidFill>
                  <a:srgbClr val="00C2CB"/>
                </a:solidFill>
                <a:latin typeface="Calibri" pitchFamily="34" charset="0"/>
                <a:ea typeface="Calibri" pitchFamily="34" charset="-122"/>
                <a:cs typeface="Calibri" pitchFamily="34" charset="-120"/>
              </a:rPr>
              <a:t>Vector Store</a:t>
            </a:r>
            <a:endParaRPr lang="en-US" sz="1000" dirty="0"/>
          </a:p>
        </p:txBody>
      </p:sp>
      <p:sp>
        <p:nvSpPr>
          <p:cNvPr id="35" name="Shape 33"/>
          <p:cNvSpPr/>
          <p:nvPr/>
        </p:nvSpPr>
        <p:spPr>
          <a:xfrm>
            <a:off x="7159752" y="1435608"/>
            <a:ext cx="0" cy="941832"/>
          </a:xfrm>
          <a:prstGeom prst="line">
            <a:avLst/>
          </a:prstGeom>
          <a:noFill/>
          <a:ln w="12700">
            <a:solidFill>
              <a:srgbClr val="00C2CB"/>
            </a:solidFill>
            <a:prstDash val="dash"/>
          </a:ln>
        </p:spPr>
      </p:sp>
      <p:sp>
        <p:nvSpPr>
          <p:cNvPr id="36" name="Shape 34"/>
          <p:cNvSpPr/>
          <p:nvPr/>
        </p:nvSpPr>
        <p:spPr>
          <a:xfrm>
            <a:off x="7068312" y="2258568"/>
            <a:ext cx="182880" cy="128016"/>
          </a:xfrm>
          <a:prstGeom prst="downArrow">
            <a:avLst/>
          </a:prstGeom>
          <a:solidFill>
            <a:srgbClr val="00C2CB"/>
          </a:solidFill>
          <a:ln w="12700">
            <a:solidFill>
              <a:srgbClr val="00C2CB"/>
            </a:solidFill>
            <a:prstDash val="solid"/>
          </a:ln>
        </p:spPr>
      </p:sp>
      <p:sp>
        <p:nvSpPr>
          <p:cNvPr id="37" name="Shape 35"/>
          <p:cNvSpPr/>
          <p:nvPr/>
        </p:nvSpPr>
        <p:spPr>
          <a:xfrm>
            <a:off x="7863840" y="777240"/>
            <a:ext cx="1143000" cy="1097280"/>
          </a:xfrm>
          <a:prstGeom prst="roundRect">
            <a:avLst>
              <a:gd name="adj" fmla="val 8333"/>
            </a:avLst>
          </a:prstGeom>
          <a:solidFill>
            <a:srgbClr val="002B1A"/>
          </a:solidFill>
          <a:ln w="12700">
            <a:solidFill>
              <a:srgbClr val="00C070"/>
            </a:solidFill>
            <a:prstDash val="solid"/>
          </a:ln>
        </p:spPr>
      </p:sp>
      <p:sp>
        <p:nvSpPr>
          <p:cNvPr id="38" name="Text 36"/>
          <p:cNvSpPr/>
          <p:nvPr/>
        </p:nvSpPr>
        <p:spPr>
          <a:xfrm>
            <a:off x="7882128" y="850392"/>
            <a:ext cx="1106424" cy="950976"/>
          </a:xfrm>
          <a:prstGeom prst="rect">
            <a:avLst/>
          </a:prstGeom>
          <a:noFill/>
          <a:ln/>
        </p:spPr>
        <p:txBody>
          <a:bodyPr wrap="square" rtlCol="0" anchor="ctr"/>
          <a:lstStyle/>
          <a:p>
            <a:pPr marL="0" indent="0" algn="ctr">
              <a:buNone/>
            </a:pPr>
            <a:r>
              <a:rPr lang="en-US" sz="900" dirty="0">
                <a:solidFill>
                  <a:srgbClr val="00E090"/>
                </a:solidFill>
                <a:latin typeface="Calibri" pitchFamily="34" charset="0"/>
                <a:ea typeface="Calibri" pitchFamily="34" charset="-122"/>
                <a:cs typeface="Calibri" pitchFamily="34" charset="-120"/>
              </a:rPr>
              <a:t>Answer</a:t>
            </a:r>
            <a:endParaRPr lang="en-US" sz="900" dirty="0"/>
          </a:p>
          <a:p>
            <a:pPr marL="0" indent="0" algn="ctr">
              <a:buNone/>
            </a:pPr>
            <a:r>
              <a:rPr lang="en-US" sz="900" dirty="0">
                <a:solidFill>
                  <a:srgbClr val="00E090"/>
                </a:solidFill>
                <a:latin typeface="Calibri" pitchFamily="34" charset="0"/>
                <a:ea typeface="Calibri" pitchFamily="34" charset="-122"/>
                <a:cs typeface="Calibri" pitchFamily="34" charset="-120"/>
              </a:rPr>
              <a:t>+ Citations</a:t>
            </a:r>
            <a:endParaRPr lang="en-US" sz="900" dirty="0"/>
          </a:p>
          <a:p>
            <a:pPr marL="0" indent="0" algn="ctr">
              <a:buNone/>
            </a:pPr>
            <a:r>
              <a:rPr lang="en-US" sz="900" dirty="0">
                <a:solidFill>
                  <a:srgbClr val="00E090"/>
                </a:solidFill>
                <a:latin typeface="Calibri" pitchFamily="34" charset="0"/>
                <a:ea typeface="Calibri" pitchFamily="34" charset="-122"/>
                <a:cs typeface="Calibri" pitchFamily="34" charset="-120"/>
              </a:rPr>
              <a:t>+ Audio</a:t>
            </a:r>
            <a:endParaRPr lang="en-US" sz="900" dirty="0"/>
          </a:p>
          <a:p>
            <a:pPr marL="0" indent="0" algn="ctr">
              <a:buNone/>
            </a:pPr>
            <a:r>
              <a:rPr lang="en-US" sz="900" dirty="0">
                <a:solidFill>
                  <a:srgbClr val="00E090"/>
                </a:solidFill>
                <a:latin typeface="Calibri" pitchFamily="34" charset="0"/>
                <a:ea typeface="Calibri" pitchFamily="34" charset="-122"/>
                <a:cs typeface="Calibri" pitchFamily="34" charset="-120"/>
              </a:rPr>
              <a:t>+ Follow-up</a:t>
            </a:r>
            <a:endParaRPr lang="en-US" sz="900" dirty="0"/>
          </a:p>
        </p:txBody>
      </p:sp>
      <p:sp>
        <p:nvSpPr>
          <p:cNvPr id="39" name="Shape 37"/>
          <p:cNvSpPr/>
          <p:nvPr/>
        </p:nvSpPr>
        <p:spPr>
          <a:xfrm>
            <a:off x="7772400" y="1069848"/>
            <a:ext cx="182880" cy="128016"/>
          </a:xfrm>
          <a:prstGeom prst="rightArrow">
            <a:avLst/>
          </a:prstGeom>
          <a:solidFill>
            <a:srgbClr val="00C070"/>
          </a:solidFill>
          <a:ln w="12700">
            <a:solidFill>
              <a:srgbClr val="00C070"/>
            </a:solidFill>
            <a:prstDash val="solid"/>
          </a:ln>
        </p:spPr>
      </p:sp>
      <p:sp>
        <p:nvSpPr>
          <p:cNvPr id="40" name="Shape 38"/>
          <p:cNvSpPr/>
          <p:nvPr/>
        </p:nvSpPr>
        <p:spPr>
          <a:xfrm>
            <a:off x="164592" y="2697480"/>
            <a:ext cx="8823960" cy="201168"/>
          </a:xfrm>
          <a:prstGeom prst="rect">
            <a:avLst/>
          </a:prstGeom>
          <a:solidFill>
            <a:srgbClr val="0B1F35"/>
          </a:solidFill>
          <a:ln w="12700">
            <a:solidFill>
              <a:srgbClr val="0B1F35"/>
            </a:solidFill>
            <a:prstDash val="solid"/>
          </a:ln>
        </p:spPr>
      </p:sp>
      <p:sp>
        <p:nvSpPr>
          <p:cNvPr id="41" name="Text 39"/>
          <p:cNvSpPr/>
          <p:nvPr/>
        </p:nvSpPr>
        <p:spPr>
          <a:xfrm>
            <a:off x="457200" y="2697480"/>
            <a:ext cx="3657600" cy="201168"/>
          </a:xfrm>
          <a:prstGeom prst="rect">
            <a:avLst/>
          </a:prstGeom>
          <a:noFill/>
          <a:ln/>
        </p:spPr>
        <p:txBody>
          <a:bodyPr wrap="square" rtlCol="0" anchor="ctr"/>
          <a:lstStyle/>
          <a:p>
            <a:pPr marL="0" indent="0">
              <a:buNone/>
            </a:pPr>
            <a:r>
              <a:rPr lang="en-US" sz="800" b="1" kern="0" spc="100" dirty="0">
                <a:solidFill>
                  <a:srgbClr val="A0B4CC"/>
                </a:solidFill>
                <a:latin typeface="Calibri" pitchFamily="34" charset="0"/>
                <a:ea typeface="Calibri" pitchFamily="34" charset="-122"/>
                <a:cs typeface="Calibri" pitchFamily="34" charset="-120"/>
              </a:rPr>
              <a:t>DOCUMENT INGESTION PIPELINE</a:t>
            </a:r>
            <a:endParaRPr lang="en-US" sz="800" dirty="0"/>
          </a:p>
        </p:txBody>
      </p:sp>
      <p:sp>
        <p:nvSpPr>
          <p:cNvPr id="42" name="Shape 40"/>
          <p:cNvSpPr/>
          <p:nvPr/>
        </p:nvSpPr>
        <p:spPr>
          <a:xfrm>
            <a:off x="164592" y="2926080"/>
            <a:ext cx="1188720" cy="713232"/>
          </a:xfrm>
          <a:prstGeom prst="roundRect">
            <a:avLst>
              <a:gd name="adj" fmla="val 10256"/>
            </a:avLst>
          </a:prstGeom>
          <a:solidFill>
            <a:srgbClr val="112240"/>
          </a:solidFill>
          <a:ln w="12700">
            <a:solidFill>
              <a:srgbClr val="2A4070"/>
            </a:solidFill>
            <a:prstDash val="solid"/>
          </a:ln>
        </p:spPr>
      </p:sp>
      <p:sp>
        <p:nvSpPr>
          <p:cNvPr id="43" name="Text 41"/>
          <p:cNvSpPr/>
          <p:nvPr/>
        </p:nvSpPr>
        <p:spPr>
          <a:xfrm>
            <a:off x="201168" y="2971800"/>
            <a:ext cx="1115568" cy="62179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PDF Resources</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(resources/)</a:t>
            </a:r>
            <a:endParaRPr lang="en-US" sz="900" dirty="0"/>
          </a:p>
        </p:txBody>
      </p:sp>
      <p:sp>
        <p:nvSpPr>
          <p:cNvPr id="44" name="Shape 42"/>
          <p:cNvSpPr/>
          <p:nvPr/>
        </p:nvSpPr>
        <p:spPr>
          <a:xfrm>
            <a:off x="1371600" y="3218688"/>
            <a:ext cx="164592" cy="109728"/>
          </a:xfrm>
          <a:prstGeom prst="rightArrow">
            <a:avLst/>
          </a:prstGeom>
          <a:solidFill>
            <a:srgbClr val="A0B4CC"/>
          </a:solidFill>
          <a:ln w="12700">
            <a:solidFill>
              <a:srgbClr val="A0B4CC"/>
            </a:solidFill>
            <a:prstDash val="solid"/>
          </a:ln>
        </p:spPr>
      </p:sp>
      <p:sp>
        <p:nvSpPr>
          <p:cNvPr id="45" name="Shape 43"/>
          <p:cNvSpPr/>
          <p:nvPr/>
        </p:nvSpPr>
        <p:spPr>
          <a:xfrm>
            <a:off x="1554480" y="2926080"/>
            <a:ext cx="1005840" cy="713232"/>
          </a:xfrm>
          <a:prstGeom prst="roundRect">
            <a:avLst>
              <a:gd name="adj" fmla="val 10256"/>
            </a:avLst>
          </a:prstGeom>
          <a:solidFill>
            <a:srgbClr val="0E1E38"/>
          </a:solidFill>
          <a:ln w="12700">
            <a:solidFill>
              <a:srgbClr val="2A4070"/>
            </a:solidFill>
            <a:prstDash val="solid"/>
          </a:ln>
        </p:spPr>
      </p:sp>
      <p:sp>
        <p:nvSpPr>
          <p:cNvPr id="46" name="Text 44"/>
          <p:cNvSpPr/>
          <p:nvPr/>
        </p:nvSpPr>
        <p:spPr>
          <a:xfrm>
            <a:off x="1591056" y="2971800"/>
            <a:ext cx="932688" cy="62179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PyMuPDF</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Reader</a:t>
            </a:r>
            <a:endParaRPr lang="en-US" sz="900" dirty="0"/>
          </a:p>
        </p:txBody>
      </p:sp>
      <p:sp>
        <p:nvSpPr>
          <p:cNvPr id="47" name="Shape 45"/>
          <p:cNvSpPr/>
          <p:nvPr/>
        </p:nvSpPr>
        <p:spPr>
          <a:xfrm>
            <a:off x="2578608" y="3218688"/>
            <a:ext cx="164592" cy="109728"/>
          </a:xfrm>
          <a:prstGeom prst="rightArrow">
            <a:avLst/>
          </a:prstGeom>
          <a:solidFill>
            <a:srgbClr val="A0B4CC"/>
          </a:solidFill>
          <a:ln w="12700">
            <a:solidFill>
              <a:srgbClr val="A0B4CC"/>
            </a:solidFill>
            <a:prstDash val="solid"/>
          </a:ln>
        </p:spPr>
      </p:sp>
      <p:sp>
        <p:nvSpPr>
          <p:cNvPr id="48" name="Shape 46"/>
          <p:cNvSpPr/>
          <p:nvPr/>
        </p:nvSpPr>
        <p:spPr>
          <a:xfrm>
            <a:off x="2761488" y="2926080"/>
            <a:ext cx="1005840" cy="713232"/>
          </a:xfrm>
          <a:prstGeom prst="roundRect">
            <a:avLst>
              <a:gd name="adj" fmla="val 10256"/>
            </a:avLst>
          </a:prstGeom>
          <a:solidFill>
            <a:srgbClr val="0E1E38"/>
          </a:solidFill>
          <a:ln w="12700">
            <a:solidFill>
              <a:srgbClr val="2A4070"/>
            </a:solidFill>
            <a:prstDash val="solid"/>
          </a:ln>
        </p:spPr>
      </p:sp>
      <p:sp>
        <p:nvSpPr>
          <p:cNvPr id="49" name="Text 47"/>
          <p:cNvSpPr/>
          <p:nvPr/>
        </p:nvSpPr>
        <p:spPr>
          <a:xfrm>
            <a:off x="2798064" y="2971800"/>
            <a:ext cx="932688" cy="62179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Vision OCR</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 Caption</a:t>
            </a:r>
            <a:endParaRPr lang="en-US" sz="900" dirty="0"/>
          </a:p>
        </p:txBody>
      </p:sp>
      <p:sp>
        <p:nvSpPr>
          <p:cNvPr id="50" name="Shape 48"/>
          <p:cNvSpPr/>
          <p:nvPr/>
        </p:nvSpPr>
        <p:spPr>
          <a:xfrm>
            <a:off x="3785616" y="3218688"/>
            <a:ext cx="164592" cy="109728"/>
          </a:xfrm>
          <a:prstGeom prst="rightArrow">
            <a:avLst/>
          </a:prstGeom>
          <a:solidFill>
            <a:srgbClr val="A0B4CC"/>
          </a:solidFill>
          <a:ln w="12700">
            <a:solidFill>
              <a:srgbClr val="A0B4CC"/>
            </a:solidFill>
            <a:prstDash val="solid"/>
          </a:ln>
        </p:spPr>
      </p:sp>
      <p:sp>
        <p:nvSpPr>
          <p:cNvPr id="51" name="Shape 49"/>
          <p:cNvSpPr/>
          <p:nvPr/>
        </p:nvSpPr>
        <p:spPr>
          <a:xfrm>
            <a:off x="3968496" y="2926080"/>
            <a:ext cx="1005840" cy="713232"/>
          </a:xfrm>
          <a:prstGeom prst="roundRect">
            <a:avLst>
              <a:gd name="adj" fmla="val 10256"/>
            </a:avLst>
          </a:prstGeom>
          <a:solidFill>
            <a:srgbClr val="0E1E38"/>
          </a:solidFill>
          <a:ln w="12700">
            <a:solidFill>
              <a:srgbClr val="2A4070"/>
            </a:solidFill>
            <a:prstDash val="solid"/>
          </a:ln>
        </p:spPr>
      </p:sp>
      <p:sp>
        <p:nvSpPr>
          <p:cNvPr id="52" name="Text 50"/>
          <p:cNvSpPr/>
          <p:nvPr/>
        </p:nvSpPr>
        <p:spPr>
          <a:xfrm>
            <a:off x="4005072" y="2971800"/>
            <a:ext cx="932688" cy="62179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Semantic</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Chunking</a:t>
            </a:r>
            <a:endParaRPr lang="en-US" sz="900" dirty="0"/>
          </a:p>
        </p:txBody>
      </p:sp>
      <p:sp>
        <p:nvSpPr>
          <p:cNvPr id="53" name="Shape 51"/>
          <p:cNvSpPr/>
          <p:nvPr/>
        </p:nvSpPr>
        <p:spPr>
          <a:xfrm>
            <a:off x="4992624" y="3218688"/>
            <a:ext cx="164592" cy="109728"/>
          </a:xfrm>
          <a:prstGeom prst="rightArrow">
            <a:avLst/>
          </a:prstGeom>
          <a:solidFill>
            <a:srgbClr val="A0B4CC"/>
          </a:solidFill>
          <a:ln w="12700">
            <a:solidFill>
              <a:srgbClr val="A0B4CC"/>
            </a:solidFill>
            <a:prstDash val="solid"/>
          </a:ln>
        </p:spPr>
      </p:sp>
      <p:sp>
        <p:nvSpPr>
          <p:cNvPr id="54" name="Shape 52"/>
          <p:cNvSpPr/>
          <p:nvPr/>
        </p:nvSpPr>
        <p:spPr>
          <a:xfrm>
            <a:off x="5175504" y="2926080"/>
            <a:ext cx="1097280" cy="713232"/>
          </a:xfrm>
          <a:prstGeom prst="roundRect">
            <a:avLst>
              <a:gd name="adj" fmla="val 10256"/>
            </a:avLst>
          </a:prstGeom>
          <a:solidFill>
            <a:srgbClr val="0E1E38"/>
          </a:solidFill>
          <a:ln w="12700">
            <a:solidFill>
              <a:srgbClr val="2A4070"/>
            </a:solidFill>
            <a:prstDash val="solid"/>
          </a:ln>
        </p:spPr>
      </p:sp>
      <p:sp>
        <p:nvSpPr>
          <p:cNvPr id="55" name="Text 53"/>
          <p:cNvSpPr/>
          <p:nvPr/>
        </p:nvSpPr>
        <p:spPr>
          <a:xfrm>
            <a:off x="5212080" y="2971800"/>
            <a:ext cx="1024128" cy="62179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Metadata</a:t>
            </a:r>
            <a:endParaRPr lang="en-US" sz="900" dirty="0"/>
          </a:p>
          <a:p>
            <a:pPr marL="0" indent="0" algn="ctr">
              <a:buNone/>
            </a:pPr>
            <a:r>
              <a:rPr lang="en-US" sz="900" dirty="0">
                <a:solidFill>
                  <a:srgbClr val="FFFFFF"/>
                </a:solidFill>
                <a:latin typeface="Calibri" pitchFamily="34" charset="0"/>
                <a:ea typeface="Calibri" pitchFamily="34" charset="-122"/>
                <a:cs typeface="Calibri" pitchFamily="34" charset="-120"/>
              </a:rPr>
              <a:t>Enrichment</a:t>
            </a:r>
            <a:endParaRPr lang="en-US" sz="900" dirty="0"/>
          </a:p>
        </p:txBody>
      </p:sp>
      <p:sp>
        <p:nvSpPr>
          <p:cNvPr id="56" name="Shape 54"/>
          <p:cNvSpPr/>
          <p:nvPr/>
        </p:nvSpPr>
        <p:spPr>
          <a:xfrm>
            <a:off x="6291072" y="3218688"/>
            <a:ext cx="164592" cy="109728"/>
          </a:xfrm>
          <a:prstGeom prst="rightArrow">
            <a:avLst/>
          </a:prstGeom>
          <a:solidFill>
            <a:srgbClr val="A0B4CC"/>
          </a:solidFill>
          <a:ln w="12700">
            <a:solidFill>
              <a:srgbClr val="A0B4CC"/>
            </a:solidFill>
            <a:prstDash val="solid"/>
          </a:ln>
        </p:spPr>
      </p:sp>
      <p:sp>
        <p:nvSpPr>
          <p:cNvPr id="57" name="Shape 55"/>
          <p:cNvSpPr/>
          <p:nvPr/>
        </p:nvSpPr>
        <p:spPr>
          <a:xfrm>
            <a:off x="6473952" y="2926080"/>
            <a:ext cx="1005840" cy="713232"/>
          </a:xfrm>
          <a:prstGeom prst="roundRect">
            <a:avLst>
              <a:gd name="adj" fmla="val 10256"/>
            </a:avLst>
          </a:prstGeom>
          <a:solidFill>
            <a:srgbClr val="0E1E38"/>
          </a:solidFill>
          <a:ln w="12700">
            <a:solidFill>
              <a:srgbClr val="2A4070"/>
            </a:solidFill>
            <a:prstDash val="solid"/>
          </a:ln>
        </p:spPr>
      </p:sp>
      <p:sp>
        <p:nvSpPr>
          <p:cNvPr id="58" name="Text 56"/>
          <p:cNvSpPr/>
          <p:nvPr/>
        </p:nvSpPr>
        <p:spPr>
          <a:xfrm>
            <a:off x="6510528" y="2971800"/>
            <a:ext cx="932688" cy="62179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Embeddings</a:t>
            </a:r>
            <a:endParaRPr lang="en-US" sz="900" dirty="0"/>
          </a:p>
        </p:txBody>
      </p:sp>
      <p:sp>
        <p:nvSpPr>
          <p:cNvPr id="59" name="Shape 57"/>
          <p:cNvSpPr/>
          <p:nvPr/>
        </p:nvSpPr>
        <p:spPr>
          <a:xfrm>
            <a:off x="7498080" y="3218688"/>
            <a:ext cx="164592" cy="109728"/>
          </a:xfrm>
          <a:prstGeom prst="rightArrow">
            <a:avLst/>
          </a:prstGeom>
          <a:solidFill>
            <a:srgbClr val="A0B4CC"/>
          </a:solidFill>
          <a:ln w="12700">
            <a:solidFill>
              <a:srgbClr val="A0B4CC"/>
            </a:solidFill>
            <a:prstDash val="solid"/>
          </a:ln>
        </p:spPr>
      </p:sp>
      <p:sp>
        <p:nvSpPr>
          <p:cNvPr id="60" name="Shape 58"/>
          <p:cNvSpPr/>
          <p:nvPr/>
        </p:nvSpPr>
        <p:spPr>
          <a:xfrm>
            <a:off x="7680960" y="2926080"/>
            <a:ext cx="1005840" cy="713232"/>
          </a:xfrm>
          <a:prstGeom prst="roundRect">
            <a:avLst>
              <a:gd name="adj" fmla="val 10256"/>
            </a:avLst>
          </a:prstGeom>
          <a:solidFill>
            <a:srgbClr val="0A2040"/>
          </a:solidFill>
          <a:ln w="12700">
            <a:solidFill>
              <a:srgbClr val="00C2CB"/>
            </a:solidFill>
            <a:prstDash val="solid"/>
          </a:ln>
        </p:spPr>
      </p:sp>
      <p:sp>
        <p:nvSpPr>
          <p:cNvPr id="61" name="Text 59"/>
          <p:cNvSpPr/>
          <p:nvPr/>
        </p:nvSpPr>
        <p:spPr>
          <a:xfrm>
            <a:off x="7717536" y="2971800"/>
            <a:ext cx="932688" cy="621792"/>
          </a:xfrm>
          <a:prstGeom prst="rect">
            <a:avLst/>
          </a:prstGeom>
          <a:noFill/>
          <a:ln/>
        </p:spPr>
        <p:txBody>
          <a:bodyPr wrap="square" rtlCol="0" anchor="ctr"/>
          <a:lstStyle/>
          <a:p>
            <a:pPr marL="0" indent="0" algn="ctr">
              <a:buNone/>
            </a:pPr>
            <a:r>
              <a:rPr lang="en-US" sz="900" b="1" dirty="0">
                <a:solidFill>
                  <a:srgbClr val="00C2CB"/>
                </a:solidFill>
                <a:latin typeface="Calibri" pitchFamily="34" charset="0"/>
                <a:ea typeface="Calibri" pitchFamily="34" charset="-122"/>
                <a:cs typeface="Calibri" pitchFamily="34" charset="-120"/>
              </a:rPr>
              <a:t>Pinecone</a:t>
            </a:r>
            <a:endParaRPr lang="en-US" sz="900" dirty="0"/>
          </a:p>
          <a:p>
            <a:pPr marL="0" indent="0" algn="ctr">
              <a:buNone/>
            </a:pPr>
            <a:r>
              <a:rPr lang="en-US" sz="900" b="1" dirty="0">
                <a:solidFill>
                  <a:srgbClr val="00C2CB"/>
                </a:solidFill>
                <a:latin typeface="Calibri" pitchFamily="34" charset="0"/>
                <a:ea typeface="Calibri" pitchFamily="34" charset="-122"/>
                <a:cs typeface="Calibri" pitchFamily="34" charset="-120"/>
              </a:rPr>
              <a:t>Upsert</a:t>
            </a:r>
            <a:endParaRPr lang="en-US" sz="900" dirty="0"/>
          </a:p>
        </p:txBody>
      </p:sp>
      <p:sp>
        <p:nvSpPr>
          <p:cNvPr id="62" name="Text 60"/>
          <p:cNvSpPr/>
          <p:nvPr/>
        </p:nvSpPr>
        <p:spPr>
          <a:xfrm>
            <a:off x="4645152" y="3657600"/>
            <a:ext cx="1143000" cy="201168"/>
          </a:xfrm>
          <a:prstGeom prst="rect">
            <a:avLst/>
          </a:prstGeom>
          <a:noFill/>
          <a:ln/>
        </p:spPr>
        <p:txBody>
          <a:bodyPr wrap="square" rtlCol="0" anchor="ctr"/>
          <a:lstStyle/>
          <a:p>
            <a:pPr marL="0" indent="0" algn="ctr">
              <a:buNone/>
            </a:pPr>
            <a:r>
              <a:rPr lang="en-US" sz="700" dirty="0">
                <a:solidFill>
                  <a:srgbClr val="00C2CB"/>
                </a:solidFill>
                <a:latin typeface="Calibri" pitchFamily="34" charset="0"/>
                <a:ea typeface="Calibri" pitchFamily="34" charset="-122"/>
                <a:cs typeface="Calibri" pitchFamily="34" charset="-120"/>
              </a:rPr>
              <a:t>category · doc_code · source_file · page_number</a:t>
            </a:r>
            <a:endParaRPr lang="en-US" sz="700" dirty="0"/>
          </a:p>
        </p:txBody>
      </p:sp>
      <p:sp>
        <p:nvSpPr>
          <p:cNvPr id="63" name="Shape 61"/>
          <p:cNvSpPr/>
          <p:nvPr/>
        </p:nvSpPr>
        <p:spPr>
          <a:xfrm>
            <a:off x="164592" y="3840480"/>
            <a:ext cx="2011680" cy="502920"/>
          </a:xfrm>
          <a:prstGeom prst="roundRect">
            <a:avLst>
              <a:gd name="adj" fmla="val 14545"/>
            </a:avLst>
          </a:prstGeom>
          <a:solidFill>
            <a:srgbClr val="0E1E38"/>
          </a:solidFill>
          <a:ln w="12700">
            <a:solidFill>
              <a:srgbClr val="1E3A5F"/>
            </a:solidFill>
            <a:prstDash val="solid"/>
          </a:ln>
        </p:spPr>
      </p:sp>
      <p:sp>
        <p:nvSpPr>
          <p:cNvPr id="64" name="Text 62"/>
          <p:cNvSpPr/>
          <p:nvPr/>
        </p:nvSpPr>
        <p:spPr>
          <a:xfrm>
            <a:off x="201168" y="3858768"/>
            <a:ext cx="1920240" cy="45720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 STT Engine</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stt_engine.py</a:t>
            </a:r>
            <a:endParaRPr lang="en-US" sz="900" dirty="0"/>
          </a:p>
        </p:txBody>
      </p:sp>
      <p:sp>
        <p:nvSpPr>
          <p:cNvPr id="65" name="Shape 63"/>
          <p:cNvSpPr/>
          <p:nvPr/>
        </p:nvSpPr>
        <p:spPr>
          <a:xfrm>
            <a:off x="2331720" y="3840480"/>
            <a:ext cx="2011680" cy="502920"/>
          </a:xfrm>
          <a:prstGeom prst="roundRect">
            <a:avLst>
              <a:gd name="adj" fmla="val 14545"/>
            </a:avLst>
          </a:prstGeom>
          <a:solidFill>
            <a:srgbClr val="0E1E38"/>
          </a:solidFill>
          <a:ln w="12700">
            <a:solidFill>
              <a:srgbClr val="1E3A5F"/>
            </a:solidFill>
            <a:prstDash val="solid"/>
          </a:ln>
        </p:spPr>
      </p:sp>
      <p:sp>
        <p:nvSpPr>
          <p:cNvPr id="66" name="Text 64"/>
          <p:cNvSpPr/>
          <p:nvPr/>
        </p:nvSpPr>
        <p:spPr>
          <a:xfrm>
            <a:off x="2377440" y="3858768"/>
            <a:ext cx="1920240" cy="45720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 TTS Engine</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tts_engine.py</a:t>
            </a:r>
            <a:endParaRPr lang="en-US" sz="900" dirty="0"/>
          </a:p>
        </p:txBody>
      </p:sp>
      <p:sp>
        <p:nvSpPr>
          <p:cNvPr id="67" name="Shape 65"/>
          <p:cNvSpPr/>
          <p:nvPr/>
        </p:nvSpPr>
        <p:spPr>
          <a:xfrm>
            <a:off x="4498848" y="3840480"/>
            <a:ext cx="2286000" cy="502920"/>
          </a:xfrm>
          <a:prstGeom prst="roundRect">
            <a:avLst>
              <a:gd name="adj" fmla="val 14545"/>
            </a:avLst>
          </a:prstGeom>
          <a:solidFill>
            <a:srgbClr val="0E1E38"/>
          </a:solidFill>
          <a:ln w="12700">
            <a:solidFill>
              <a:srgbClr val="1E3A5F"/>
            </a:solidFill>
            <a:prstDash val="solid"/>
          </a:ln>
        </p:spPr>
      </p:sp>
      <p:sp>
        <p:nvSpPr>
          <p:cNvPr id="68" name="Text 66"/>
          <p:cNvSpPr/>
          <p:nvPr/>
        </p:nvSpPr>
        <p:spPr>
          <a:xfrm>
            <a:off x="4544568" y="3858768"/>
            <a:ext cx="2194560" cy="45720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 Follow-up Generator</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followup_generator.py</a:t>
            </a:r>
            <a:endParaRPr lang="en-US" sz="900" dirty="0"/>
          </a:p>
        </p:txBody>
      </p:sp>
      <p:sp>
        <p:nvSpPr>
          <p:cNvPr id="69" name="Shape 67"/>
          <p:cNvSpPr/>
          <p:nvPr/>
        </p:nvSpPr>
        <p:spPr>
          <a:xfrm>
            <a:off x="6931152" y="3840480"/>
            <a:ext cx="2057400" cy="502920"/>
          </a:xfrm>
          <a:prstGeom prst="roundRect">
            <a:avLst>
              <a:gd name="adj" fmla="val 14545"/>
            </a:avLst>
          </a:prstGeom>
          <a:solidFill>
            <a:srgbClr val="0E1E38"/>
          </a:solidFill>
          <a:ln w="12700">
            <a:solidFill>
              <a:srgbClr val="1E3A5F"/>
            </a:solidFill>
            <a:prstDash val="solid"/>
          </a:ln>
        </p:spPr>
      </p:sp>
      <p:sp>
        <p:nvSpPr>
          <p:cNvPr id="70" name="Text 68"/>
          <p:cNvSpPr/>
          <p:nvPr/>
        </p:nvSpPr>
        <p:spPr>
          <a:xfrm>
            <a:off x="6976872" y="3858768"/>
            <a:ext cx="1965960" cy="45720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 Sliding-window Memory</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10-turn context</a:t>
            </a:r>
            <a:endParaRPr lang="en-US" sz="900" dirty="0"/>
          </a:p>
        </p:txBody>
      </p:sp>
      <p:sp>
        <p:nvSpPr>
          <p:cNvPr id="71" name="Text 69"/>
          <p:cNvSpPr/>
          <p:nvPr/>
        </p:nvSpPr>
        <p:spPr>
          <a:xfrm>
            <a:off x="164592" y="3767328"/>
            <a:ext cx="3657600" cy="164592"/>
          </a:xfrm>
          <a:prstGeom prst="rect">
            <a:avLst/>
          </a:prstGeom>
          <a:noFill/>
          <a:ln/>
        </p:spPr>
        <p:txBody>
          <a:bodyPr wrap="square" rtlCol="0" anchor="ctr"/>
          <a:lstStyle/>
          <a:p>
            <a:pPr marL="0" indent="0">
              <a:buNone/>
            </a:pPr>
            <a:r>
              <a:rPr lang="en-US" sz="700" b="1" kern="0" spc="100" dirty="0">
                <a:solidFill>
                  <a:srgbClr val="A0B4CC"/>
                </a:solidFill>
                <a:latin typeface="Calibri" pitchFamily="34" charset="0"/>
                <a:ea typeface="Calibri" pitchFamily="34" charset="-122"/>
                <a:cs typeface="Calibri" pitchFamily="34" charset="-120"/>
              </a:rPr>
              <a:t>SUPPORTING MODULES</a:t>
            </a:r>
            <a:endParaRPr lang="en-US" sz="700" dirty="0"/>
          </a:p>
        </p:txBody>
      </p:sp>
      <p:sp>
        <p:nvSpPr>
          <p:cNvPr id="72" name="Text 70"/>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5 / 13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9FF"/>
          </a:solidFill>
          <a:ln w="12700">
            <a:solidFill>
              <a:srgbClr val="F5F9FF"/>
            </a:solidFill>
            <a:prstDash val="solid"/>
          </a:ln>
        </p:spPr>
      </p:sp>
      <p:sp>
        <p:nvSpPr>
          <p:cNvPr id="3" name="Shape 1"/>
          <p:cNvSpPr/>
          <p:nvPr/>
        </p:nvSpPr>
        <p:spPr>
          <a:xfrm>
            <a:off x="0" y="0"/>
            <a:ext cx="9144000" cy="868680"/>
          </a:xfrm>
          <a:prstGeom prst="rect">
            <a:avLst/>
          </a:prstGeom>
          <a:solidFill>
            <a:srgbClr val="0A1628"/>
          </a:solidFill>
          <a:ln w="12700">
            <a:solidFill>
              <a:srgbClr val="0A1628"/>
            </a:solidFill>
            <a:prstDash val="solid"/>
          </a:ln>
        </p:spPr>
      </p:sp>
      <p:sp>
        <p:nvSpPr>
          <p:cNvPr id="4" name="Shape 2"/>
          <p:cNvSpPr/>
          <p:nvPr/>
        </p:nvSpPr>
        <p:spPr>
          <a:xfrm>
            <a:off x="0" y="0"/>
            <a:ext cx="54864" cy="5143500"/>
          </a:xfrm>
          <a:prstGeom prst="rect">
            <a:avLst/>
          </a:prstGeom>
          <a:solidFill>
            <a:srgbClr val="00C2CB"/>
          </a:solidFill>
          <a:ln w="12700">
            <a:solidFill>
              <a:srgbClr val="00C2CB"/>
            </a:solidFill>
            <a:prstDash val="solid"/>
          </a:ln>
        </p:spPr>
      </p:sp>
      <p:sp>
        <p:nvSpPr>
          <p:cNvPr id="5" name="Text 3"/>
          <p:cNvSpPr/>
          <p:nvPr/>
        </p:nvSpPr>
        <p:spPr>
          <a:xfrm>
            <a:off x="457200" y="118872"/>
            <a:ext cx="4572000" cy="22860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RAG PIPELINE</a:t>
            </a:r>
            <a:endParaRPr lang="en-US" sz="900" dirty="0"/>
          </a:p>
        </p:txBody>
      </p:sp>
      <p:sp>
        <p:nvSpPr>
          <p:cNvPr id="6" name="Text 4"/>
          <p:cNvSpPr/>
          <p:nvPr/>
        </p:nvSpPr>
        <p:spPr>
          <a:xfrm>
            <a:off x="457200" y="393192"/>
            <a:ext cx="8229600" cy="384048"/>
          </a:xfrm>
          <a:prstGeom prst="rect">
            <a:avLst/>
          </a:prstGeom>
          <a:noFill/>
          <a:ln/>
        </p:spPr>
        <p:txBody>
          <a:bodyPr wrap="square"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Two-Stage Retrieval for Precision</a:t>
            </a:r>
            <a:endParaRPr lang="en-US" sz="2300" dirty="0"/>
          </a:p>
        </p:txBody>
      </p:sp>
      <p:sp>
        <p:nvSpPr>
          <p:cNvPr id="7" name="Shape 5"/>
          <p:cNvSpPr/>
          <p:nvPr/>
        </p:nvSpPr>
        <p:spPr>
          <a:xfrm>
            <a:off x="201168" y="1005840"/>
            <a:ext cx="1280160" cy="1371600"/>
          </a:xfrm>
          <a:prstGeom prst="roundRect">
            <a:avLst>
              <a:gd name="adj" fmla="val 8571"/>
            </a:avLst>
          </a:prstGeom>
          <a:solidFill>
            <a:srgbClr val="FFFFFF"/>
          </a:solidFill>
          <a:ln w="12700">
            <a:solidFill>
              <a:srgbClr val="C8D8F0"/>
            </a:solidFill>
            <a:prstDash val="solid"/>
          </a:ln>
        </p:spPr>
      </p:sp>
      <p:sp>
        <p:nvSpPr>
          <p:cNvPr id="8" name="Shape 6"/>
          <p:cNvSpPr/>
          <p:nvPr/>
        </p:nvSpPr>
        <p:spPr>
          <a:xfrm>
            <a:off x="201168" y="1005840"/>
            <a:ext cx="1280160" cy="502920"/>
          </a:xfrm>
          <a:prstGeom prst="roundRect">
            <a:avLst>
              <a:gd name="adj" fmla="val 21818"/>
            </a:avLst>
          </a:prstGeom>
          <a:solidFill>
            <a:srgbClr val="1A6ED8"/>
          </a:solidFill>
          <a:ln w="12700">
            <a:solidFill>
              <a:srgbClr val="1A6ED8"/>
            </a:solidFill>
            <a:prstDash val="solid"/>
          </a:ln>
        </p:spPr>
      </p:sp>
      <p:sp>
        <p:nvSpPr>
          <p:cNvPr id="9" name="Shape 7"/>
          <p:cNvSpPr/>
          <p:nvPr/>
        </p:nvSpPr>
        <p:spPr>
          <a:xfrm>
            <a:off x="201168" y="1298448"/>
            <a:ext cx="1280160" cy="228600"/>
          </a:xfrm>
          <a:prstGeom prst="rect">
            <a:avLst/>
          </a:prstGeom>
          <a:solidFill>
            <a:srgbClr val="1A6ED8"/>
          </a:solidFill>
          <a:ln w="12700">
            <a:solidFill>
              <a:srgbClr val="1A6ED8"/>
            </a:solidFill>
            <a:prstDash val="solid"/>
          </a:ln>
        </p:spPr>
      </p:sp>
      <p:sp>
        <p:nvSpPr>
          <p:cNvPr id="10" name="Text 8"/>
          <p:cNvSpPr/>
          <p:nvPr/>
        </p:nvSpPr>
        <p:spPr>
          <a:xfrm>
            <a:off x="201168" y="1024128"/>
            <a:ext cx="128016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246888" y="1536192"/>
            <a:ext cx="1188720" cy="384048"/>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User</a:t>
            </a:r>
            <a:endParaRPr lang="en-US" sz="1000" dirty="0"/>
          </a:p>
          <a:p>
            <a:pPr marL="0" indent="0" algn="ctr">
              <a:buNone/>
            </a:pPr>
            <a:r>
              <a:rPr lang="en-US" sz="1000" b="1" dirty="0">
                <a:solidFill>
                  <a:srgbClr val="0A1628"/>
                </a:solidFill>
                <a:latin typeface="Calibri" pitchFamily="34" charset="0"/>
                <a:ea typeface="Calibri" pitchFamily="34" charset="-122"/>
                <a:cs typeface="Calibri" pitchFamily="34" charset="-120"/>
              </a:rPr>
              <a:t>Query</a:t>
            </a:r>
            <a:endParaRPr lang="en-US" sz="1000" dirty="0"/>
          </a:p>
        </p:txBody>
      </p:sp>
      <p:sp>
        <p:nvSpPr>
          <p:cNvPr id="12" name="Shape 10"/>
          <p:cNvSpPr/>
          <p:nvPr/>
        </p:nvSpPr>
        <p:spPr>
          <a:xfrm>
            <a:off x="1499616" y="1618488"/>
            <a:ext cx="182880" cy="128016"/>
          </a:xfrm>
          <a:prstGeom prst="rightArrow">
            <a:avLst/>
          </a:prstGeom>
          <a:solidFill>
            <a:srgbClr val="1A6ED8"/>
          </a:solidFill>
          <a:ln w="12700">
            <a:solidFill>
              <a:srgbClr val="1A6ED8"/>
            </a:solidFill>
            <a:prstDash val="solid"/>
          </a:ln>
        </p:spPr>
      </p:sp>
      <p:sp>
        <p:nvSpPr>
          <p:cNvPr id="13" name="Shape 11"/>
          <p:cNvSpPr/>
          <p:nvPr/>
        </p:nvSpPr>
        <p:spPr>
          <a:xfrm>
            <a:off x="1682496" y="1005840"/>
            <a:ext cx="1280160" cy="1371600"/>
          </a:xfrm>
          <a:prstGeom prst="roundRect">
            <a:avLst>
              <a:gd name="adj" fmla="val 8571"/>
            </a:avLst>
          </a:prstGeom>
          <a:solidFill>
            <a:srgbClr val="FFFFFF"/>
          </a:solidFill>
          <a:ln w="12700">
            <a:solidFill>
              <a:srgbClr val="C8D8F0"/>
            </a:solidFill>
            <a:prstDash val="solid"/>
          </a:ln>
        </p:spPr>
      </p:sp>
      <p:sp>
        <p:nvSpPr>
          <p:cNvPr id="14" name="Shape 12"/>
          <p:cNvSpPr/>
          <p:nvPr/>
        </p:nvSpPr>
        <p:spPr>
          <a:xfrm>
            <a:off x="1682496" y="1005840"/>
            <a:ext cx="1280160" cy="502920"/>
          </a:xfrm>
          <a:prstGeom prst="roundRect">
            <a:avLst>
              <a:gd name="adj" fmla="val 21818"/>
            </a:avLst>
          </a:prstGeom>
          <a:solidFill>
            <a:srgbClr val="2255AA"/>
          </a:solidFill>
          <a:ln w="12700">
            <a:solidFill>
              <a:srgbClr val="2255AA"/>
            </a:solidFill>
            <a:prstDash val="solid"/>
          </a:ln>
        </p:spPr>
      </p:sp>
      <p:sp>
        <p:nvSpPr>
          <p:cNvPr id="15" name="Shape 13"/>
          <p:cNvSpPr/>
          <p:nvPr/>
        </p:nvSpPr>
        <p:spPr>
          <a:xfrm>
            <a:off x="1682496" y="1298448"/>
            <a:ext cx="1280160" cy="228600"/>
          </a:xfrm>
          <a:prstGeom prst="rect">
            <a:avLst/>
          </a:prstGeom>
          <a:solidFill>
            <a:srgbClr val="2255AA"/>
          </a:solidFill>
          <a:ln w="12700">
            <a:solidFill>
              <a:srgbClr val="2255AA"/>
            </a:solidFill>
            <a:prstDash val="solid"/>
          </a:ln>
        </p:spPr>
      </p:sp>
      <p:sp>
        <p:nvSpPr>
          <p:cNvPr id="16" name="Text 14"/>
          <p:cNvSpPr/>
          <p:nvPr/>
        </p:nvSpPr>
        <p:spPr>
          <a:xfrm>
            <a:off x="1682496" y="1024128"/>
            <a:ext cx="128016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728216" y="1536192"/>
            <a:ext cx="1188720" cy="384048"/>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Query</a:t>
            </a:r>
            <a:endParaRPr lang="en-US" sz="1000" dirty="0"/>
          </a:p>
          <a:p>
            <a:pPr marL="0" indent="0" algn="ctr">
              <a:buNone/>
            </a:pPr>
            <a:r>
              <a:rPr lang="en-US" sz="1000" b="1" dirty="0">
                <a:solidFill>
                  <a:srgbClr val="0A1628"/>
                </a:solidFill>
                <a:latin typeface="Calibri" pitchFamily="34" charset="0"/>
                <a:ea typeface="Calibri" pitchFamily="34" charset="-122"/>
                <a:cs typeface="Calibri" pitchFamily="34" charset="-120"/>
              </a:rPr>
              <a:t>Understanding</a:t>
            </a:r>
            <a:endParaRPr lang="en-US" sz="1000" dirty="0"/>
          </a:p>
        </p:txBody>
      </p:sp>
      <p:sp>
        <p:nvSpPr>
          <p:cNvPr id="18" name="Text 16"/>
          <p:cNvSpPr/>
          <p:nvPr/>
        </p:nvSpPr>
        <p:spPr>
          <a:xfrm>
            <a:off x="1728216" y="1938528"/>
            <a:ext cx="1188720" cy="402336"/>
          </a:xfrm>
          <a:prstGeom prst="rect">
            <a:avLst/>
          </a:prstGeom>
          <a:noFill/>
          <a:ln/>
        </p:spPr>
        <p:txBody>
          <a:bodyPr wrap="square"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category / doc_code</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extraction</a:t>
            </a:r>
            <a:endParaRPr lang="en-US" sz="900" dirty="0"/>
          </a:p>
        </p:txBody>
      </p:sp>
      <p:sp>
        <p:nvSpPr>
          <p:cNvPr id="19" name="Shape 17"/>
          <p:cNvSpPr/>
          <p:nvPr/>
        </p:nvSpPr>
        <p:spPr>
          <a:xfrm>
            <a:off x="2980944" y="1618488"/>
            <a:ext cx="182880" cy="128016"/>
          </a:xfrm>
          <a:prstGeom prst="rightArrow">
            <a:avLst/>
          </a:prstGeom>
          <a:solidFill>
            <a:srgbClr val="1A6ED8"/>
          </a:solidFill>
          <a:ln w="12700">
            <a:solidFill>
              <a:srgbClr val="1A6ED8"/>
            </a:solidFill>
            <a:prstDash val="solid"/>
          </a:ln>
        </p:spPr>
      </p:sp>
      <p:sp>
        <p:nvSpPr>
          <p:cNvPr id="20" name="Shape 18"/>
          <p:cNvSpPr/>
          <p:nvPr/>
        </p:nvSpPr>
        <p:spPr>
          <a:xfrm>
            <a:off x="3163824" y="1005840"/>
            <a:ext cx="1280160" cy="1371600"/>
          </a:xfrm>
          <a:prstGeom prst="roundRect">
            <a:avLst>
              <a:gd name="adj" fmla="val 8571"/>
            </a:avLst>
          </a:prstGeom>
          <a:solidFill>
            <a:srgbClr val="FFFFFF"/>
          </a:solidFill>
          <a:ln w="12700">
            <a:solidFill>
              <a:srgbClr val="C8D8F0"/>
            </a:solidFill>
            <a:prstDash val="solid"/>
          </a:ln>
        </p:spPr>
      </p:sp>
      <p:sp>
        <p:nvSpPr>
          <p:cNvPr id="21" name="Shape 19"/>
          <p:cNvSpPr/>
          <p:nvPr/>
        </p:nvSpPr>
        <p:spPr>
          <a:xfrm>
            <a:off x="3163824" y="1005840"/>
            <a:ext cx="1280160" cy="502920"/>
          </a:xfrm>
          <a:prstGeom prst="roundRect">
            <a:avLst>
              <a:gd name="adj" fmla="val 21818"/>
            </a:avLst>
          </a:prstGeom>
          <a:solidFill>
            <a:srgbClr val="1A6ED8"/>
          </a:solidFill>
          <a:ln w="12700">
            <a:solidFill>
              <a:srgbClr val="1A6ED8"/>
            </a:solidFill>
            <a:prstDash val="solid"/>
          </a:ln>
        </p:spPr>
      </p:sp>
      <p:sp>
        <p:nvSpPr>
          <p:cNvPr id="22" name="Shape 20"/>
          <p:cNvSpPr/>
          <p:nvPr/>
        </p:nvSpPr>
        <p:spPr>
          <a:xfrm>
            <a:off x="3163824" y="1298448"/>
            <a:ext cx="1280160" cy="228600"/>
          </a:xfrm>
          <a:prstGeom prst="rect">
            <a:avLst/>
          </a:prstGeom>
          <a:solidFill>
            <a:srgbClr val="1A6ED8"/>
          </a:solidFill>
          <a:ln w="12700">
            <a:solidFill>
              <a:srgbClr val="1A6ED8"/>
            </a:solidFill>
            <a:prstDash val="solid"/>
          </a:ln>
        </p:spPr>
      </p:sp>
      <p:sp>
        <p:nvSpPr>
          <p:cNvPr id="23" name="Text 21"/>
          <p:cNvSpPr/>
          <p:nvPr/>
        </p:nvSpPr>
        <p:spPr>
          <a:xfrm>
            <a:off x="3163824" y="1024128"/>
            <a:ext cx="128016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3209544" y="1536192"/>
            <a:ext cx="1188720" cy="384048"/>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Stage 1</a:t>
            </a:r>
            <a:endParaRPr lang="en-US" sz="1000" dirty="0"/>
          </a:p>
          <a:p>
            <a:pPr marL="0" indent="0" algn="ctr">
              <a:buNone/>
            </a:pPr>
            <a:r>
              <a:rPr lang="en-US" sz="1000" b="1" dirty="0">
                <a:solidFill>
                  <a:srgbClr val="0A1628"/>
                </a:solidFill>
                <a:latin typeface="Calibri" pitchFamily="34" charset="0"/>
                <a:ea typeface="Calibri" pitchFamily="34" charset="-122"/>
                <a:cs typeface="Calibri" pitchFamily="34" charset="-120"/>
              </a:rPr>
              <a:t>Dense Retrieval</a:t>
            </a:r>
            <a:endParaRPr lang="en-US" sz="1000" dirty="0"/>
          </a:p>
        </p:txBody>
      </p:sp>
      <p:sp>
        <p:nvSpPr>
          <p:cNvPr id="25" name="Text 23"/>
          <p:cNvSpPr/>
          <p:nvPr/>
        </p:nvSpPr>
        <p:spPr>
          <a:xfrm>
            <a:off x="3209544" y="1938528"/>
            <a:ext cx="1188720" cy="402336"/>
          </a:xfrm>
          <a:prstGeom prst="rect">
            <a:avLst/>
          </a:prstGeom>
          <a:noFill/>
          <a:ln/>
        </p:spPr>
        <p:txBody>
          <a:bodyPr wrap="square"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Pinecone</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fetch_k = 15</a:t>
            </a:r>
            <a:endParaRPr lang="en-US" sz="900" dirty="0"/>
          </a:p>
        </p:txBody>
      </p:sp>
      <p:sp>
        <p:nvSpPr>
          <p:cNvPr id="26" name="Shape 24"/>
          <p:cNvSpPr/>
          <p:nvPr/>
        </p:nvSpPr>
        <p:spPr>
          <a:xfrm>
            <a:off x="4462272" y="1618488"/>
            <a:ext cx="182880" cy="128016"/>
          </a:xfrm>
          <a:prstGeom prst="rightArrow">
            <a:avLst/>
          </a:prstGeom>
          <a:solidFill>
            <a:srgbClr val="1A6ED8"/>
          </a:solidFill>
          <a:ln w="12700">
            <a:solidFill>
              <a:srgbClr val="1A6ED8"/>
            </a:solidFill>
            <a:prstDash val="solid"/>
          </a:ln>
        </p:spPr>
      </p:sp>
      <p:sp>
        <p:nvSpPr>
          <p:cNvPr id="27" name="Shape 25"/>
          <p:cNvSpPr/>
          <p:nvPr/>
        </p:nvSpPr>
        <p:spPr>
          <a:xfrm>
            <a:off x="4645152" y="1005840"/>
            <a:ext cx="1280160" cy="1371600"/>
          </a:xfrm>
          <a:prstGeom prst="roundRect">
            <a:avLst>
              <a:gd name="adj" fmla="val 8571"/>
            </a:avLst>
          </a:prstGeom>
          <a:solidFill>
            <a:srgbClr val="FFFFFF"/>
          </a:solidFill>
          <a:ln w="12700">
            <a:solidFill>
              <a:srgbClr val="C8D8F0"/>
            </a:solidFill>
            <a:prstDash val="solid"/>
          </a:ln>
        </p:spPr>
      </p:sp>
      <p:sp>
        <p:nvSpPr>
          <p:cNvPr id="28" name="Shape 26"/>
          <p:cNvSpPr/>
          <p:nvPr/>
        </p:nvSpPr>
        <p:spPr>
          <a:xfrm>
            <a:off x="4645152" y="1005840"/>
            <a:ext cx="1280160" cy="502920"/>
          </a:xfrm>
          <a:prstGeom prst="roundRect">
            <a:avLst>
              <a:gd name="adj" fmla="val 21818"/>
            </a:avLst>
          </a:prstGeom>
          <a:solidFill>
            <a:srgbClr val="7B3FBE"/>
          </a:solidFill>
          <a:ln w="12700">
            <a:solidFill>
              <a:srgbClr val="7B3FBE"/>
            </a:solidFill>
            <a:prstDash val="solid"/>
          </a:ln>
        </p:spPr>
      </p:sp>
      <p:sp>
        <p:nvSpPr>
          <p:cNvPr id="29" name="Shape 27"/>
          <p:cNvSpPr/>
          <p:nvPr/>
        </p:nvSpPr>
        <p:spPr>
          <a:xfrm>
            <a:off x="4645152" y="1298448"/>
            <a:ext cx="1280160" cy="228600"/>
          </a:xfrm>
          <a:prstGeom prst="rect">
            <a:avLst/>
          </a:prstGeom>
          <a:solidFill>
            <a:srgbClr val="7B3FBE"/>
          </a:solidFill>
          <a:ln w="12700">
            <a:solidFill>
              <a:srgbClr val="7B3FBE"/>
            </a:solidFill>
            <a:prstDash val="solid"/>
          </a:ln>
        </p:spPr>
      </p:sp>
      <p:sp>
        <p:nvSpPr>
          <p:cNvPr id="30" name="Text 28"/>
          <p:cNvSpPr/>
          <p:nvPr/>
        </p:nvSpPr>
        <p:spPr>
          <a:xfrm>
            <a:off x="4645152" y="1024128"/>
            <a:ext cx="128016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4690872" y="1536192"/>
            <a:ext cx="1188720" cy="384048"/>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Stage 2</a:t>
            </a:r>
            <a:endParaRPr lang="en-US" sz="1000" dirty="0"/>
          </a:p>
          <a:p>
            <a:pPr marL="0" indent="0" algn="ctr">
              <a:buNone/>
            </a:pPr>
            <a:r>
              <a:rPr lang="en-US" sz="1000" b="1" dirty="0">
                <a:solidFill>
                  <a:srgbClr val="0A1628"/>
                </a:solidFill>
                <a:latin typeface="Calibri" pitchFamily="34" charset="0"/>
                <a:ea typeface="Calibri" pitchFamily="34" charset="-122"/>
                <a:cs typeface="Calibri" pitchFamily="34" charset="-120"/>
              </a:rPr>
              <a:t>Neural Rerank</a:t>
            </a:r>
            <a:endParaRPr lang="en-US" sz="1000" dirty="0"/>
          </a:p>
        </p:txBody>
      </p:sp>
      <p:sp>
        <p:nvSpPr>
          <p:cNvPr id="32" name="Text 30"/>
          <p:cNvSpPr/>
          <p:nvPr/>
        </p:nvSpPr>
        <p:spPr>
          <a:xfrm>
            <a:off x="4690872" y="1938528"/>
            <a:ext cx="1188720" cy="402336"/>
          </a:xfrm>
          <a:prstGeom prst="rect">
            <a:avLst/>
          </a:prstGeom>
          <a:noFill/>
          <a:ln/>
        </p:spPr>
        <p:txBody>
          <a:bodyPr wrap="square"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bge-reranker</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-v2-m3</a:t>
            </a:r>
            <a:endParaRPr lang="en-US" sz="900" dirty="0"/>
          </a:p>
        </p:txBody>
      </p:sp>
      <p:sp>
        <p:nvSpPr>
          <p:cNvPr id="33" name="Shape 31"/>
          <p:cNvSpPr/>
          <p:nvPr/>
        </p:nvSpPr>
        <p:spPr>
          <a:xfrm>
            <a:off x="5943600" y="1618488"/>
            <a:ext cx="182880" cy="128016"/>
          </a:xfrm>
          <a:prstGeom prst="rightArrow">
            <a:avLst/>
          </a:prstGeom>
          <a:solidFill>
            <a:srgbClr val="1A6ED8"/>
          </a:solidFill>
          <a:ln w="12700">
            <a:solidFill>
              <a:srgbClr val="1A6ED8"/>
            </a:solidFill>
            <a:prstDash val="solid"/>
          </a:ln>
        </p:spPr>
      </p:sp>
      <p:sp>
        <p:nvSpPr>
          <p:cNvPr id="34" name="Shape 32"/>
          <p:cNvSpPr/>
          <p:nvPr/>
        </p:nvSpPr>
        <p:spPr>
          <a:xfrm>
            <a:off x="6126480" y="1005840"/>
            <a:ext cx="1280160" cy="1371600"/>
          </a:xfrm>
          <a:prstGeom prst="roundRect">
            <a:avLst>
              <a:gd name="adj" fmla="val 8571"/>
            </a:avLst>
          </a:prstGeom>
          <a:solidFill>
            <a:srgbClr val="FFFFFF"/>
          </a:solidFill>
          <a:ln w="12700">
            <a:solidFill>
              <a:srgbClr val="C8D8F0"/>
            </a:solidFill>
            <a:prstDash val="solid"/>
          </a:ln>
        </p:spPr>
      </p:sp>
      <p:sp>
        <p:nvSpPr>
          <p:cNvPr id="35" name="Shape 33"/>
          <p:cNvSpPr/>
          <p:nvPr/>
        </p:nvSpPr>
        <p:spPr>
          <a:xfrm>
            <a:off x="6126480" y="1005840"/>
            <a:ext cx="1280160" cy="502920"/>
          </a:xfrm>
          <a:prstGeom prst="roundRect">
            <a:avLst>
              <a:gd name="adj" fmla="val 21818"/>
            </a:avLst>
          </a:prstGeom>
          <a:solidFill>
            <a:srgbClr val="007A65"/>
          </a:solidFill>
          <a:ln w="12700">
            <a:solidFill>
              <a:srgbClr val="007A65"/>
            </a:solidFill>
            <a:prstDash val="solid"/>
          </a:ln>
        </p:spPr>
      </p:sp>
      <p:sp>
        <p:nvSpPr>
          <p:cNvPr id="36" name="Shape 34"/>
          <p:cNvSpPr/>
          <p:nvPr/>
        </p:nvSpPr>
        <p:spPr>
          <a:xfrm>
            <a:off x="6126480" y="1298448"/>
            <a:ext cx="1280160" cy="228600"/>
          </a:xfrm>
          <a:prstGeom prst="rect">
            <a:avLst/>
          </a:prstGeom>
          <a:solidFill>
            <a:srgbClr val="007A65"/>
          </a:solidFill>
          <a:ln w="12700">
            <a:solidFill>
              <a:srgbClr val="007A65"/>
            </a:solidFill>
            <a:prstDash val="solid"/>
          </a:ln>
        </p:spPr>
      </p:sp>
      <p:sp>
        <p:nvSpPr>
          <p:cNvPr id="37" name="Text 35"/>
          <p:cNvSpPr/>
          <p:nvPr/>
        </p:nvSpPr>
        <p:spPr>
          <a:xfrm>
            <a:off x="6126480" y="1024128"/>
            <a:ext cx="128016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6"/>
          <p:cNvSpPr/>
          <p:nvPr/>
        </p:nvSpPr>
        <p:spPr>
          <a:xfrm>
            <a:off x="6172200" y="1536192"/>
            <a:ext cx="1188720" cy="384048"/>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Top 5</a:t>
            </a:r>
            <a:endParaRPr lang="en-US" sz="1000" dirty="0"/>
          </a:p>
          <a:p>
            <a:pPr marL="0" indent="0" algn="ctr">
              <a:buNone/>
            </a:pPr>
            <a:r>
              <a:rPr lang="en-US" sz="1000" b="1" dirty="0">
                <a:solidFill>
                  <a:srgbClr val="0A1628"/>
                </a:solidFill>
                <a:latin typeface="Calibri" pitchFamily="34" charset="0"/>
                <a:ea typeface="Calibri" pitchFamily="34" charset="-122"/>
                <a:cs typeface="Calibri" pitchFamily="34" charset="-120"/>
              </a:rPr>
              <a:t>Chunks</a:t>
            </a:r>
            <a:endParaRPr lang="en-US" sz="1000" dirty="0"/>
          </a:p>
        </p:txBody>
      </p:sp>
      <p:sp>
        <p:nvSpPr>
          <p:cNvPr id="39" name="Text 37"/>
          <p:cNvSpPr/>
          <p:nvPr/>
        </p:nvSpPr>
        <p:spPr>
          <a:xfrm>
            <a:off x="6172200" y="1938528"/>
            <a:ext cx="1188720" cy="402336"/>
          </a:xfrm>
          <a:prstGeom prst="rect">
            <a:avLst/>
          </a:prstGeom>
          <a:noFill/>
          <a:ln/>
        </p:spPr>
        <p:txBody>
          <a:bodyPr wrap="square"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Highest relevance</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score</a:t>
            </a:r>
            <a:endParaRPr lang="en-US" sz="900" dirty="0"/>
          </a:p>
        </p:txBody>
      </p:sp>
      <p:sp>
        <p:nvSpPr>
          <p:cNvPr id="40" name="Shape 38"/>
          <p:cNvSpPr/>
          <p:nvPr/>
        </p:nvSpPr>
        <p:spPr>
          <a:xfrm>
            <a:off x="7424928" y="1618488"/>
            <a:ext cx="182880" cy="128016"/>
          </a:xfrm>
          <a:prstGeom prst="rightArrow">
            <a:avLst/>
          </a:prstGeom>
          <a:solidFill>
            <a:srgbClr val="1A6ED8"/>
          </a:solidFill>
          <a:ln w="12700">
            <a:solidFill>
              <a:srgbClr val="1A6ED8"/>
            </a:solidFill>
            <a:prstDash val="solid"/>
          </a:ln>
        </p:spPr>
      </p:sp>
      <p:sp>
        <p:nvSpPr>
          <p:cNvPr id="41" name="Shape 39"/>
          <p:cNvSpPr/>
          <p:nvPr/>
        </p:nvSpPr>
        <p:spPr>
          <a:xfrm>
            <a:off x="7607808" y="1005840"/>
            <a:ext cx="1280160" cy="1371600"/>
          </a:xfrm>
          <a:prstGeom prst="roundRect">
            <a:avLst>
              <a:gd name="adj" fmla="val 8571"/>
            </a:avLst>
          </a:prstGeom>
          <a:solidFill>
            <a:srgbClr val="FFFFFF"/>
          </a:solidFill>
          <a:ln w="12700">
            <a:solidFill>
              <a:srgbClr val="C8D8F0"/>
            </a:solidFill>
            <a:prstDash val="solid"/>
          </a:ln>
        </p:spPr>
      </p:sp>
      <p:sp>
        <p:nvSpPr>
          <p:cNvPr id="42" name="Shape 40"/>
          <p:cNvSpPr/>
          <p:nvPr/>
        </p:nvSpPr>
        <p:spPr>
          <a:xfrm>
            <a:off x="7607808" y="1005840"/>
            <a:ext cx="1280160" cy="502920"/>
          </a:xfrm>
          <a:prstGeom prst="roundRect">
            <a:avLst>
              <a:gd name="adj" fmla="val 21818"/>
            </a:avLst>
          </a:prstGeom>
          <a:solidFill>
            <a:srgbClr val="005A4A"/>
          </a:solidFill>
          <a:ln w="12700">
            <a:solidFill>
              <a:srgbClr val="005A4A"/>
            </a:solidFill>
            <a:prstDash val="solid"/>
          </a:ln>
        </p:spPr>
      </p:sp>
      <p:sp>
        <p:nvSpPr>
          <p:cNvPr id="43" name="Shape 41"/>
          <p:cNvSpPr/>
          <p:nvPr/>
        </p:nvSpPr>
        <p:spPr>
          <a:xfrm>
            <a:off x="7607808" y="1298448"/>
            <a:ext cx="1280160" cy="228600"/>
          </a:xfrm>
          <a:prstGeom prst="rect">
            <a:avLst/>
          </a:prstGeom>
          <a:solidFill>
            <a:srgbClr val="005A4A"/>
          </a:solidFill>
          <a:ln w="12700">
            <a:solidFill>
              <a:srgbClr val="005A4A"/>
            </a:solidFill>
            <a:prstDash val="solid"/>
          </a:ln>
        </p:spPr>
      </p:sp>
      <p:sp>
        <p:nvSpPr>
          <p:cNvPr id="44" name="Text 42"/>
          <p:cNvSpPr/>
          <p:nvPr/>
        </p:nvSpPr>
        <p:spPr>
          <a:xfrm>
            <a:off x="7607808" y="1024128"/>
            <a:ext cx="1280160" cy="457200"/>
          </a:xfrm>
          <a:prstGeom prst="rect">
            <a:avLst/>
          </a:prstGeom>
          <a:noFill/>
          <a:ln/>
        </p:spPr>
        <p:txBody>
          <a:bodyPr wrap="square"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5" name="Text 43"/>
          <p:cNvSpPr/>
          <p:nvPr/>
        </p:nvSpPr>
        <p:spPr>
          <a:xfrm>
            <a:off x="7653528" y="1536192"/>
            <a:ext cx="1188720" cy="384048"/>
          </a:xfrm>
          <a:prstGeom prst="rect">
            <a:avLst/>
          </a:prstGeom>
          <a:noFill/>
          <a:ln/>
        </p:spPr>
        <p:txBody>
          <a:bodyPr wrap="square"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LLM Answer</a:t>
            </a:r>
            <a:endParaRPr lang="en-US" sz="1000" dirty="0"/>
          </a:p>
          <a:p>
            <a:pPr marL="0" indent="0" algn="ctr">
              <a:buNone/>
            </a:pPr>
            <a:r>
              <a:rPr lang="en-US" sz="1000" b="1" dirty="0">
                <a:solidFill>
                  <a:srgbClr val="0A1628"/>
                </a:solidFill>
                <a:latin typeface="Calibri" pitchFamily="34" charset="0"/>
                <a:ea typeface="Calibri" pitchFamily="34" charset="-122"/>
                <a:cs typeface="Calibri" pitchFamily="34" charset="-120"/>
              </a:rPr>
              <a:t>+ Citations</a:t>
            </a:r>
            <a:endParaRPr lang="en-US" sz="1000" dirty="0"/>
          </a:p>
        </p:txBody>
      </p:sp>
      <p:sp>
        <p:nvSpPr>
          <p:cNvPr id="46" name="Text 44"/>
          <p:cNvSpPr/>
          <p:nvPr/>
        </p:nvSpPr>
        <p:spPr>
          <a:xfrm>
            <a:off x="7653528" y="1938528"/>
            <a:ext cx="1188720" cy="402336"/>
          </a:xfrm>
          <a:prstGeom prst="rect">
            <a:avLst/>
          </a:prstGeom>
          <a:noFill/>
          <a:ln/>
        </p:spPr>
        <p:txBody>
          <a:bodyPr wrap="square" rtlCol="0" anchor="ctr"/>
          <a:lstStyle/>
          <a:p>
            <a:pPr marL="0" indent="0" algn="ctr">
              <a:buNone/>
            </a:pPr>
            <a:r>
              <a:rPr lang="en-US" sz="900" dirty="0">
                <a:solidFill>
                  <a:srgbClr val="4A6080"/>
                </a:solidFill>
                <a:latin typeface="Calibri" pitchFamily="34" charset="0"/>
                <a:ea typeface="Calibri" pitchFamily="34" charset="-122"/>
                <a:cs typeface="Calibri" pitchFamily="34" charset="-120"/>
              </a:rPr>
              <a:t>Source file</a:t>
            </a:r>
            <a:endParaRPr lang="en-US" sz="900" dirty="0"/>
          </a:p>
          <a:p>
            <a:pPr marL="0" indent="0" algn="ctr">
              <a:buNone/>
            </a:pPr>
            <a:r>
              <a:rPr lang="en-US" sz="900" dirty="0">
                <a:solidFill>
                  <a:srgbClr val="4A6080"/>
                </a:solidFill>
                <a:latin typeface="Calibri" pitchFamily="34" charset="0"/>
                <a:ea typeface="Calibri" pitchFamily="34" charset="-122"/>
                <a:cs typeface="Calibri" pitchFamily="34" charset="-120"/>
              </a:rPr>
              <a:t>+ page number</a:t>
            </a:r>
            <a:endParaRPr lang="en-US" sz="900" dirty="0"/>
          </a:p>
        </p:txBody>
      </p:sp>
      <p:sp>
        <p:nvSpPr>
          <p:cNvPr id="47" name="Shape 45"/>
          <p:cNvSpPr/>
          <p:nvPr/>
        </p:nvSpPr>
        <p:spPr>
          <a:xfrm>
            <a:off x="548640" y="2578608"/>
            <a:ext cx="2011680" cy="804672"/>
          </a:xfrm>
          <a:prstGeom prst="roundRect">
            <a:avLst>
              <a:gd name="adj" fmla="val 11364"/>
            </a:avLst>
          </a:prstGeom>
          <a:solidFill>
            <a:srgbClr val="0A1628"/>
          </a:solidFill>
          <a:ln w="12700">
            <a:solidFill>
              <a:srgbClr val="00C2CB"/>
            </a:solidFill>
            <a:prstDash val="solid"/>
          </a:ln>
        </p:spPr>
      </p:sp>
      <p:sp>
        <p:nvSpPr>
          <p:cNvPr id="48" name="Text 46"/>
          <p:cNvSpPr/>
          <p:nvPr/>
        </p:nvSpPr>
        <p:spPr>
          <a:xfrm>
            <a:off x="548640" y="2615184"/>
            <a:ext cx="2011680" cy="438912"/>
          </a:xfrm>
          <a:prstGeom prst="rect">
            <a:avLst/>
          </a:prstGeom>
          <a:noFill/>
          <a:ln/>
        </p:spPr>
        <p:txBody>
          <a:bodyPr wrap="square" rtlCol="0" anchor="ctr"/>
          <a:lstStyle/>
          <a:p>
            <a:pPr marL="0" indent="0" algn="ctr">
              <a:buNone/>
            </a:pPr>
            <a:r>
              <a:rPr lang="en-US" sz="3600" b="1" dirty="0">
                <a:solidFill>
                  <a:srgbClr val="00C2CB"/>
                </a:solidFill>
                <a:latin typeface="Cambria" pitchFamily="34" charset="0"/>
                <a:ea typeface="Cambria" pitchFamily="34" charset="-122"/>
                <a:cs typeface="Cambria" pitchFamily="34" charset="-120"/>
              </a:rPr>
              <a:t>15</a:t>
            </a:r>
            <a:endParaRPr lang="en-US" sz="3600" dirty="0"/>
          </a:p>
        </p:txBody>
      </p:sp>
      <p:sp>
        <p:nvSpPr>
          <p:cNvPr id="49" name="Text 47"/>
          <p:cNvSpPr/>
          <p:nvPr/>
        </p:nvSpPr>
        <p:spPr>
          <a:xfrm>
            <a:off x="640080" y="3063240"/>
            <a:ext cx="1828800" cy="27432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Candidate pool</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(fetch_k)</a:t>
            </a:r>
            <a:endParaRPr lang="en-US" sz="900" dirty="0"/>
          </a:p>
        </p:txBody>
      </p:sp>
      <p:sp>
        <p:nvSpPr>
          <p:cNvPr id="50" name="Shape 48"/>
          <p:cNvSpPr/>
          <p:nvPr/>
        </p:nvSpPr>
        <p:spPr>
          <a:xfrm>
            <a:off x="3291840" y="2578608"/>
            <a:ext cx="2011680" cy="804672"/>
          </a:xfrm>
          <a:prstGeom prst="roundRect">
            <a:avLst>
              <a:gd name="adj" fmla="val 11364"/>
            </a:avLst>
          </a:prstGeom>
          <a:solidFill>
            <a:srgbClr val="0A1628"/>
          </a:solidFill>
          <a:ln w="12700">
            <a:solidFill>
              <a:srgbClr val="00C2CB"/>
            </a:solidFill>
            <a:prstDash val="solid"/>
          </a:ln>
        </p:spPr>
      </p:sp>
      <p:sp>
        <p:nvSpPr>
          <p:cNvPr id="51" name="Text 49"/>
          <p:cNvSpPr/>
          <p:nvPr/>
        </p:nvSpPr>
        <p:spPr>
          <a:xfrm>
            <a:off x="3291840" y="2615184"/>
            <a:ext cx="2011680" cy="438912"/>
          </a:xfrm>
          <a:prstGeom prst="rect">
            <a:avLst/>
          </a:prstGeom>
          <a:noFill/>
          <a:ln/>
        </p:spPr>
        <p:txBody>
          <a:bodyPr wrap="square" rtlCol="0" anchor="ctr"/>
          <a:lstStyle/>
          <a:p>
            <a:pPr marL="0" indent="0" algn="ctr">
              <a:buNone/>
            </a:pPr>
            <a:r>
              <a:rPr lang="en-US" sz="3600" b="1" dirty="0">
                <a:solidFill>
                  <a:srgbClr val="00C2CB"/>
                </a:solidFill>
                <a:latin typeface="Cambria" pitchFamily="34" charset="0"/>
                <a:ea typeface="Cambria" pitchFamily="34" charset="-122"/>
                <a:cs typeface="Cambria" pitchFamily="34" charset="-120"/>
              </a:rPr>
              <a:t>5</a:t>
            </a:r>
            <a:endParaRPr lang="en-US" sz="3600" dirty="0"/>
          </a:p>
        </p:txBody>
      </p:sp>
      <p:sp>
        <p:nvSpPr>
          <p:cNvPr id="52" name="Text 50"/>
          <p:cNvSpPr/>
          <p:nvPr/>
        </p:nvSpPr>
        <p:spPr>
          <a:xfrm>
            <a:off x="3383280" y="3063240"/>
            <a:ext cx="1828800" cy="27432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Final chunks</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(Top-K)</a:t>
            </a:r>
            <a:endParaRPr lang="en-US" sz="900" dirty="0"/>
          </a:p>
        </p:txBody>
      </p:sp>
      <p:sp>
        <p:nvSpPr>
          <p:cNvPr id="53" name="Shape 51"/>
          <p:cNvSpPr/>
          <p:nvPr/>
        </p:nvSpPr>
        <p:spPr>
          <a:xfrm>
            <a:off x="6035040" y="2578608"/>
            <a:ext cx="2011680" cy="804672"/>
          </a:xfrm>
          <a:prstGeom prst="roundRect">
            <a:avLst>
              <a:gd name="adj" fmla="val 11364"/>
            </a:avLst>
          </a:prstGeom>
          <a:solidFill>
            <a:srgbClr val="0A1628"/>
          </a:solidFill>
          <a:ln w="12700">
            <a:solidFill>
              <a:srgbClr val="00C2CB"/>
            </a:solidFill>
            <a:prstDash val="solid"/>
          </a:ln>
        </p:spPr>
      </p:sp>
      <p:sp>
        <p:nvSpPr>
          <p:cNvPr id="54" name="Text 52"/>
          <p:cNvSpPr/>
          <p:nvPr/>
        </p:nvSpPr>
        <p:spPr>
          <a:xfrm>
            <a:off x="6035040" y="2615184"/>
            <a:ext cx="2011680" cy="438912"/>
          </a:xfrm>
          <a:prstGeom prst="rect">
            <a:avLst/>
          </a:prstGeom>
          <a:noFill/>
          <a:ln/>
        </p:spPr>
        <p:txBody>
          <a:bodyPr wrap="square" rtlCol="0" anchor="ctr"/>
          <a:lstStyle/>
          <a:p>
            <a:pPr marL="0" indent="0" algn="ctr">
              <a:buNone/>
            </a:pPr>
            <a:r>
              <a:rPr lang="en-US" sz="3600" b="1" dirty="0">
                <a:solidFill>
                  <a:srgbClr val="00C2CB"/>
                </a:solidFill>
                <a:latin typeface="Cambria" pitchFamily="34" charset="0"/>
                <a:ea typeface="Cambria" pitchFamily="34" charset="-122"/>
                <a:cs typeface="Cambria" pitchFamily="34" charset="-120"/>
              </a:rPr>
              <a:t>2</a:t>
            </a:r>
            <a:endParaRPr lang="en-US" sz="3600" dirty="0"/>
          </a:p>
        </p:txBody>
      </p:sp>
      <p:sp>
        <p:nvSpPr>
          <p:cNvPr id="55" name="Text 53"/>
          <p:cNvSpPr/>
          <p:nvPr/>
        </p:nvSpPr>
        <p:spPr>
          <a:xfrm>
            <a:off x="6126480" y="3063240"/>
            <a:ext cx="1828800" cy="274320"/>
          </a:xfrm>
          <a:prstGeom prst="rect">
            <a:avLst/>
          </a:prstGeom>
          <a:noFill/>
          <a:ln/>
        </p:spPr>
        <p:txBody>
          <a:bodyPr wrap="square" rtlCol="0" anchor="ctr"/>
          <a:lstStyle/>
          <a:p>
            <a:pPr marL="0" indent="0" algn="ctr">
              <a:buNone/>
            </a:pPr>
            <a:r>
              <a:rPr lang="en-US" sz="900" dirty="0">
                <a:solidFill>
                  <a:srgbClr val="A0B4CC"/>
                </a:solidFill>
                <a:latin typeface="Calibri" pitchFamily="34" charset="0"/>
                <a:ea typeface="Calibri" pitchFamily="34" charset="-122"/>
                <a:cs typeface="Calibri" pitchFamily="34" charset="-120"/>
              </a:rPr>
              <a:t>Retrieval</a:t>
            </a:r>
            <a:endParaRPr lang="en-US" sz="900" dirty="0"/>
          </a:p>
          <a:p>
            <a:pPr marL="0" indent="0" algn="ctr">
              <a:buNone/>
            </a:pPr>
            <a:r>
              <a:rPr lang="en-US" sz="900" dirty="0">
                <a:solidFill>
                  <a:srgbClr val="A0B4CC"/>
                </a:solidFill>
                <a:latin typeface="Calibri" pitchFamily="34" charset="0"/>
                <a:ea typeface="Calibri" pitchFamily="34" charset="-122"/>
                <a:cs typeface="Calibri" pitchFamily="34" charset="-120"/>
              </a:rPr>
              <a:t>stages</a:t>
            </a:r>
            <a:endParaRPr lang="en-US" sz="900" dirty="0"/>
          </a:p>
        </p:txBody>
      </p:sp>
      <p:sp>
        <p:nvSpPr>
          <p:cNvPr id="56" name="Shape 54"/>
          <p:cNvSpPr/>
          <p:nvPr/>
        </p:nvSpPr>
        <p:spPr>
          <a:xfrm>
            <a:off x="457200" y="3520440"/>
            <a:ext cx="8229600" cy="1078992"/>
          </a:xfrm>
          <a:prstGeom prst="roundRect">
            <a:avLst>
              <a:gd name="adj" fmla="val 8475"/>
            </a:avLst>
          </a:prstGeom>
          <a:solidFill>
            <a:srgbClr val="FFFFFF"/>
          </a:solidFill>
          <a:ln w="12700">
            <a:solidFill>
              <a:srgbClr val="D0DCF0"/>
            </a:solidFill>
            <a:prstDash val="solid"/>
          </a:ln>
        </p:spPr>
      </p:sp>
      <p:sp>
        <p:nvSpPr>
          <p:cNvPr id="57" name="Text 55"/>
          <p:cNvSpPr/>
          <p:nvPr/>
        </p:nvSpPr>
        <p:spPr>
          <a:xfrm>
            <a:off x="640080" y="3584448"/>
            <a:ext cx="3657600" cy="256032"/>
          </a:xfrm>
          <a:prstGeom prst="rect">
            <a:avLst/>
          </a:prstGeom>
          <a:noFill/>
          <a:ln/>
        </p:spPr>
        <p:txBody>
          <a:bodyPr wrap="square" rtlCol="0" anchor="ctr"/>
          <a:lstStyle/>
          <a:p>
            <a:pPr marL="0" indent="0">
              <a:buNone/>
            </a:pPr>
            <a:r>
              <a:rPr lang="en-US" sz="1300" b="1" dirty="0">
                <a:solidFill>
                  <a:srgbClr val="0A1628"/>
                </a:solidFill>
                <a:latin typeface="Cambria" pitchFamily="34" charset="0"/>
                <a:ea typeface="Cambria" pitchFamily="34" charset="-122"/>
                <a:cs typeface="Cambria" pitchFamily="34" charset="-120"/>
              </a:rPr>
              <a:t>Why Two-Stage Retrieval?</a:t>
            </a:r>
            <a:endParaRPr lang="en-US" sz="1300" dirty="0"/>
          </a:p>
        </p:txBody>
      </p:sp>
      <p:sp>
        <p:nvSpPr>
          <p:cNvPr id="58" name="Text 56"/>
          <p:cNvSpPr/>
          <p:nvPr/>
        </p:nvSpPr>
        <p:spPr>
          <a:xfrm>
            <a:off x="640080" y="3886200"/>
            <a:ext cx="274320" cy="201168"/>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p>
        </p:txBody>
      </p:sp>
      <p:sp>
        <p:nvSpPr>
          <p:cNvPr id="59" name="Text 57"/>
          <p:cNvSpPr/>
          <p:nvPr/>
        </p:nvSpPr>
        <p:spPr>
          <a:xfrm>
            <a:off x="960120" y="3886200"/>
            <a:ext cx="7498080" cy="201168"/>
          </a:xfrm>
          <a:prstGeom prst="rect">
            <a:avLst/>
          </a:prstGeom>
          <a:noFill/>
          <a:ln/>
        </p:spPr>
        <p:txBody>
          <a:bodyPr wrap="square" rtlCol="0" anchor="ctr"/>
          <a:lstStyle/>
          <a:p>
            <a:pPr marL="0" indent="0">
              <a:buNone/>
            </a:pPr>
            <a:r>
              <a:rPr lang="en-US" sz="1100" dirty="0">
                <a:solidFill>
                  <a:srgbClr val="3A4A5A"/>
                </a:solidFill>
                <a:latin typeface="Calibri" pitchFamily="34" charset="0"/>
                <a:ea typeface="Calibri" pitchFamily="34" charset="-122"/>
                <a:cs typeface="Calibri" pitchFamily="34" charset="-120"/>
              </a:rPr>
              <a:t>Dense retrieval casts a wide net (15 candidates) to maximize recall.</a:t>
            </a:r>
            <a:endParaRPr lang="en-US" sz="1100" dirty="0"/>
          </a:p>
        </p:txBody>
      </p:sp>
      <p:sp>
        <p:nvSpPr>
          <p:cNvPr id="60" name="Text 58"/>
          <p:cNvSpPr/>
          <p:nvPr/>
        </p:nvSpPr>
        <p:spPr>
          <a:xfrm>
            <a:off x="640080" y="4105656"/>
            <a:ext cx="274320" cy="201168"/>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p>
        </p:txBody>
      </p:sp>
      <p:sp>
        <p:nvSpPr>
          <p:cNvPr id="61" name="Text 59"/>
          <p:cNvSpPr/>
          <p:nvPr/>
        </p:nvSpPr>
        <p:spPr>
          <a:xfrm>
            <a:off x="960120" y="4105656"/>
            <a:ext cx="7498080" cy="201168"/>
          </a:xfrm>
          <a:prstGeom prst="rect">
            <a:avLst/>
          </a:prstGeom>
          <a:noFill/>
          <a:ln/>
        </p:spPr>
        <p:txBody>
          <a:bodyPr wrap="square" rtlCol="0" anchor="ctr"/>
          <a:lstStyle/>
          <a:p>
            <a:pPr marL="0" indent="0">
              <a:buNone/>
            </a:pPr>
            <a:r>
              <a:rPr lang="en-US" sz="1100" dirty="0">
                <a:solidFill>
                  <a:srgbClr val="3A4A5A"/>
                </a:solidFill>
                <a:latin typeface="Calibri" pitchFamily="34" charset="0"/>
                <a:ea typeface="Calibri" pitchFamily="34" charset="-122"/>
                <a:cs typeface="Calibri" pitchFamily="34" charset="-120"/>
              </a:rPr>
              <a:t>Neural reranking (bge-reranker-v2-m3) scores pairs semantically — filters noise, promotes precision.</a:t>
            </a:r>
            <a:endParaRPr lang="en-US" sz="1100" dirty="0"/>
          </a:p>
        </p:txBody>
      </p:sp>
      <p:sp>
        <p:nvSpPr>
          <p:cNvPr id="62" name="Text 60"/>
          <p:cNvSpPr/>
          <p:nvPr/>
        </p:nvSpPr>
        <p:spPr>
          <a:xfrm>
            <a:off x="640080" y="4325112"/>
            <a:ext cx="274320" cy="201168"/>
          </a:xfrm>
          <a:prstGeom prst="rect">
            <a:avLst/>
          </a:prstGeom>
          <a:noFill/>
          <a:ln/>
        </p:spPr>
        <p:txBody>
          <a:bodyPr wrap="square" rtlCol="0" anchor="ctr"/>
          <a:lstStyle/>
          <a:p>
            <a:pPr marL="0" indent="0">
              <a:buNone/>
            </a:pPr>
            <a:r>
              <a:rPr lang="en-US" sz="1200" dirty="0">
                <a:solidFill>
                  <a:srgbClr val="000000"/>
                </a:solidFill>
                <a:latin typeface="Calibri" pitchFamily="34" charset="0"/>
                <a:ea typeface="Calibri" pitchFamily="34" charset="-122"/>
                <a:cs typeface="Calibri" pitchFamily="34" charset="-120"/>
              </a:rPr>
              <a:t>🔒</a:t>
            </a:r>
            <a:endParaRPr lang="en-US" sz="1200" dirty="0"/>
          </a:p>
        </p:txBody>
      </p:sp>
      <p:sp>
        <p:nvSpPr>
          <p:cNvPr id="63" name="Text 61"/>
          <p:cNvSpPr/>
          <p:nvPr/>
        </p:nvSpPr>
        <p:spPr>
          <a:xfrm>
            <a:off x="960120" y="4325112"/>
            <a:ext cx="7498080" cy="201168"/>
          </a:xfrm>
          <a:prstGeom prst="rect">
            <a:avLst/>
          </a:prstGeom>
          <a:noFill/>
          <a:ln/>
        </p:spPr>
        <p:txBody>
          <a:bodyPr wrap="square" rtlCol="0" anchor="ctr"/>
          <a:lstStyle/>
          <a:p>
            <a:pPr marL="0" indent="0">
              <a:buNone/>
            </a:pPr>
            <a:r>
              <a:rPr lang="en-US" sz="1100" dirty="0">
                <a:solidFill>
                  <a:srgbClr val="3A4A5A"/>
                </a:solidFill>
                <a:latin typeface="Calibri" pitchFamily="34" charset="0"/>
                <a:ea typeface="Calibri" pitchFamily="34" charset="-122"/>
                <a:cs typeface="Calibri" pitchFamily="34" charset="-120"/>
              </a:rPr>
              <a:t>Metadata filtering (category, doc_code) keeps results inside the right assignment or workshop.</a:t>
            </a:r>
            <a:endParaRPr lang="en-US" sz="1100" dirty="0"/>
          </a:p>
        </p:txBody>
      </p:sp>
      <p:sp>
        <p:nvSpPr>
          <p:cNvPr id="64" name="Text 62"/>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0B4CC"/>
                </a:solidFill>
                <a:latin typeface="Calibri" pitchFamily="34" charset="0"/>
                <a:ea typeface="Calibri" pitchFamily="34" charset="-122"/>
                <a:cs typeface="Calibri" pitchFamily="34" charset="-120"/>
              </a:rPr>
              <a:t>6 / 13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Text 2"/>
          <p:cNvSpPr/>
          <p:nvPr/>
        </p:nvSpPr>
        <p:spPr>
          <a:xfrm>
            <a:off x="457200" y="73152"/>
            <a:ext cx="8229600" cy="201168"/>
          </a:xfrm>
          <a:prstGeom prst="rect">
            <a:avLst/>
          </a:prstGeom>
          <a:noFill/>
          <a:ln/>
        </p:spPr>
        <p:txBody>
          <a:bodyPr wrap="square" rtlCol="0" anchor="ctr"/>
          <a:lstStyle/>
          <a:p>
            <a:pPr marL="0" indent="0" algn="l">
              <a:buNone/>
            </a:pPr>
            <a:r>
              <a:rPr lang="en-US" sz="900" b="1" kern="0" spc="200" dirty="0">
                <a:solidFill>
                  <a:srgbClr val="00C2CB"/>
                </a:solidFill>
                <a:latin typeface="Calibri" pitchFamily="34" charset="0"/>
                <a:ea typeface="Calibri" pitchFamily="34" charset="-122"/>
                <a:cs typeface="Calibri" pitchFamily="34" charset="-120"/>
              </a:rPr>
              <a:t>AGENTIC &amp; MULTIMODAL</a:t>
            </a:r>
            <a:endParaRPr lang="en-US" sz="900" dirty="0"/>
          </a:p>
        </p:txBody>
      </p:sp>
      <p:sp>
        <p:nvSpPr>
          <p:cNvPr id="5" name="Text 3"/>
          <p:cNvSpPr/>
          <p:nvPr/>
        </p:nvSpPr>
        <p:spPr>
          <a:xfrm>
            <a:off x="457200" y="256032"/>
            <a:ext cx="8229600" cy="475488"/>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ReAct Agent · Vision · Web Search</a:t>
            </a:r>
            <a:endParaRPr lang="en-US" sz="2800" dirty="0"/>
          </a:p>
        </p:txBody>
      </p:sp>
      <p:sp>
        <p:nvSpPr>
          <p:cNvPr id="6" name="Shape 4"/>
          <p:cNvSpPr/>
          <p:nvPr/>
        </p:nvSpPr>
        <p:spPr>
          <a:xfrm>
            <a:off x="274320" y="914400"/>
            <a:ext cx="2743200" cy="3840480"/>
          </a:xfrm>
          <a:prstGeom prst="roundRect">
            <a:avLst>
              <a:gd name="adj" fmla="val 4000"/>
            </a:avLst>
          </a:prstGeom>
          <a:solidFill>
            <a:srgbClr val="0A1F40"/>
          </a:solidFill>
          <a:ln w="12700">
            <a:solidFill>
              <a:srgbClr val="1A6ED8"/>
            </a:solidFill>
            <a:prstDash val="solid"/>
          </a:ln>
        </p:spPr>
      </p:sp>
      <p:sp>
        <p:nvSpPr>
          <p:cNvPr id="7" name="Shape 5"/>
          <p:cNvSpPr/>
          <p:nvPr/>
        </p:nvSpPr>
        <p:spPr>
          <a:xfrm>
            <a:off x="274320" y="914400"/>
            <a:ext cx="2743200" cy="658368"/>
          </a:xfrm>
          <a:prstGeom prst="roundRect">
            <a:avLst>
              <a:gd name="adj" fmla="val 16667"/>
            </a:avLst>
          </a:prstGeom>
          <a:solidFill>
            <a:srgbClr val="1A6ED8"/>
          </a:solidFill>
          <a:ln w="12700">
            <a:solidFill>
              <a:srgbClr val="1A6ED8"/>
            </a:solidFill>
            <a:prstDash val="solid"/>
          </a:ln>
        </p:spPr>
      </p:sp>
      <p:sp>
        <p:nvSpPr>
          <p:cNvPr id="8" name="Shape 6"/>
          <p:cNvSpPr/>
          <p:nvPr/>
        </p:nvSpPr>
        <p:spPr>
          <a:xfrm>
            <a:off x="274320" y="1353312"/>
            <a:ext cx="2743200" cy="237744"/>
          </a:xfrm>
          <a:prstGeom prst="rect">
            <a:avLst/>
          </a:prstGeom>
          <a:solidFill>
            <a:srgbClr val="1A6ED8"/>
          </a:solidFill>
          <a:ln w="12700">
            <a:solidFill>
              <a:srgbClr val="1A6ED8"/>
            </a:solidFill>
            <a:prstDash val="solid"/>
          </a:ln>
        </p:spPr>
      </p:sp>
      <p:sp>
        <p:nvSpPr>
          <p:cNvPr id="9" name="Text 7"/>
          <p:cNvSpPr/>
          <p:nvPr/>
        </p:nvSpPr>
        <p:spPr>
          <a:xfrm>
            <a:off x="365760" y="950976"/>
            <a:ext cx="2560320" cy="347472"/>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ReAct Agent</a:t>
            </a:r>
            <a:endParaRPr lang="en-US" sz="1400" dirty="0"/>
          </a:p>
        </p:txBody>
      </p:sp>
      <p:sp>
        <p:nvSpPr>
          <p:cNvPr id="10" name="Text 8"/>
          <p:cNvSpPr/>
          <p:nvPr/>
        </p:nvSpPr>
        <p:spPr>
          <a:xfrm>
            <a:off x="365760" y="1316736"/>
            <a:ext cx="2560320" cy="201168"/>
          </a:xfrm>
          <a:prstGeom prst="rect">
            <a:avLst/>
          </a:prstGeom>
          <a:noFill/>
          <a:ln/>
        </p:spPr>
        <p:txBody>
          <a:bodyPr wrap="square" rtlCol="0" anchor="ctr"/>
          <a:lstStyle/>
          <a:p>
            <a:pPr marL="0" indent="0" algn="ctr">
              <a:buNone/>
            </a:pPr>
            <a:r>
              <a:rPr lang="en-US" sz="850" dirty="0">
                <a:solidFill>
                  <a:srgbClr val="AACCFF"/>
                </a:solidFill>
                <a:latin typeface="Calibri" pitchFamily="34" charset="0"/>
                <a:ea typeface="Calibri" pitchFamily="34" charset="-122"/>
                <a:cs typeface="Calibri" pitchFamily="34" charset="-120"/>
              </a:rPr>
              <a:t>agent_runner.py</a:t>
            </a:r>
            <a:endParaRPr lang="en-US" sz="850" dirty="0"/>
          </a:p>
        </p:txBody>
      </p:sp>
      <p:sp>
        <p:nvSpPr>
          <p:cNvPr id="11" name="Shape 9"/>
          <p:cNvSpPr/>
          <p:nvPr/>
        </p:nvSpPr>
        <p:spPr>
          <a:xfrm>
            <a:off x="384048" y="1682496"/>
            <a:ext cx="182880" cy="182880"/>
          </a:xfrm>
          <a:prstGeom prst="ellipse">
            <a:avLst/>
          </a:prstGeom>
          <a:solidFill>
            <a:srgbClr val="1A6ED8"/>
          </a:solidFill>
          <a:ln w="12700">
            <a:solidFill>
              <a:srgbClr val="1A6ED8"/>
            </a:solidFill>
            <a:prstDash val="solid"/>
          </a:ln>
        </p:spPr>
      </p:sp>
      <p:sp>
        <p:nvSpPr>
          <p:cNvPr id="12" name="Text 10"/>
          <p:cNvSpPr/>
          <p:nvPr/>
        </p:nvSpPr>
        <p:spPr>
          <a:xfrm>
            <a:off x="640080" y="1664208"/>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LangGraph-powered Reason + Act loop</a:t>
            </a:r>
            <a:endParaRPr lang="en-US" sz="1100" dirty="0"/>
          </a:p>
        </p:txBody>
      </p:sp>
      <p:sp>
        <p:nvSpPr>
          <p:cNvPr id="13" name="Shape 11"/>
          <p:cNvSpPr/>
          <p:nvPr/>
        </p:nvSpPr>
        <p:spPr>
          <a:xfrm>
            <a:off x="384048" y="2432304"/>
            <a:ext cx="182880" cy="182880"/>
          </a:xfrm>
          <a:prstGeom prst="ellipse">
            <a:avLst/>
          </a:prstGeom>
          <a:solidFill>
            <a:srgbClr val="1A6ED8"/>
          </a:solidFill>
          <a:ln w="12700">
            <a:solidFill>
              <a:srgbClr val="1A6ED8"/>
            </a:solidFill>
            <a:prstDash val="solid"/>
          </a:ln>
        </p:spPr>
      </p:sp>
      <p:sp>
        <p:nvSpPr>
          <p:cNvPr id="14" name="Text 12"/>
          <p:cNvSpPr/>
          <p:nvPr/>
        </p:nvSpPr>
        <p:spPr>
          <a:xfrm>
            <a:off x="640080" y="2414016"/>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Dynamically decides: internal search or web search</a:t>
            </a:r>
            <a:endParaRPr lang="en-US" sz="1100" dirty="0"/>
          </a:p>
        </p:txBody>
      </p:sp>
      <p:sp>
        <p:nvSpPr>
          <p:cNvPr id="15" name="Shape 13"/>
          <p:cNvSpPr/>
          <p:nvPr/>
        </p:nvSpPr>
        <p:spPr>
          <a:xfrm>
            <a:off x="384048" y="3182112"/>
            <a:ext cx="182880" cy="182880"/>
          </a:xfrm>
          <a:prstGeom prst="ellipse">
            <a:avLst/>
          </a:prstGeom>
          <a:solidFill>
            <a:srgbClr val="1A6ED8"/>
          </a:solidFill>
          <a:ln w="12700">
            <a:solidFill>
              <a:srgbClr val="1A6ED8"/>
            </a:solidFill>
            <a:prstDash val="solid"/>
          </a:ln>
        </p:spPr>
      </p:sp>
      <p:sp>
        <p:nvSpPr>
          <p:cNvPr id="16" name="Text 14"/>
          <p:cNvSpPr/>
          <p:nvPr/>
        </p:nvSpPr>
        <p:spPr>
          <a:xfrm>
            <a:off x="640080" y="3163824"/>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Execution Steps &amp; Tool Calls shown safely in UI</a:t>
            </a:r>
            <a:endParaRPr lang="en-US" sz="1100" dirty="0"/>
          </a:p>
        </p:txBody>
      </p:sp>
      <p:sp>
        <p:nvSpPr>
          <p:cNvPr id="17" name="Shape 15"/>
          <p:cNvSpPr/>
          <p:nvPr/>
        </p:nvSpPr>
        <p:spPr>
          <a:xfrm>
            <a:off x="384048" y="3931920"/>
            <a:ext cx="182880" cy="182880"/>
          </a:xfrm>
          <a:prstGeom prst="ellipse">
            <a:avLst/>
          </a:prstGeom>
          <a:solidFill>
            <a:srgbClr val="1A6ED8"/>
          </a:solidFill>
          <a:ln w="12700">
            <a:solidFill>
              <a:srgbClr val="1A6ED8"/>
            </a:solidFill>
            <a:prstDash val="solid"/>
          </a:ln>
        </p:spPr>
      </p:sp>
      <p:sp>
        <p:nvSpPr>
          <p:cNvPr id="18" name="Text 16"/>
          <p:cNvSpPr/>
          <p:nvPr/>
        </p:nvSpPr>
        <p:spPr>
          <a:xfrm>
            <a:off x="640080" y="3913632"/>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Sliding-window memory — up to 10 turns</a:t>
            </a:r>
            <a:endParaRPr lang="en-US" sz="1100" dirty="0"/>
          </a:p>
        </p:txBody>
      </p:sp>
      <p:sp>
        <p:nvSpPr>
          <p:cNvPr id="19" name="Shape 17"/>
          <p:cNvSpPr/>
          <p:nvPr/>
        </p:nvSpPr>
        <p:spPr>
          <a:xfrm>
            <a:off x="3218688" y="914400"/>
            <a:ext cx="2743200" cy="3840480"/>
          </a:xfrm>
          <a:prstGeom prst="roundRect">
            <a:avLst>
              <a:gd name="adj" fmla="val 4000"/>
            </a:avLst>
          </a:prstGeom>
          <a:solidFill>
            <a:srgbClr val="002030"/>
          </a:solidFill>
          <a:ln w="12700">
            <a:solidFill>
              <a:srgbClr val="00C2CB"/>
            </a:solidFill>
            <a:prstDash val="solid"/>
          </a:ln>
        </p:spPr>
      </p:sp>
      <p:sp>
        <p:nvSpPr>
          <p:cNvPr id="20" name="Shape 18"/>
          <p:cNvSpPr/>
          <p:nvPr/>
        </p:nvSpPr>
        <p:spPr>
          <a:xfrm>
            <a:off x="3218688" y="914400"/>
            <a:ext cx="2743200" cy="658368"/>
          </a:xfrm>
          <a:prstGeom prst="roundRect">
            <a:avLst>
              <a:gd name="adj" fmla="val 16667"/>
            </a:avLst>
          </a:prstGeom>
          <a:solidFill>
            <a:srgbClr val="00C2CB"/>
          </a:solidFill>
          <a:ln w="12700">
            <a:solidFill>
              <a:srgbClr val="00C2CB"/>
            </a:solidFill>
            <a:prstDash val="solid"/>
          </a:ln>
        </p:spPr>
      </p:sp>
      <p:sp>
        <p:nvSpPr>
          <p:cNvPr id="21" name="Shape 19"/>
          <p:cNvSpPr/>
          <p:nvPr/>
        </p:nvSpPr>
        <p:spPr>
          <a:xfrm>
            <a:off x="3218688" y="1353312"/>
            <a:ext cx="2743200" cy="237744"/>
          </a:xfrm>
          <a:prstGeom prst="rect">
            <a:avLst/>
          </a:prstGeom>
          <a:solidFill>
            <a:srgbClr val="00C2CB"/>
          </a:solidFill>
          <a:ln w="12700">
            <a:solidFill>
              <a:srgbClr val="00C2CB"/>
            </a:solidFill>
            <a:prstDash val="solid"/>
          </a:ln>
        </p:spPr>
      </p:sp>
      <p:sp>
        <p:nvSpPr>
          <p:cNvPr id="22" name="Text 20"/>
          <p:cNvSpPr/>
          <p:nvPr/>
        </p:nvSpPr>
        <p:spPr>
          <a:xfrm>
            <a:off x="3310128" y="950976"/>
            <a:ext cx="2560320" cy="347472"/>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Vision Engine</a:t>
            </a:r>
            <a:endParaRPr lang="en-US" sz="1400" dirty="0"/>
          </a:p>
        </p:txBody>
      </p:sp>
      <p:sp>
        <p:nvSpPr>
          <p:cNvPr id="23" name="Text 21"/>
          <p:cNvSpPr/>
          <p:nvPr/>
        </p:nvSpPr>
        <p:spPr>
          <a:xfrm>
            <a:off x="3310128" y="1316736"/>
            <a:ext cx="2560320" cy="201168"/>
          </a:xfrm>
          <a:prstGeom prst="rect">
            <a:avLst/>
          </a:prstGeom>
          <a:noFill/>
          <a:ln/>
        </p:spPr>
        <p:txBody>
          <a:bodyPr wrap="square" rtlCol="0" anchor="ctr"/>
          <a:lstStyle/>
          <a:p>
            <a:pPr marL="0" indent="0" algn="ctr">
              <a:buNone/>
            </a:pPr>
            <a:r>
              <a:rPr lang="en-US" sz="850" dirty="0">
                <a:solidFill>
                  <a:srgbClr val="0A1628"/>
                </a:solidFill>
                <a:latin typeface="Calibri" pitchFamily="34" charset="0"/>
                <a:ea typeface="Calibri" pitchFamily="34" charset="-122"/>
                <a:cs typeface="Calibri" pitchFamily="34" charset="-120"/>
              </a:rPr>
              <a:t>vision_engine.py</a:t>
            </a:r>
            <a:endParaRPr lang="en-US" sz="850" dirty="0"/>
          </a:p>
        </p:txBody>
      </p:sp>
      <p:sp>
        <p:nvSpPr>
          <p:cNvPr id="24" name="Shape 22"/>
          <p:cNvSpPr/>
          <p:nvPr/>
        </p:nvSpPr>
        <p:spPr>
          <a:xfrm>
            <a:off x="3328416" y="1682496"/>
            <a:ext cx="182880" cy="182880"/>
          </a:xfrm>
          <a:prstGeom prst="ellipse">
            <a:avLst/>
          </a:prstGeom>
          <a:solidFill>
            <a:srgbClr val="00C2CB"/>
          </a:solidFill>
          <a:ln w="12700">
            <a:solidFill>
              <a:srgbClr val="00C2CB"/>
            </a:solidFill>
            <a:prstDash val="solid"/>
          </a:ln>
        </p:spPr>
      </p:sp>
      <p:sp>
        <p:nvSpPr>
          <p:cNvPr id="25" name="Text 23"/>
          <p:cNvSpPr/>
          <p:nvPr/>
        </p:nvSpPr>
        <p:spPr>
          <a:xfrm>
            <a:off x="3584448" y="1664208"/>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Reads uploaded screenshots &amp; architecture diagrams</a:t>
            </a:r>
            <a:endParaRPr lang="en-US" sz="1100" dirty="0"/>
          </a:p>
        </p:txBody>
      </p:sp>
      <p:sp>
        <p:nvSpPr>
          <p:cNvPr id="26" name="Shape 24"/>
          <p:cNvSpPr/>
          <p:nvPr/>
        </p:nvSpPr>
        <p:spPr>
          <a:xfrm>
            <a:off x="3328416" y="2432304"/>
            <a:ext cx="182880" cy="182880"/>
          </a:xfrm>
          <a:prstGeom prst="ellipse">
            <a:avLst/>
          </a:prstGeom>
          <a:solidFill>
            <a:srgbClr val="00C2CB"/>
          </a:solidFill>
          <a:ln w="12700">
            <a:solidFill>
              <a:srgbClr val="00C2CB"/>
            </a:solidFill>
            <a:prstDash val="solid"/>
          </a:ln>
        </p:spPr>
      </p:sp>
      <p:sp>
        <p:nvSpPr>
          <p:cNvPr id="27" name="Text 25"/>
          <p:cNvSpPr/>
          <p:nvPr/>
        </p:nvSpPr>
        <p:spPr>
          <a:xfrm>
            <a:off x="3584448" y="2414016"/>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Describes error tracebacks and code images</a:t>
            </a:r>
            <a:endParaRPr lang="en-US" sz="1100" dirty="0"/>
          </a:p>
        </p:txBody>
      </p:sp>
      <p:sp>
        <p:nvSpPr>
          <p:cNvPr id="28" name="Shape 26"/>
          <p:cNvSpPr/>
          <p:nvPr/>
        </p:nvSpPr>
        <p:spPr>
          <a:xfrm>
            <a:off x="3328416" y="3182112"/>
            <a:ext cx="182880" cy="182880"/>
          </a:xfrm>
          <a:prstGeom prst="ellipse">
            <a:avLst/>
          </a:prstGeom>
          <a:solidFill>
            <a:srgbClr val="00C2CB"/>
          </a:solidFill>
          <a:ln w="12700">
            <a:solidFill>
              <a:srgbClr val="00C2CB"/>
            </a:solidFill>
            <a:prstDash val="solid"/>
          </a:ln>
        </p:spPr>
      </p:sp>
      <p:sp>
        <p:nvSpPr>
          <p:cNvPr id="29" name="Text 27"/>
          <p:cNvSpPr/>
          <p:nvPr/>
        </p:nvSpPr>
        <p:spPr>
          <a:xfrm>
            <a:off x="3584448" y="3163824"/>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Captions embedded PDF figures during ingestion</a:t>
            </a:r>
            <a:endParaRPr lang="en-US" sz="1100" dirty="0"/>
          </a:p>
        </p:txBody>
      </p:sp>
      <p:sp>
        <p:nvSpPr>
          <p:cNvPr id="30" name="Shape 28"/>
          <p:cNvSpPr/>
          <p:nvPr/>
        </p:nvSpPr>
        <p:spPr>
          <a:xfrm>
            <a:off x="3328416" y="3931920"/>
            <a:ext cx="182880" cy="182880"/>
          </a:xfrm>
          <a:prstGeom prst="ellipse">
            <a:avLst/>
          </a:prstGeom>
          <a:solidFill>
            <a:srgbClr val="00C2CB"/>
          </a:solidFill>
          <a:ln w="12700">
            <a:solidFill>
              <a:srgbClr val="00C2CB"/>
            </a:solidFill>
            <a:prstDash val="solid"/>
          </a:ln>
        </p:spPr>
      </p:sp>
      <p:sp>
        <p:nvSpPr>
          <p:cNvPr id="31" name="Text 29"/>
          <p:cNvSpPr/>
          <p:nvPr/>
        </p:nvSpPr>
        <p:spPr>
          <a:xfrm>
            <a:off x="3584448" y="3913632"/>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Enables multimodal queries — image + text combined</a:t>
            </a:r>
            <a:endParaRPr lang="en-US" sz="1100" dirty="0"/>
          </a:p>
        </p:txBody>
      </p:sp>
      <p:sp>
        <p:nvSpPr>
          <p:cNvPr id="32" name="Shape 30"/>
          <p:cNvSpPr/>
          <p:nvPr/>
        </p:nvSpPr>
        <p:spPr>
          <a:xfrm>
            <a:off x="6163056" y="914400"/>
            <a:ext cx="2743200" cy="3840480"/>
          </a:xfrm>
          <a:prstGeom prst="roundRect">
            <a:avLst>
              <a:gd name="adj" fmla="val 4000"/>
            </a:avLst>
          </a:prstGeom>
          <a:solidFill>
            <a:srgbClr val="150A30"/>
          </a:solidFill>
          <a:ln w="12700">
            <a:solidFill>
              <a:srgbClr val="7B61FF"/>
            </a:solidFill>
            <a:prstDash val="solid"/>
          </a:ln>
        </p:spPr>
      </p:sp>
      <p:sp>
        <p:nvSpPr>
          <p:cNvPr id="33" name="Shape 31"/>
          <p:cNvSpPr/>
          <p:nvPr/>
        </p:nvSpPr>
        <p:spPr>
          <a:xfrm>
            <a:off x="6163056" y="914400"/>
            <a:ext cx="2743200" cy="658368"/>
          </a:xfrm>
          <a:prstGeom prst="roundRect">
            <a:avLst>
              <a:gd name="adj" fmla="val 16667"/>
            </a:avLst>
          </a:prstGeom>
          <a:solidFill>
            <a:srgbClr val="7B61FF"/>
          </a:solidFill>
          <a:ln w="12700">
            <a:solidFill>
              <a:srgbClr val="7B61FF"/>
            </a:solidFill>
            <a:prstDash val="solid"/>
          </a:ln>
        </p:spPr>
      </p:sp>
      <p:sp>
        <p:nvSpPr>
          <p:cNvPr id="34" name="Shape 32"/>
          <p:cNvSpPr/>
          <p:nvPr/>
        </p:nvSpPr>
        <p:spPr>
          <a:xfrm>
            <a:off x="6163056" y="1353312"/>
            <a:ext cx="2743200" cy="237744"/>
          </a:xfrm>
          <a:prstGeom prst="rect">
            <a:avLst/>
          </a:prstGeom>
          <a:solidFill>
            <a:srgbClr val="7B61FF"/>
          </a:solidFill>
          <a:ln w="12700">
            <a:solidFill>
              <a:srgbClr val="7B61FF"/>
            </a:solidFill>
            <a:prstDash val="solid"/>
          </a:ln>
        </p:spPr>
      </p:sp>
      <p:sp>
        <p:nvSpPr>
          <p:cNvPr id="35" name="Text 33"/>
          <p:cNvSpPr/>
          <p:nvPr/>
        </p:nvSpPr>
        <p:spPr>
          <a:xfrm>
            <a:off x="6254496" y="950976"/>
            <a:ext cx="2560320" cy="347472"/>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Web Search</a:t>
            </a:r>
            <a:endParaRPr lang="en-US" sz="1400" dirty="0"/>
          </a:p>
        </p:txBody>
      </p:sp>
      <p:sp>
        <p:nvSpPr>
          <p:cNvPr id="36" name="Text 34"/>
          <p:cNvSpPr/>
          <p:nvPr/>
        </p:nvSpPr>
        <p:spPr>
          <a:xfrm>
            <a:off x="6254496" y="1316736"/>
            <a:ext cx="2560320" cy="201168"/>
          </a:xfrm>
          <a:prstGeom prst="rect">
            <a:avLst/>
          </a:prstGeom>
          <a:noFill/>
          <a:ln/>
        </p:spPr>
        <p:txBody>
          <a:bodyPr wrap="square" rtlCol="0" anchor="ctr"/>
          <a:lstStyle/>
          <a:p>
            <a:pPr marL="0" indent="0" algn="ctr">
              <a:buNone/>
            </a:pPr>
            <a:r>
              <a:rPr lang="en-US" sz="850" dirty="0">
                <a:solidFill>
                  <a:srgbClr val="C0B0FF"/>
                </a:solidFill>
                <a:latin typeface="Calibri" pitchFamily="34" charset="0"/>
                <a:ea typeface="Calibri" pitchFamily="34" charset="-122"/>
                <a:cs typeface="Calibri" pitchFamily="34" charset="-120"/>
              </a:rPr>
              <a:t>TavilySearchResults</a:t>
            </a:r>
            <a:endParaRPr lang="en-US" sz="850" dirty="0"/>
          </a:p>
        </p:txBody>
      </p:sp>
      <p:sp>
        <p:nvSpPr>
          <p:cNvPr id="37" name="Shape 35"/>
          <p:cNvSpPr/>
          <p:nvPr/>
        </p:nvSpPr>
        <p:spPr>
          <a:xfrm>
            <a:off x="6272784" y="1682496"/>
            <a:ext cx="182880" cy="182880"/>
          </a:xfrm>
          <a:prstGeom prst="ellipse">
            <a:avLst/>
          </a:prstGeom>
          <a:solidFill>
            <a:srgbClr val="7B61FF"/>
          </a:solidFill>
          <a:ln w="12700">
            <a:solidFill>
              <a:srgbClr val="7B61FF"/>
            </a:solidFill>
            <a:prstDash val="solid"/>
          </a:ln>
        </p:spPr>
      </p:sp>
      <p:sp>
        <p:nvSpPr>
          <p:cNvPr id="38" name="Text 36"/>
          <p:cNvSpPr/>
          <p:nvPr/>
        </p:nvSpPr>
        <p:spPr>
          <a:xfrm>
            <a:off x="6528816" y="1664208"/>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Activated only when internal docs are insufficient</a:t>
            </a:r>
            <a:endParaRPr lang="en-US" sz="1100" dirty="0"/>
          </a:p>
        </p:txBody>
      </p:sp>
      <p:sp>
        <p:nvSpPr>
          <p:cNvPr id="39" name="Shape 37"/>
          <p:cNvSpPr/>
          <p:nvPr/>
        </p:nvSpPr>
        <p:spPr>
          <a:xfrm>
            <a:off x="6272784" y="2432304"/>
            <a:ext cx="182880" cy="182880"/>
          </a:xfrm>
          <a:prstGeom prst="ellipse">
            <a:avLst/>
          </a:prstGeom>
          <a:solidFill>
            <a:srgbClr val="7B61FF"/>
          </a:solidFill>
          <a:ln w="12700">
            <a:solidFill>
              <a:srgbClr val="7B61FF"/>
            </a:solidFill>
            <a:prstDash val="solid"/>
          </a:ln>
        </p:spPr>
      </p:sp>
      <p:sp>
        <p:nvSpPr>
          <p:cNvPr id="40" name="Text 38"/>
          <p:cNvSpPr/>
          <p:nvPr/>
        </p:nvSpPr>
        <p:spPr>
          <a:xfrm>
            <a:off x="6528816" y="2414016"/>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Provides up-to-date technical references</a:t>
            </a:r>
            <a:endParaRPr lang="en-US" sz="1100" dirty="0"/>
          </a:p>
        </p:txBody>
      </p:sp>
      <p:sp>
        <p:nvSpPr>
          <p:cNvPr id="41" name="Shape 39"/>
          <p:cNvSpPr/>
          <p:nvPr/>
        </p:nvSpPr>
        <p:spPr>
          <a:xfrm>
            <a:off x="6272784" y="3182112"/>
            <a:ext cx="182880" cy="182880"/>
          </a:xfrm>
          <a:prstGeom prst="ellipse">
            <a:avLst/>
          </a:prstGeom>
          <a:solidFill>
            <a:srgbClr val="7B61FF"/>
          </a:solidFill>
          <a:ln w="12700">
            <a:solidFill>
              <a:srgbClr val="7B61FF"/>
            </a:solidFill>
            <a:prstDash val="solid"/>
          </a:ln>
        </p:spPr>
      </p:sp>
      <p:sp>
        <p:nvSpPr>
          <p:cNvPr id="42" name="Text 40"/>
          <p:cNvSpPr/>
          <p:nvPr/>
        </p:nvSpPr>
        <p:spPr>
          <a:xfrm>
            <a:off x="6528816" y="3163824"/>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Results clearly labeled as external source</a:t>
            </a:r>
            <a:endParaRPr lang="en-US" sz="1100" dirty="0"/>
          </a:p>
        </p:txBody>
      </p:sp>
      <p:sp>
        <p:nvSpPr>
          <p:cNvPr id="43" name="Shape 41"/>
          <p:cNvSpPr/>
          <p:nvPr/>
        </p:nvSpPr>
        <p:spPr>
          <a:xfrm>
            <a:off x="6272784" y="3931920"/>
            <a:ext cx="182880" cy="182880"/>
          </a:xfrm>
          <a:prstGeom prst="ellipse">
            <a:avLst/>
          </a:prstGeom>
          <a:solidFill>
            <a:srgbClr val="7B61FF"/>
          </a:solidFill>
          <a:ln w="12700">
            <a:solidFill>
              <a:srgbClr val="7B61FF"/>
            </a:solidFill>
            <a:prstDash val="solid"/>
          </a:ln>
        </p:spPr>
      </p:sp>
      <p:sp>
        <p:nvSpPr>
          <p:cNvPr id="44" name="Text 42"/>
          <p:cNvSpPr/>
          <p:nvPr/>
        </p:nvSpPr>
        <p:spPr>
          <a:xfrm>
            <a:off x="6528816" y="3913632"/>
            <a:ext cx="2331720" cy="475488"/>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Never replaces course-grounded answers</a:t>
            </a:r>
            <a:endParaRPr lang="en-US" sz="1100" dirty="0"/>
          </a:p>
        </p:txBody>
      </p:sp>
      <p:sp>
        <p:nvSpPr>
          <p:cNvPr id="45" name="Text 43"/>
          <p:cNvSpPr/>
          <p:nvPr/>
        </p:nvSpPr>
        <p:spPr>
          <a:xfrm>
            <a:off x="457200" y="4873752"/>
            <a:ext cx="8229600" cy="201168"/>
          </a:xfrm>
          <a:prstGeom prst="rect">
            <a:avLst/>
          </a:prstGeom>
          <a:noFill/>
          <a:ln/>
        </p:spPr>
        <p:txBody>
          <a:bodyPr wrap="square" rtlCol="0" anchor="ctr"/>
          <a:lstStyle/>
          <a:p>
            <a:pPr marL="0" indent="0" algn="ctr">
              <a:buNone/>
            </a:pPr>
            <a:r>
              <a:rPr lang="en-US" sz="1100" i="1" dirty="0">
                <a:solidFill>
                  <a:srgbClr val="00C2CB"/>
                </a:solidFill>
                <a:latin typeface="Calibri" pitchFamily="34" charset="0"/>
                <a:ea typeface="Calibri" pitchFamily="34" charset="-122"/>
                <a:cs typeface="Calibri" pitchFamily="34" charset="-120"/>
              </a:rPr>
              <a:t>Tool routing is dynamic — the agent selects the right tool per query, never hardcoded.</a:t>
            </a:r>
            <a:endParaRPr lang="en-US" sz="1100" dirty="0"/>
          </a:p>
        </p:txBody>
      </p:sp>
      <p:sp>
        <p:nvSpPr>
          <p:cNvPr id="46" name="Text 44"/>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7 / 13</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9FF"/>
          </a:solidFill>
          <a:ln w="12700">
            <a:solidFill>
              <a:srgbClr val="F5F9FF"/>
            </a:solidFill>
            <a:prstDash val="solid"/>
          </a:ln>
        </p:spPr>
      </p:sp>
      <p:sp>
        <p:nvSpPr>
          <p:cNvPr id="3" name="Shape 1"/>
          <p:cNvSpPr/>
          <p:nvPr/>
        </p:nvSpPr>
        <p:spPr>
          <a:xfrm>
            <a:off x="0" y="0"/>
            <a:ext cx="9144000" cy="868680"/>
          </a:xfrm>
          <a:prstGeom prst="rect">
            <a:avLst/>
          </a:prstGeom>
          <a:solidFill>
            <a:srgbClr val="0A1628"/>
          </a:solidFill>
          <a:ln w="12700">
            <a:solidFill>
              <a:srgbClr val="0A1628"/>
            </a:solidFill>
            <a:prstDash val="solid"/>
          </a:ln>
        </p:spPr>
      </p:sp>
      <p:sp>
        <p:nvSpPr>
          <p:cNvPr id="4" name="Shape 2"/>
          <p:cNvSpPr/>
          <p:nvPr/>
        </p:nvSpPr>
        <p:spPr>
          <a:xfrm>
            <a:off x="0" y="0"/>
            <a:ext cx="54864" cy="5143500"/>
          </a:xfrm>
          <a:prstGeom prst="rect">
            <a:avLst/>
          </a:prstGeom>
          <a:solidFill>
            <a:srgbClr val="00C2CB"/>
          </a:solidFill>
          <a:ln w="12700">
            <a:solidFill>
              <a:srgbClr val="00C2CB"/>
            </a:solidFill>
            <a:prstDash val="solid"/>
          </a:ln>
        </p:spPr>
      </p:sp>
      <p:sp>
        <p:nvSpPr>
          <p:cNvPr id="5" name="Text 3"/>
          <p:cNvSpPr/>
          <p:nvPr/>
        </p:nvSpPr>
        <p:spPr>
          <a:xfrm>
            <a:off x="457200" y="118872"/>
            <a:ext cx="4572000" cy="22860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USER EXPERIENCE</a:t>
            </a:r>
            <a:endParaRPr lang="en-US" sz="900" dirty="0"/>
          </a:p>
        </p:txBody>
      </p:sp>
      <p:sp>
        <p:nvSpPr>
          <p:cNvPr id="6" name="Text 4"/>
          <p:cNvSpPr/>
          <p:nvPr/>
        </p:nvSpPr>
        <p:spPr>
          <a:xfrm>
            <a:off x="457200" y="411480"/>
            <a:ext cx="8229600" cy="365760"/>
          </a:xfrm>
          <a:prstGeom prst="rect">
            <a:avLst/>
          </a:prstGeom>
          <a:noFill/>
          <a:ln/>
        </p:spPr>
        <p:txBody>
          <a:bodyPr wrap="square"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A Complete Interaction — Step by Step</a:t>
            </a:r>
            <a:endParaRPr lang="en-US" sz="2300" dirty="0"/>
          </a:p>
        </p:txBody>
      </p:sp>
      <p:sp>
        <p:nvSpPr>
          <p:cNvPr id="7" name="Shape 5"/>
          <p:cNvSpPr/>
          <p:nvPr/>
        </p:nvSpPr>
        <p:spPr>
          <a:xfrm>
            <a:off x="457200" y="1024128"/>
            <a:ext cx="4114800" cy="749808"/>
          </a:xfrm>
          <a:prstGeom prst="roundRect">
            <a:avLst>
              <a:gd name="adj" fmla="val 12195"/>
            </a:avLst>
          </a:prstGeom>
          <a:solidFill>
            <a:srgbClr val="FFFFFF"/>
          </a:solidFill>
          <a:ln w="12700">
            <a:solidFill>
              <a:srgbClr val="D0DCF0"/>
            </a:solidFill>
            <a:prstDash val="solid"/>
          </a:ln>
        </p:spPr>
      </p:sp>
      <p:sp>
        <p:nvSpPr>
          <p:cNvPr id="8" name="Shape 6"/>
          <p:cNvSpPr/>
          <p:nvPr/>
        </p:nvSpPr>
        <p:spPr>
          <a:xfrm>
            <a:off x="548640" y="1207008"/>
            <a:ext cx="347472" cy="347472"/>
          </a:xfrm>
          <a:prstGeom prst="ellipse">
            <a:avLst/>
          </a:prstGeom>
          <a:solidFill>
            <a:srgbClr val="0A1628"/>
          </a:solidFill>
          <a:ln w="12700">
            <a:solidFill>
              <a:srgbClr val="00C2CB"/>
            </a:solidFill>
            <a:prstDash val="solid"/>
          </a:ln>
        </p:spPr>
      </p:sp>
      <p:sp>
        <p:nvSpPr>
          <p:cNvPr id="9" name="Text 7"/>
          <p:cNvSpPr/>
          <p:nvPr/>
        </p:nvSpPr>
        <p:spPr>
          <a:xfrm>
            <a:off x="548640" y="120700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978408" y="111556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Open Chat</a:t>
            </a:r>
            <a:endParaRPr lang="en-US" sz="1200" dirty="0"/>
          </a:p>
        </p:txBody>
      </p:sp>
      <p:sp>
        <p:nvSpPr>
          <p:cNvPr id="11" name="Text 9"/>
          <p:cNvSpPr/>
          <p:nvPr/>
        </p:nvSpPr>
        <p:spPr>
          <a:xfrm>
            <a:off x="978408" y="137160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Starter questions appear — no blank-page anxiety.</a:t>
            </a:r>
            <a:endParaRPr lang="en-US" sz="1000" dirty="0"/>
          </a:p>
        </p:txBody>
      </p:sp>
      <p:sp>
        <p:nvSpPr>
          <p:cNvPr id="12" name="Shape 10"/>
          <p:cNvSpPr/>
          <p:nvPr/>
        </p:nvSpPr>
        <p:spPr>
          <a:xfrm>
            <a:off x="4846320" y="1024128"/>
            <a:ext cx="4114800" cy="749808"/>
          </a:xfrm>
          <a:prstGeom prst="roundRect">
            <a:avLst>
              <a:gd name="adj" fmla="val 12195"/>
            </a:avLst>
          </a:prstGeom>
          <a:solidFill>
            <a:srgbClr val="FFFFFF"/>
          </a:solidFill>
          <a:ln w="12700">
            <a:solidFill>
              <a:srgbClr val="D0DCF0"/>
            </a:solidFill>
            <a:prstDash val="solid"/>
          </a:ln>
        </p:spPr>
      </p:sp>
      <p:sp>
        <p:nvSpPr>
          <p:cNvPr id="13" name="Shape 11"/>
          <p:cNvSpPr/>
          <p:nvPr/>
        </p:nvSpPr>
        <p:spPr>
          <a:xfrm>
            <a:off x="4937760" y="1207008"/>
            <a:ext cx="347472" cy="347472"/>
          </a:xfrm>
          <a:prstGeom prst="ellipse">
            <a:avLst/>
          </a:prstGeom>
          <a:solidFill>
            <a:srgbClr val="0A1628"/>
          </a:solidFill>
          <a:ln w="12700">
            <a:solidFill>
              <a:srgbClr val="00C2CB"/>
            </a:solidFill>
            <a:prstDash val="solid"/>
          </a:ln>
        </p:spPr>
      </p:sp>
      <p:sp>
        <p:nvSpPr>
          <p:cNvPr id="14" name="Text 12"/>
          <p:cNvSpPr/>
          <p:nvPr/>
        </p:nvSpPr>
        <p:spPr>
          <a:xfrm>
            <a:off x="4937760" y="120700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5367528" y="111556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Ask Question</a:t>
            </a:r>
            <a:endParaRPr lang="en-US" sz="1200" dirty="0"/>
          </a:p>
        </p:txBody>
      </p:sp>
      <p:sp>
        <p:nvSpPr>
          <p:cNvPr id="16" name="Text 14"/>
          <p:cNvSpPr/>
          <p:nvPr/>
        </p:nvSpPr>
        <p:spPr>
          <a:xfrm>
            <a:off x="5367528" y="137160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"Assignment 10 yêu cầu cấu hình Pinecone như thế nào?"</a:t>
            </a:r>
            <a:endParaRPr lang="en-US" sz="1000" dirty="0"/>
          </a:p>
        </p:txBody>
      </p:sp>
      <p:sp>
        <p:nvSpPr>
          <p:cNvPr id="17" name="Shape 15"/>
          <p:cNvSpPr/>
          <p:nvPr/>
        </p:nvSpPr>
        <p:spPr>
          <a:xfrm>
            <a:off x="457200" y="1892808"/>
            <a:ext cx="4114800" cy="749808"/>
          </a:xfrm>
          <a:prstGeom prst="roundRect">
            <a:avLst>
              <a:gd name="adj" fmla="val 12195"/>
            </a:avLst>
          </a:prstGeom>
          <a:solidFill>
            <a:srgbClr val="FFFFFF"/>
          </a:solidFill>
          <a:ln w="12700">
            <a:solidFill>
              <a:srgbClr val="D0DCF0"/>
            </a:solidFill>
            <a:prstDash val="solid"/>
          </a:ln>
        </p:spPr>
      </p:sp>
      <p:sp>
        <p:nvSpPr>
          <p:cNvPr id="18" name="Shape 16"/>
          <p:cNvSpPr/>
          <p:nvPr/>
        </p:nvSpPr>
        <p:spPr>
          <a:xfrm>
            <a:off x="548640" y="2075688"/>
            <a:ext cx="347472" cy="347472"/>
          </a:xfrm>
          <a:prstGeom prst="ellipse">
            <a:avLst/>
          </a:prstGeom>
          <a:solidFill>
            <a:srgbClr val="0A1628"/>
          </a:solidFill>
          <a:ln w="12700">
            <a:solidFill>
              <a:srgbClr val="00C2CB"/>
            </a:solidFill>
            <a:prstDash val="solid"/>
          </a:ln>
        </p:spPr>
      </p:sp>
      <p:sp>
        <p:nvSpPr>
          <p:cNvPr id="19" name="Text 17"/>
          <p:cNvSpPr/>
          <p:nvPr/>
        </p:nvSpPr>
        <p:spPr>
          <a:xfrm>
            <a:off x="548640" y="207568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3</a:t>
            </a:r>
            <a:endParaRPr lang="en-US" sz="1100" dirty="0"/>
          </a:p>
        </p:txBody>
      </p:sp>
      <p:sp>
        <p:nvSpPr>
          <p:cNvPr id="20" name="Text 18"/>
          <p:cNvSpPr/>
          <p:nvPr/>
        </p:nvSpPr>
        <p:spPr>
          <a:xfrm>
            <a:off x="978408" y="198424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Agent Acts</a:t>
            </a:r>
            <a:endParaRPr lang="en-US" sz="1200" dirty="0"/>
          </a:p>
        </p:txBody>
      </p:sp>
      <p:sp>
        <p:nvSpPr>
          <p:cNvPr id="21" name="Text 19"/>
          <p:cNvSpPr/>
          <p:nvPr/>
        </p:nvSpPr>
        <p:spPr>
          <a:xfrm>
            <a:off x="978408" y="224028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Calls search_course_knowledge · Execution Steps shown in UI.</a:t>
            </a:r>
            <a:endParaRPr lang="en-US" sz="1000" dirty="0"/>
          </a:p>
        </p:txBody>
      </p:sp>
      <p:sp>
        <p:nvSpPr>
          <p:cNvPr id="22" name="Shape 20"/>
          <p:cNvSpPr/>
          <p:nvPr/>
        </p:nvSpPr>
        <p:spPr>
          <a:xfrm>
            <a:off x="4846320" y="1892808"/>
            <a:ext cx="4114800" cy="749808"/>
          </a:xfrm>
          <a:prstGeom prst="roundRect">
            <a:avLst>
              <a:gd name="adj" fmla="val 12195"/>
            </a:avLst>
          </a:prstGeom>
          <a:solidFill>
            <a:srgbClr val="FFFFFF"/>
          </a:solidFill>
          <a:ln w="12700">
            <a:solidFill>
              <a:srgbClr val="D0DCF0"/>
            </a:solidFill>
            <a:prstDash val="solid"/>
          </a:ln>
        </p:spPr>
      </p:sp>
      <p:sp>
        <p:nvSpPr>
          <p:cNvPr id="23" name="Shape 21"/>
          <p:cNvSpPr/>
          <p:nvPr/>
        </p:nvSpPr>
        <p:spPr>
          <a:xfrm>
            <a:off x="4937760" y="2075688"/>
            <a:ext cx="347472" cy="347472"/>
          </a:xfrm>
          <a:prstGeom prst="ellipse">
            <a:avLst/>
          </a:prstGeom>
          <a:solidFill>
            <a:srgbClr val="0A1628"/>
          </a:solidFill>
          <a:ln w="12700">
            <a:solidFill>
              <a:srgbClr val="00C2CB"/>
            </a:solidFill>
            <a:prstDash val="solid"/>
          </a:ln>
        </p:spPr>
      </p:sp>
      <p:sp>
        <p:nvSpPr>
          <p:cNvPr id="24" name="Text 22"/>
          <p:cNvSpPr/>
          <p:nvPr/>
        </p:nvSpPr>
        <p:spPr>
          <a:xfrm>
            <a:off x="4937760" y="207568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4</a:t>
            </a:r>
            <a:endParaRPr lang="en-US" sz="1100" dirty="0"/>
          </a:p>
        </p:txBody>
      </p:sp>
      <p:sp>
        <p:nvSpPr>
          <p:cNvPr id="25" name="Text 23"/>
          <p:cNvSpPr/>
          <p:nvPr/>
        </p:nvSpPr>
        <p:spPr>
          <a:xfrm>
            <a:off x="5367528" y="198424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Grounded Answer</a:t>
            </a:r>
            <a:endParaRPr lang="en-US" sz="1200" dirty="0"/>
          </a:p>
        </p:txBody>
      </p:sp>
      <p:sp>
        <p:nvSpPr>
          <p:cNvPr id="26" name="Text 24"/>
          <p:cNvSpPr/>
          <p:nvPr/>
        </p:nvSpPr>
        <p:spPr>
          <a:xfrm>
            <a:off x="5367528" y="224028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Response + source filename + page number displayed.</a:t>
            </a:r>
            <a:endParaRPr lang="en-US" sz="1000" dirty="0"/>
          </a:p>
        </p:txBody>
      </p:sp>
      <p:sp>
        <p:nvSpPr>
          <p:cNvPr id="27" name="Shape 25"/>
          <p:cNvSpPr/>
          <p:nvPr/>
        </p:nvSpPr>
        <p:spPr>
          <a:xfrm>
            <a:off x="457200" y="2761488"/>
            <a:ext cx="4114800" cy="749808"/>
          </a:xfrm>
          <a:prstGeom prst="roundRect">
            <a:avLst>
              <a:gd name="adj" fmla="val 12195"/>
            </a:avLst>
          </a:prstGeom>
          <a:solidFill>
            <a:srgbClr val="FFFFFF"/>
          </a:solidFill>
          <a:ln w="12700">
            <a:solidFill>
              <a:srgbClr val="D0DCF0"/>
            </a:solidFill>
            <a:prstDash val="solid"/>
          </a:ln>
        </p:spPr>
      </p:sp>
      <p:sp>
        <p:nvSpPr>
          <p:cNvPr id="28" name="Shape 26"/>
          <p:cNvSpPr/>
          <p:nvPr/>
        </p:nvSpPr>
        <p:spPr>
          <a:xfrm>
            <a:off x="548640" y="2944368"/>
            <a:ext cx="347472" cy="347472"/>
          </a:xfrm>
          <a:prstGeom prst="ellipse">
            <a:avLst/>
          </a:prstGeom>
          <a:solidFill>
            <a:srgbClr val="0A1628"/>
          </a:solidFill>
          <a:ln w="12700">
            <a:solidFill>
              <a:srgbClr val="00C2CB"/>
            </a:solidFill>
            <a:prstDash val="solid"/>
          </a:ln>
        </p:spPr>
      </p:sp>
      <p:sp>
        <p:nvSpPr>
          <p:cNvPr id="29" name="Text 27"/>
          <p:cNvSpPr/>
          <p:nvPr/>
        </p:nvSpPr>
        <p:spPr>
          <a:xfrm>
            <a:off x="548640" y="294436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978408" y="285292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Follow-up Qs</a:t>
            </a:r>
            <a:endParaRPr lang="en-US" sz="1200" dirty="0"/>
          </a:p>
        </p:txBody>
      </p:sp>
      <p:sp>
        <p:nvSpPr>
          <p:cNvPr id="31" name="Text 29"/>
          <p:cNvSpPr/>
          <p:nvPr/>
        </p:nvSpPr>
        <p:spPr>
          <a:xfrm>
            <a:off x="978408" y="310896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3 contextual follow-up suggestions generated automatically.</a:t>
            </a:r>
            <a:endParaRPr lang="en-US" sz="1000" dirty="0"/>
          </a:p>
        </p:txBody>
      </p:sp>
      <p:sp>
        <p:nvSpPr>
          <p:cNvPr id="32" name="Shape 30"/>
          <p:cNvSpPr/>
          <p:nvPr/>
        </p:nvSpPr>
        <p:spPr>
          <a:xfrm>
            <a:off x="4846320" y="2761488"/>
            <a:ext cx="4114800" cy="749808"/>
          </a:xfrm>
          <a:prstGeom prst="roundRect">
            <a:avLst>
              <a:gd name="adj" fmla="val 12195"/>
            </a:avLst>
          </a:prstGeom>
          <a:solidFill>
            <a:srgbClr val="FFFFFF"/>
          </a:solidFill>
          <a:ln w="12700">
            <a:solidFill>
              <a:srgbClr val="D0DCF0"/>
            </a:solidFill>
            <a:prstDash val="solid"/>
          </a:ln>
        </p:spPr>
      </p:sp>
      <p:sp>
        <p:nvSpPr>
          <p:cNvPr id="33" name="Shape 31"/>
          <p:cNvSpPr/>
          <p:nvPr/>
        </p:nvSpPr>
        <p:spPr>
          <a:xfrm>
            <a:off x="4937760" y="2944368"/>
            <a:ext cx="347472" cy="347472"/>
          </a:xfrm>
          <a:prstGeom prst="ellipse">
            <a:avLst/>
          </a:prstGeom>
          <a:solidFill>
            <a:srgbClr val="0A1628"/>
          </a:solidFill>
          <a:ln w="12700">
            <a:solidFill>
              <a:srgbClr val="00C2CB"/>
            </a:solidFill>
            <a:prstDash val="solid"/>
          </a:ln>
        </p:spPr>
      </p:sp>
      <p:sp>
        <p:nvSpPr>
          <p:cNvPr id="34" name="Text 32"/>
          <p:cNvSpPr/>
          <p:nvPr/>
        </p:nvSpPr>
        <p:spPr>
          <a:xfrm>
            <a:off x="4937760" y="294436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6</a:t>
            </a:r>
            <a:endParaRPr lang="en-US" sz="1100" dirty="0"/>
          </a:p>
        </p:txBody>
      </p:sp>
      <p:sp>
        <p:nvSpPr>
          <p:cNvPr id="35" name="Text 33"/>
          <p:cNvSpPr/>
          <p:nvPr/>
        </p:nvSpPr>
        <p:spPr>
          <a:xfrm>
            <a:off x="5367528" y="285292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Image Upload</a:t>
            </a:r>
            <a:endParaRPr lang="en-US" sz="1200" dirty="0"/>
          </a:p>
        </p:txBody>
      </p:sp>
      <p:sp>
        <p:nvSpPr>
          <p:cNvPr id="36" name="Text 34"/>
          <p:cNvSpPr/>
          <p:nvPr/>
        </p:nvSpPr>
        <p:spPr>
          <a:xfrm>
            <a:off x="5367528" y="310896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Upload error screenshot → Vision Engine analyzes &amp; explains.</a:t>
            </a:r>
            <a:endParaRPr lang="en-US" sz="1000" dirty="0"/>
          </a:p>
        </p:txBody>
      </p:sp>
      <p:sp>
        <p:nvSpPr>
          <p:cNvPr id="37" name="Shape 35"/>
          <p:cNvSpPr/>
          <p:nvPr/>
        </p:nvSpPr>
        <p:spPr>
          <a:xfrm>
            <a:off x="457200" y="3630168"/>
            <a:ext cx="4114800" cy="749808"/>
          </a:xfrm>
          <a:prstGeom prst="roundRect">
            <a:avLst>
              <a:gd name="adj" fmla="val 12195"/>
            </a:avLst>
          </a:prstGeom>
          <a:solidFill>
            <a:srgbClr val="FFFFFF"/>
          </a:solidFill>
          <a:ln w="12700">
            <a:solidFill>
              <a:srgbClr val="D0DCF0"/>
            </a:solidFill>
            <a:prstDash val="solid"/>
          </a:ln>
        </p:spPr>
      </p:sp>
      <p:sp>
        <p:nvSpPr>
          <p:cNvPr id="38" name="Shape 36"/>
          <p:cNvSpPr/>
          <p:nvPr/>
        </p:nvSpPr>
        <p:spPr>
          <a:xfrm>
            <a:off x="548640" y="3813048"/>
            <a:ext cx="347472" cy="347472"/>
          </a:xfrm>
          <a:prstGeom prst="ellipse">
            <a:avLst/>
          </a:prstGeom>
          <a:solidFill>
            <a:srgbClr val="0A1628"/>
          </a:solidFill>
          <a:ln w="12700">
            <a:solidFill>
              <a:srgbClr val="00C2CB"/>
            </a:solidFill>
            <a:prstDash val="solid"/>
          </a:ln>
        </p:spPr>
      </p:sp>
      <p:sp>
        <p:nvSpPr>
          <p:cNvPr id="39" name="Text 37"/>
          <p:cNvSpPr/>
          <p:nvPr/>
        </p:nvSpPr>
        <p:spPr>
          <a:xfrm>
            <a:off x="548640" y="381304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7</a:t>
            </a:r>
            <a:endParaRPr lang="en-US" sz="1100" dirty="0"/>
          </a:p>
        </p:txBody>
      </p:sp>
      <p:sp>
        <p:nvSpPr>
          <p:cNvPr id="40" name="Text 38"/>
          <p:cNvSpPr/>
          <p:nvPr/>
        </p:nvSpPr>
        <p:spPr>
          <a:xfrm>
            <a:off x="978408" y="372160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Voice Input</a:t>
            </a:r>
            <a:endParaRPr lang="en-US" sz="1200" dirty="0"/>
          </a:p>
        </p:txBody>
      </p:sp>
      <p:sp>
        <p:nvSpPr>
          <p:cNvPr id="41" name="Text 39"/>
          <p:cNvSpPr/>
          <p:nvPr/>
        </p:nvSpPr>
        <p:spPr>
          <a:xfrm>
            <a:off x="978408" y="397764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Speak query in Vietnamese or English → STT → answer + TTS.</a:t>
            </a:r>
            <a:endParaRPr lang="en-US" sz="1000" dirty="0"/>
          </a:p>
        </p:txBody>
      </p:sp>
      <p:sp>
        <p:nvSpPr>
          <p:cNvPr id="42" name="Shape 40"/>
          <p:cNvSpPr/>
          <p:nvPr/>
        </p:nvSpPr>
        <p:spPr>
          <a:xfrm>
            <a:off x="4846320" y="3630168"/>
            <a:ext cx="4114800" cy="749808"/>
          </a:xfrm>
          <a:prstGeom prst="roundRect">
            <a:avLst>
              <a:gd name="adj" fmla="val 12195"/>
            </a:avLst>
          </a:prstGeom>
          <a:solidFill>
            <a:srgbClr val="FFFFFF"/>
          </a:solidFill>
          <a:ln w="12700">
            <a:solidFill>
              <a:srgbClr val="D0DCF0"/>
            </a:solidFill>
            <a:prstDash val="solid"/>
          </a:ln>
        </p:spPr>
      </p:sp>
      <p:sp>
        <p:nvSpPr>
          <p:cNvPr id="43" name="Shape 41"/>
          <p:cNvSpPr/>
          <p:nvPr/>
        </p:nvSpPr>
        <p:spPr>
          <a:xfrm>
            <a:off x="4937760" y="3813048"/>
            <a:ext cx="347472" cy="347472"/>
          </a:xfrm>
          <a:prstGeom prst="ellipse">
            <a:avLst/>
          </a:prstGeom>
          <a:solidFill>
            <a:srgbClr val="0A1628"/>
          </a:solidFill>
          <a:ln w="12700">
            <a:solidFill>
              <a:srgbClr val="00C2CB"/>
            </a:solidFill>
            <a:prstDash val="solid"/>
          </a:ln>
        </p:spPr>
      </p:sp>
      <p:sp>
        <p:nvSpPr>
          <p:cNvPr id="44" name="Text 42"/>
          <p:cNvSpPr/>
          <p:nvPr/>
        </p:nvSpPr>
        <p:spPr>
          <a:xfrm>
            <a:off x="4937760" y="3813048"/>
            <a:ext cx="347472" cy="347472"/>
          </a:xfrm>
          <a:prstGeom prst="rect">
            <a:avLst/>
          </a:prstGeom>
          <a:noFill/>
          <a:ln/>
        </p:spPr>
        <p:txBody>
          <a:bodyPr wrap="square" lIns="0" tIns="0" rIns="0" bIns="0" rtlCol="0" anchor="ctr"/>
          <a:lstStyle/>
          <a:p>
            <a:pPr marL="0" indent="0" algn="ctr">
              <a:buNone/>
            </a:pPr>
            <a:r>
              <a:rPr lang="en-US" sz="1100" b="1" dirty="0">
                <a:solidFill>
                  <a:srgbClr val="00C2CB"/>
                </a:solidFill>
                <a:latin typeface="Calibri" pitchFamily="34" charset="0"/>
                <a:ea typeface="Calibri" pitchFamily="34" charset="-122"/>
                <a:cs typeface="Calibri" pitchFamily="34" charset="-120"/>
              </a:rPr>
              <a:t>8</a:t>
            </a:r>
            <a:endParaRPr lang="en-US" sz="1100" dirty="0"/>
          </a:p>
        </p:txBody>
      </p:sp>
      <p:sp>
        <p:nvSpPr>
          <p:cNvPr id="45" name="Text 43"/>
          <p:cNvSpPr/>
          <p:nvPr/>
        </p:nvSpPr>
        <p:spPr>
          <a:xfrm>
            <a:off x="5367528" y="3721608"/>
            <a:ext cx="3429000" cy="256032"/>
          </a:xfrm>
          <a:prstGeom prst="rect">
            <a:avLst/>
          </a:prstGeom>
          <a:noFill/>
          <a:ln/>
        </p:spPr>
        <p:txBody>
          <a:bodyPr wrap="square"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 Off-topic Redirect</a:t>
            </a:r>
            <a:endParaRPr lang="en-US" sz="1200" dirty="0"/>
          </a:p>
        </p:txBody>
      </p:sp>
      <p:sp>
        <p:nvSpPr>
          <p:cNvPr id="46" name="Text 44"/>
          <p:cNvSpPr/>
          <p:nvPr/>
        </p:nvSpPr>
        <p:spPr>
          <a:xfrm>
            <a:off x="5367528" y="3977640"/>
            <a:ext cx="3429000" cy="347472"/>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Question outside course → assistant redirects gracefully.</a:t>
            </a:r>
            <a:endParaRPr lang="en-US" sz="1000" dirty="0"/>
          </a:p>
        </p:txBody>
      </p:sp>
      <p:sp>
        <p:nvSpPr>
          <p:cNvPr id="48" name="Text 46"/>
          <p:cNvSpPr/>
          <p:nvPr/>
        </p:nvSpPr>
        <p:spPr>
          <a:xfrm>
            <a:off x="548640" y="4663440"/>
            <a:ext cx="8046720" cy="329184"/>
          </a:xfrm>
          <a:prstGeom prst="rect">
            <a:avLst/>
          </a:prstGeom>
          <a:noFill/>
          <a:ln/>
        </p:spPr>
        <p:txBody>
          <a:bodyPr wrap="square" rtlCol="0" anchor="ctr"/>
          <a:lstStyle/>
          <a:p>
            <a:pPr marL="0" indent="0" algn="ctr">
              <a:buNone/>
            </a:pPr>
            <a:endParaRPr lang="en-US" sz="1000" dirty="0"/>
          </a:p>
        </p:txBody>
      </p:sp>
      <p:sp>
        <p:nvSpPr>
          <p:cNvPr id="49" name="Text 47"/>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0B4CC"/>
                </a:solidFill>
                <a:latin typeface="Calibri" pitchFamily="34" charset="0"/>
                <a:ea typeface="Calibri" pitchFamily="34" charset="-122"/>
                <a:cs typeface="Calibri" pitchFamily="34" charset="-120"/>
              </a:rPr>
              <a:t>8 / 13</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Text 2"/>
          <p:cNvSpPr/>
          <p:nvPr/>
        </p:nvSpPr>
        <p:spPr>
          <a:xfrm>
            <a:off x="457200" y="73152"/>
            <a:ext cx="8229600" cy="201168"/>
          </a:xfrm>
          <a:prstGeom prst="rect">
            <a:avLst/>
          </a:prstGeom>
          <a:noFill/>
          <a:ln/>
        </p:spPr>
        <p:txBody>
          <a:bodyPr wrap="square" rtlCol="0" anchor="ctr"/>
          <a:lstStyle/>
          <a:p>
            <a:pPr marL="0" indent="0" algn="l">
              <a:buNone/>
            </a:pPr>
            <a:r>
              <a:rPr lang="en-US" sz="900" b="1" kern="0" spc="200" dirty="0">
                <a:solidFill>
                  <a:srgbClr val="00C2CB"/>
                </a:solidFill>
                <a:latin typeface="Calibri" pitchFamily="34" charset="0"/>
                <a:ea typeface="Calibri" pitchFamily="34" charset="-122"/>
                <a:cs typeface="Calibri" pitchFamily="34" charset="-120"/>
              </a:rPr>
              <a:t>TECHNICAL DIFFERENTIATORS</a:t>
            </a:r>
            <a:endParaRPr lang="en-US" sz="900" dirty="0"/>
          </a:p>
        </p:txBody>
      </p:sp>
      <p:sp>
        <p:nvSpPr>
          <p:cNvPr id="5" name="Text 3"/>
          <p:cNvSpPr/>
          <p:nvPr/>
        </p:nvSpPr>
        <p:spPr>
          <a:xfrm>
            <a:off x="457200" y="256032"/>
            <a:ext cx="8229600" cy="4114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Makes This Different</a:t>
            </a:r>
            <a:endParaRPr lang="en-US" sz="2800" dirty="0"/>
          </a:p>
        </p:txBody>
      </p:sp>
      <p:sp>
        <p:nvSpPr>
          <p:cNvPr id="6" name="Shape 4"/>
          <p:cNvSpPr/>
          <p:nvPr/>
        </p:nvSpPr>
        <p:spPr>
          <a:xfrm>
            <a:off x="365760" y="822960"/>
            <a:ext cx="8412480" cy="320040"/>
          </a:xfrm>
          <a:prstGeom prst="rect">
            <a:avLst/>
          </a:prstGeom>
          <a:solidFill>
            <a:srgbClr val="00C2CB"/>
          </a:solidFill>
          <a:ln w="12700">
            <a:solidFill>
              <a:srgbClr val="00C2CB"/>
            </a:solidFill>
            <a:prstDash val="solid"/>
          </a:ln>
        </p:spPr>
      </p:sp>
      <p:sp>
        <p:nvSpPr>
          <p:cNvPr id="7" name="Text 5"/>
          <p:cNvSpPr/>
          <p:nvPr/>
        </p:nvSpPr>
        <p:spPr>
          <a:xfrm>
            <a:off x="502920" y="859536"/>
            <a:ext cx="3017520" cy="256032"/>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Feature</a:t>
            </a:r>
            <a:endParaRPr lang="en-US" sz="1000" dirty="0"/>
          </a:p>
        </p:txBody>
      </p:sp>
      <p:sp>
        <p:nvSpPr>
          <p:cNvPr id="8" name="Text 6"/>
          <p:cNvSpPr/>
          <p:nvPr/>
        </p:nvSpPr>
        <p:spPr>
          <a:xfrm>
            <a:off x="3703320" y="859536"/>
            <a:ext cx="2468880" cy="256032"/>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Value</a:t>
            </a:r>
            <a:endParaRPr lang="en-US" sz="1000" dirty="0"/>
          </a:p>
        </p:txBody>
      </p:sp>
      <p:sp>
        <p:nvSpPr>
          <p:cNvPr id="9" name="Text 7"/>
          <p:cNvSpPr/>
          <p:nvPr/>
        </p:nvSpPr>
        <p:spPr>
          <a:xfrm>
            <a:off x="6355080" y="859536"/>
            <a:ext cx="2377440" cy="256032"/>
          </a:xfrm>
          <a:prstGeom prst="rect">
            <a:avLst/>
          </a:prstGeom>
          <a:noFill/>
          <a:ln/>
        </p:spPr>
        <p:txBody>
          <a:bodyPr wrap="square"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Implementation</a:t>
            </a:r>
            <a:endParaRPr lang="en-US" sz="1000" dirty="0"/>
          </a:p>
        </p:txBody>
      </p:sp>
      <p:sp>
        <p:nvSpPr>
          <p:cNvPr id="10" name="Shape 8"/>
          <p:cNvSpPr/>
          <p:nvPr/>
        </p:nvSpPr>
        <p:spPr>
          <a:xfrm>
            <a:off x="365760" y="1143000"/>
            <a:ext cx="8412480" cy="393192"/>
          </a:xfrm>
          <a:prstGeom prst="rect">
            <a:avLst/>
          </a:prstGeom>
          <a:solidFill>
            <a:srgbClr val="112240"/>
          </a:solidFill>
          <a:ln w="12700">
            <a:solidFill>
              <a:srgbClr val="112240"/>
            </a:solidFill>
            <a:prstDash val="solid"/>
          </a:ln>
        </p:spPr>
      </p:sp>
      <p:sp>
        <p:nvSpPr>
          <p:cNvPr id="11" name="Text 9"/>
          <p:cNvSpPr/>
          <p:nvPr/>
        </p:nvSpPr>
        <p:spPr>
          <a:xfrm>
            <a:off x="502920" y="121615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Domain Grounding</a:t>
            </a:r>
            <a:endParaRPr lang="en-US" sz="1000" dirty="0"/>
          </a:p>
        </p:txBody>
      </p:sp>
      <p:sp>
        <p:nvSpPr>
          <p:cNvPr id="12" name="Text 10"/>
          <p:cNvSpPr/>
          <p:nvPr/>
        </p:nvSpPr>
        <p:spPr>
          <a:xfrm>
            <a:off x="3703320" y="121615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Answers scoped to course only</a:t>
            </a:r>
            <a:endParaRPr lang="en-US" sz="1000" dirty="0"/>
          </a:p>
        </p:txBody>
      </p:sp>
      <p:sp>
        <p:nvSpPr>
          <p:cNvPr id="13" name="Text 11"/>
          <p:cNvSpPr/>
          <p:nvPr/>
        </p:nvSpPr>
        <p:spPr>
          <a:xfrm>
            <a:off x="6355080" y="121615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LangGraph tool routing + metadata filter</a:t>
            </a:r>
            <a:endParaRPr lang="en-US" sz="1000" dirty="0"/>
          </a:p>
        </p:txBody>
      </p:sp>
      <p:sp>
        <p:nvSpPr>
          <p:cNvPr id="14" name="Shape 12"/>
          <p:cNvSpPr/>
          <p:nvPr/>
        </p:nvSpPr>
        <p:spPr>
          <a:xfrm>
            <a:off x="365760" y="1554480"/>
            <a:ext cx="8412480" cy="393192"/>
          </a:xfrm>
          <a:prstGeom prst="rect">
            <a:avLst/>
          </a:prstGeom>
          <a:solidFill>
            <a:srgbClr val="0E1E38"/>
          </a:solidFill>
          <a:ln w="12700">
            <a:solidFill>
              <a:srgbClr val="0E1E38"/>
            </a:solidFill>
            <a:prstDash val="solid"/>
          </a:ln>
        </p:spPr>
      </p:sp>
      <p:sp>
        <p:nvSpPr>
          <p:cNvPr id="15" name="Text 13"/>
          <p:cNvSpPr/>
          <p:nvPr/>
        </p:nvSpPr>
        <p:spPr>
          <a:xfrm>
            <a:off x="502920" y="162763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Two-Stage Retrieval</a:t>
            </a:r>
            <a:endParaRPr lang="en-US" sz="1000" dirty="0"/>
          </a:p>
        </p:txBody>
      </p:sp>
      <p:sp>
        <p:nvSpPr>
          <p:cNvPr id="16" name="Text 14"/>
          <p:cNvSpPr/>
          <p:nvPr/>
        </p:nvSpPr>
        <p:spPr>
          <a:xfrm>
            <a:off x="3703320" y="162763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High precision, low noise</a:t>
            </a:r>
            <a:endParaRPr lang="en-US" sz="1000" dirty="0"/>
          </a:p>
        </p:txBody>
      </p:sp>
      <p:sp>
        <p:nvSpPr>
          <p:cNvPr id="17" name="Text 15"/>
          <p:cNvSpPr/>
          <p:nvPr/>
        </p:nvSpPr>
        <p:spPr>
          <a:xfrm>
            <a:off x="6355080" y="162763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fetch_k=15 → bge-reranker-v2-m3 → Top 5</a:t>
            </a:r>
            <a:endParaRPr lang="en-US" sz="1000" dirty="0"/>
          </a:p>
        </p:txBody>
      </p:sp>
      <p:sp>
        <p:nvSpPr>
          <p:cNvPr id="18" name="Shape 16"/>
          <p:cNvSpPr/>
          <p:nvPr/>
        </p:nvSpPr>
        <p:spPr>
          <a:xfrm>
            <a:off x="365760" y="1965960"/>
            <a:ext cx="8412480" cy="393192"/>
          </a:xfrm>
          <a:prstGeom prst="rect">
            <a:avLst/>
          </a:prstGeom>
          <a:solidFill>
            <a:srgbClr val="112240"/>
          </a:solidFill>
          <a:ln w="12700">
            <a:solidFill>
              <a:srgbClr val="112240"/>
            </a:solidFill>
            <a:prstDash val="solid"/>
          </a:ln>
        </p:spPr>
      </p:sp>
      <p:sp>
        <p:nvSpPr>
          <p:cNvPr id="19" name="Text 17"/>
          <p:cNvSpPr/>
          <p:nvPr/>
        </p:nvSpPr>
        <p:spPr>
          <a:xfrm>
            <a:off x="502920" y="203911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Source Citations</a:t>
            </a:r>
            <a:endParaRPr lang="en-US" sz="1000" dirty="0"/>
          </a:p>
        </p:txBody>
      </p:sp>
      <p:sp>
        <p:nvSpPr>
          <p:cNvPr id="20" name="Text 18"/>
          <p:cNvSpPr/>
          <p:nvPr/>
        </p:nvSpPr>
        <p:spPr>
          <a:xfrm>
            <a:off x="3703320" y="203911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Verifiable — filename + page</a:t>
            </a:r>
            <a:endParaRPr lang="en-US" sz="1000" dirty="0"/>
          </a:p>
        </p:txBody>
      </p:sp>
      <p:sp>
        <p:nvSpPr>
          <p:cNvPr id="21" name="Text 19"/>
          <p:cNvSpPr/>
          <p:nvPr/>
        </p:nvSpPr>
        <p:spPr>
          <a:xfrm>
            <a:off x="6355080" y="203911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Extracted from Document metadata</a:t>
            </a:r>
            <a:endParaRPr lang="en-US" sz="1000" dirty="0"/>
          </a:p>
        </p:txBody>
      </p:sp>
      <p:sp>
        <p:nvSpPr>
          <p:cNvPr id="22" name="Shape 20"/>
          <p:cNvSpPr/>
          <p:nvPr/>
        </p:nvSpPr>
        <p:spPr>
          <a:xfrm>
            <a:off x="365760" y="2377440"/>
            <a:ext cx="8412480" cy="393192"/>
          </a:xfrm>
          <a:prstGeom prst="rect">
            <a:avLst/>
          </a:prstGeom>
          <a:solidFill>
            <a:srgbClr val="0E1E38"/>
          </a:solidFill>
          <a:ln w="12700">
            <a:solidFill>
              <a:srgbClr val="0E1E38"/>
            </a:solidFill>
            <a:prstDash val="solid"/>
          </a:ln>
        </p:spPr>
      </p:sp>
      <p:sp>
        <p:nvSpPr>
          <p:cNvPr id="23" name="Text 21"/>
          <p:cNvSpPr/>
          <p:nvPr/>
        </p:nvSpPr>
        <p:spPr>
          <a:xfrm>
            <a:off x="502920" y="245059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Metadata-Aware Filtering</a:t>
            </a:r>
            <a:endParaRPr lang="en-US" sz="1000" dirty="0"/>
          </a:p>
        </p:txBody>
      </p:sp>
      <p:sp>
        <p:nvSpPr>
          <p:cNvPr id="24" name="Text 22"/>
          <p:cNvSpPr/>
          <p:nvPr/>
        </p:nvSpPr>
        <p:spPr>
          <a:xfrm>
            <a:off x="3703320" y="245059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Per-assignment / workshop scope</a:t>
            </a:r>
            <a:endParaRPr lang="en-US" sz="1000" dirty="0"/>
          </a:p>
        </p:txBody>
      </p:sp>
      <p:sp>
        <p:nvSpPr>
          <p:cNvPr id="25" name="Text 23"/>
          <p:cNvSpPr/>
          <p:nvPr/>
        </p:nvSpPr>
        <p:spPr>
          <a:xfrm>
            <a:off x="6355080" y="245059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category, doc_code, source_file fields</a:t>
            </a:r>
            <a:endParaRPr lang="en-US" sz="1000" dirty="0"/>
          </a:p>
        </p:txBody>
      </p:sp>
      <p:sp>
        <p:nvSpPr>
          <p:cNvPr id="26" name="Shape 24"/>
          <p:cNvSpPr/>
          <p:nvPr/>
        </p:nvSpPr>
        <p:spPr>
          <a:xfrm>
            <a:off x="365760" y="2788920"/>
            <a:ext cx="8412480" cy="393192"/>
          </a:xfrm>
          <a:prstGeom prst="rect">
            <a:avLst/>
          </a:prstGeom>
          <a:solidFill>
            <a:srgbClr val="112240"/>
          </a:solidFill>
          <a:ln w="12700">
            <a:solidFill>
              <a:srgbClr val="112240"/>
            </a:solidFill>
            <a:prstDash val="solid"/>
          </a:ln>
        </p:spPr>
      </p:sp>
      <p:sp>
        <p:nvSpPr>
          <p:cNvPr id="27" name="Text 25"/>
          <p:cNvSpPr/>
          <p:nvPr/>
        </p:nvSpPr>
        <p:spPr>
          <a:xfrm>
            <a:off x="502920" y="286207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Multimodal Input</a:t>
            </a:r>
            <a:endParaRPr lang="en-US" sz="1000" dirty="0"/>
          </a:p>
        </p:txBody>
      </p:sp>
      <p:sp>
        <p:nvSpPr>
          <p:cNvPr id="28" name="Text 26"/>
          <p:cNvSpPr/>
          <p:nvPr/>
        </p:nvSpPr>
        <p:spPr>
          <a:xfrm>
            <a:off x="3703320" y="286207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Text + Image + Voice</a:t>
            </a:r>
            <a:endParaRPr lang="en-US" sz="1000" dirty="0"/>
          </a:p>
        </p:txBody>
      </p:sp>
      <p:sp>
        <p:nvSpPr>
          <p:cNvPr id="29" name="Text 27"/>
          <p:cNvSpPr/>
          <p:nvPr/>
        </p:nvSpPr>
        <p:spPr>
          <a:xfrm>
            <a:off x="6355080" y="286207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vision_engine.py + stt_engine.py</a:t>
            </a:r>
            <a:endParaRPr lang="en-US" sz="1000" dirty="0"/>
          </a:p>
        </p:txBody>
      </p:sp>
      <p:sp>
        <p:nvSpPr>
          <p:cNvPr id="30" name="Shape 28"/>
          <p:cNvSpPr/>
          <p:nvPr/>
        </p:nvSpPr>
        <p:spPr>
          <a:xfrm>
            <a:off x="365760" y="3200400"/>
            <a:ext cx="8412480" cy="393192"/>
          </a:xfrm>
          <a:prstGeom prst="rect">
            <a:avLst/>
          </a:prstGeom>
          <a:solidFill>
            <a:srgbClr val="0E1E38"/>
          </a:solidFill>
          <a:ln w="12700">
            <a:solidFill>
              <a:srgbClr val="0E1E38"/>
            </a:solidFill>
            <a:prstDash val="solid"/>
          </a:ln>
        </p:spPr>
      </p:sp>
      <p:sp>
        <p:nvSpPr>
          <p:cNvPr id="31" name="Text 29"/>
          <p:cNvSpPr/>
          <p:nvPr/>
        </p:nvSpPr>
        <p:spPr>
          <a:xfrm>
            <a:off x="502920" y="327355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Voice Output</a:t>
            </a:r>
            <a:endParaRPr lang="en-US" sz="1000" dirty="0"/>
          </a:p>
        </p:txBody>
      </p:sp>
      <p:sp>
        <p:nvSpPr>
          <p:cNvPr id="32" name="Text 30"/>
          <p:cNvSpPr/>
          <p:nvPr/>
        </p:nvSpPr>
        <p:spPr>
          <a:xfrm>
            <a:off x="3703320" y="327355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TTS with language auto-detect</a:t>
            </a:r>
            <a:endParaRPr lang="en-US" sz="1000" dirty="0"/>
          </a:p>
        </p:txBody>
      </p:sp>
      <p:sp>
        <p:nvSpPr>
          <p:cNvPr id="33" name="Text 31"/>
          <p:cNvSpPr/>
          <p:nvPr/>
        </p:nvSpPr>
        <p:spPr>
          <a:xfrm>
            <a:off x="6355080" y="327355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tts_engine.py — Vietnamese &amp; English</a:t>
            </a:r>
            <a:endParaRPr lang="en-US" sz="1000" dirty="0"/>
          </a:p>
        </p:txBody>
      </p:sp>
      <p:sp>
        <p:nvSpPr>
          <p:cNvPr id="34" name="Shape 32"/>
          <p:cNvSpPr/>
          <p:nvPr/>
        </p:nvSpPr>
        <p:spPr>
          <a:xfrm>
            <a:off x="365760" y="3611880"/>
            <a:ext cx="8412480" cy="393192"/>
          </a:xfrm>
          <a:prstGeom prst="rect">
            <a:avLst/>
          </a:prstGeom>
          <a:solidFill>
            <a:srgbClr val="112240"/>
          </a:solidFill>
          <a:ln w="12700">
            <a:solidFill>
              <a:srgbClr val="112240"/>
            </a:solidFill>
            <a:prstDash val="solid"/>
          </a:ln>
        </p:spPr>
      </p:sp>
      <p:sp>
        <p:nvSpPr>
          <p:cNvPr id="35" name="Text 33"/>
          <p:cNvSpPr/>
          <p:nvPr/>
        </p:nvSpPr>
        <p:spPr>
          <a:xfrm>
            <a:off x="502920" y="368503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Contextual Follow-ups</a:t>
            </a:r>
            <a:endParaRPr lang="en-US" sz="1000" dirty="0"/>
          </a:p>
        </p:txBody>
      </p:sp>
      <p:sp>
        <p:nvSpPr>
          <p:cNvPr id="36" name="Text 34"/>
          <p:cNvSpPr/>
          <p:nvPr/>
        </p:nvSpPr>
        <p:spPr>
          <a:xfrm>
            <a:off x="3703320" y="368503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Keeps exploration going</a:t>
            </a:r>
            <a:endParaRPr lang="en-US" sz="1000" dirty="0"/>
          </a:p>
        </p:txBody>
      </p:sp>
      <p:sp>
        <p:nvSpPr>
          <p:cNvPr id="37" name="Text 35"/>
          <p:cNvSpPr/>
          <p:nvPr/>
        </p:nvSpPr>
        <p:spPr>
          <a:xfrm>
            <a:off x="6355080" y="368503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followup_generator.py post-answer</a:t>
            </a:r>
            <a:endParaRPr lang="en-US" sz="1000" dirty="0"/>
          </a:p>
        </p:txBody>
      </p:sp>
      <p:sp>
        <p:nvSpPr>
          <p:cNvPr id="38" name="Shape 36"/>
          <p:cNvSpPr/>
          <p:nvPr/>
        </p:nvSpPr>
        <p:spPr>
          <a:xfrm>
            <a:off x="365760" y="4023360"/>
            <a:ext cx="8412480" cy="393192"/>
          </a:xfrm>
          <a:prstGeom prst="rect">
            <a:avLst/>
          </a:prstGeom>
          <a:solidFill>
            <a:srgbClr val="0E1E38"/>
          </a:solidFill>
          <a:ln w="12700">
            <a:solidFill>
              <a:srgbClr val="0E1E38"/>
            </a:solidFill>
            <a:prstDash val="solid"/>
          </a:ln>
        </p:spPr>
      </p:sp>
      <p:sp>
        <p:nvSpPr>
          <p:cNvPr id="39" name="Text 37"/>
          <p:cNvSpPr/>
          <p:nvPr/>
        </p:nvSpPr>
        <p:spPr>
          <a:xfrm>
            <a:off x="502920" y="409651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Off-topic Redirect</a:t>
            </a:r>
            <a:endParaRPr lang="en-US" sz="1000" dirty="0"/>
          </a:p>
        </p:txBody>
      </p:sp>
      <p:sp>
        <p:nvSpPr>
          <p:cNvPr id="40" name="Text 38"/>
          <p:cNvSpPr/>
          <p:nvPr/>
        </p:nvSpPr>
        <p:spPr>
          <a:xfrm>
            <a:off x="3703320" y="409651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Graceful boundary handling</a:t>
            </a:r>
            <a:endParaRPr lang="en-US" sz="1000" dirty="0"/>
          </a:p>
        </p:txBody>
      </p:sp>
      <p:sp>
        <p:nvSpPr>
          <p:cNvPr id="41" name="Text 39"/>
          <p:cNvSpPr/>
          <p:nvPr/>
        </p:nvSpPr>
        <p:spPr>
          <a:xfrm>
            <a:off x="6355080" y="409651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Agent prompt + redirect suggestions</a:t>
            </a:r>
            <a:endParaRPr lang="en-US" sz="1000" dirty="0"/>
          </a:p>
        </p:txBody>
      </p:sp>
      <p:sp>
        <p:nvSpPr>
          <p:cNvPr id="42" name="Shape 40"/>
          <p:cNvSpPr/>
          <p:nvPr/>
        </p:nvSpPr>
        <p:spPr>
          <a:xfrm>
            <a:off x="365760" y="4434840"/>
            <a:ext cx="8412480" cy="393192"/>
          </a:xfrm>
          <a:prstGeom prst="rect">
            <a:avLst/>
          </a:prstGeom>
          <a:solidFill>
            <a:srgbClr val="112240"/>
          </a:solidFill>
          <a:ln w="12700">
            <a:solidFill>
              <a:srgbClr val="112240"/>
            </a:solidFill>
            <a:prstDash val="solid"/>
          </a:ln>
        </p:spPr>
      </p:sp>
      <p:sp>
        <p:nvSpPr>
          <p:cNvPr id="43" name="Text 41"/>
          <p:cNvSpPr/>
          <p:nvPr/>
        </p:nvSpPr>
        <p:spPr>
          <a:xfrm>
            <a:off x="502920" y="4507992"/>
            <a:ext cx="3017520" cy="256032"/>
          </a:xfrm>
          <a:prstGeom prst="rect">
            <a:avLst/>
          </a:prstGeom>
          <a:noFill/>
          <a:ln/>
        </p:spPr>
        <p:txBody>
          <a:bodyPr wrap="square" rtlCol="0" anchor="ctr"/>
          <a:lstStyle/>
          <a:p>
            <a:pPr marL="0" indent="0">
              <a:buNone/>
            </a:pPr>
            <a:r>
              <a:rPr lang="en-US" sz="1000" b="1" dirty="0">
                <a:solidFill>
                  <a:srgbClr val="00C2CB"/>
                </a:solidFill>
                <a:latin typeface="Calibri" pitchFamily="34" charset="0"/>
                <a:ea typeface="Calibri" pitchFamily="34" charset="-122"/>
                <a:cs typeface="Calibri" pitchFamily="34" charset="-120"/>
              </a:rPr>
              <a:t>Bounded Memory</a:t>
            </a:r>
            <a:endParaRPr lang="en-US" sz="1000" dirty="0"/>
          </a:p>
        </p:txBody>
      </p:sp>
      <p:sp>
        <p:nvSpPr>
          <p:cNvPr id="44" name="Text 42"/>
          <p:cNvSpPr/>
          <p:nvPr/>
        </p:nvSpPr>
        <p:spPr>
          <a:xfrm>
            <a:off x="3703320" y="4507992"/>
            <a:ext cx="2468880" cy="25603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Context without token bloat</a:t>
            </a:r>
            <a:endParaRPr lang="en-US" sz="1000" dirty="0"/>
          </a:p>
        </p:txBody>
      </p:sp>
      <p:sp>
        <p:nvSpPr>
          <p:cNvPr id="45" name="Text 43"/>
          <p:cNvSpPr/>
          <p:nvPr/>
        </p:nvSpPr>
        <p:spPr>
          <a:xfrm>
            <a:off x="6355080" y="4507992"/>
            <a:ext cx="2377440" cy="256032"/>
          </a:xfrm>
          <a:prstGeom prst="rect">
            <a:avLst/>
          </a:prstGeom>
          <a:noFill/>
          <a:ln/>
        </p:spPr>
        <p:txBody>
          <a:bodyPr wrap="square" rtlCol="0" anchor="ctr"/>
          <a:lstStyle/>
          <a:p>
            <a:pPr marL="0" indent="0">
              <a:buNone/>
            </a:pPr>
            <a:r>
              <a:rPr lang="en-US" sz="1000" dirty="0">
                <a:solidFill>
                  <a:srgbClr val="A0B4CC"/>
                </a:solidFill>
                <a:latin typeface="Calibri" pitchFamily="34" charset="0"/>
                <a:ea typeface="Calibri" pitchFamily="34" charset="-122"/>
                <a:cs typeface="Calibri" pitchFamily="34" charset="-120"/>
              </a:rPr>
              <a:t>Sliding-window — 10 turns max</a:t>
            </a:r>
            <a:endParaRPr lang="en-US" sz="1000" dirty="0"/>
          </a:p>
        </p:txBody>
      </p:sp>
      <p:sp>
        <p:nvSpPr>
          <p:cNvPr id="46" name="Text 44"/>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9 / 13</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9FF"/>
          </a:solidFill>
          <a:ln w="12700">
            <a:solidFill>
              <a:srgbClr val="F5F9FF"/>
            </a:solidFill>
            <a:prstDash val="solid"/>
          </a:ln>
        </p:spPr>
      </p:sp>
      <p:sp>
        <p:nvSpPr>
          <p:cNvPr id="3" name="Shape 1"/>
          <p:cNvSpPr/>
          <p:nvPr/>
        </p:nvSpPr>
        <p:spPr>
          <a:xfrm>
            <a:off x="0" y="0"/>
            <a:ext cx="9144000" cy="868680"/>
          </a:xfrm>
          <a:prstGeom prst="rect">
            <a:avLst/>
          </a:prstGeom>
          <a:solidFill>
            <a:srgbClr val="0A1628"/>
          </a:solidFill>
          <a:ln w="12700">
            <a:solidFill>
              <a:srgbClr val="0A1628"/>
            </a:solidFill>
            <a:prstDash val="solid"/>
          </a:ln>
        </p:spPr>
      </p:sp>
      <p:sp>
        <p:nvSpPr>
          <p:cNvPr id="4" name="Shape 2"/>
          <p:cNvSpPr/>
          <p:nvPr/>
        </p:nvSpPr>
        <p:spPr>
          <a:xfrm>
            <a:off x="0" y="0"/>
            <a:ext cx="54864" cy="5143500"/>
          </a:xfrm>
          <a:prstGeom prst="rect">
            <a:avLst/>
          </a:prstGeom>
          <a:solidFill>
            <a:srgbClr val="00C2CB"/>
          </a:solidFill>
          <a:ln w="12700">
            <a:solidFill>
              <a:srgbClr val="00C2CB"/>
            </a:solidFill>
            <a:prstDash val="solid"/>
          </a:ln>
        </p:spPr>
      </p:sp>
      <p:sp>
        <p:nvSpPr>
          <p:cNvPr id="5" name="Text 3"/>
          <p:cNvSpPr/>
          <p:nvPr/>
        </p:nvSpPr>
        <p:spPr>
          <a:xfrm>
            <a:off x="457200" y="118872"/>
            <a:ext cx="4572000" cy="22860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TESTING &amp; QUALITY</a:t>
            </a:r>
            <a:endParaRPr lang="en-US" sz="900" dirty="0"/>
          </a:p>
        </p:txBody>
      </p:sp>
      <p:sp>
        <p:nvSpPr>
          <p:cNvPr id="6" name="Text 4"/>
          <p:cNvSpPr/>
          <p:nvPr/>
        </p:nvSpPr>
        <p:spPr>
          <a:xfrm>
            <a:off x="457200" y="411480"/>
            <a:ext cx="8229600" cy="365760"/>
          </a:xfrm>
          <a:prstGeom prst="rect">
            <a:avLst/>
          </a:prstGeom>
          <a:noFill/>
          <a:ln/>
        </p:spPr>
        <p:txBody>
          <a:bodyPr wrap="square"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Unit Tests · Integration · UI Tests</a:t>
            </a:r>
            <a:endParaRPr lang="en-US" sz="2300" dirty="0"/>
          </a:p>
        </p:txBody>
      </p:sp>
      <p:sp>
        <p:nvSpPr>
          <p:cNvPr id="7" name="Text 5"/>
          <p:cNvSpPr/>
          <p:nvPr/>
        </p:nvSpPr>
        <p:spPr>
          <a:xfrm>
            <a:off x="457200" y="960120"/>
            <a:ext cx="3931920" cy="201168"/>
          </a:xfrm>
          <a:prstGeom prst="rect">
            <a:avLst/>
          </a:prstGeom>
          <a:noFill/>
          <a:ln/>
        </p:spPr>
        <p:txBody>
          <a:bodyPr wrap="square" rtlCol="0" anchor="ctr"/>
          <a:lstStyle/>
          <a:p>
            <a:pPr marL="0" indent="0">
              <a:buNone/>
            </a:pPr>
            <a:r>
              <a:rPr lang="en-US" sz="900" b="1" kern="0" spc="100" dirty="0">
                <a:solidFill>
                  <a:srgbClr val="1A6ED8"/>
                </a:solidFill>
                <a:latin typeface="Calibri" pitchFamily="34" charset="0"/>
                <a:ea typeface="Calibri" pitchFamily="34" charset="-122"/>
                <a:cs typeface="Calibri" pitchFamily="34" charset="-120"/>
              </a:rPr>
              <a:t>TEST SUITES</a:t>
            </a:r>
            <a:endParaRPr lang="en-US" sz="900" dirty="0"/>
          </a:p>
        </p:txBody>
      </p:sp>
      <p:sp>
        <p:nvSpPr>
          <p:cNvPr id="8" name="Shape 6"/>
          <p:cNvSpPr/>
          <p:nvPr/>
        </p:nvSpPr>
        <p:spPr>
          <a:xfrm>
            <a:off x="457200" y="1188720"/>
            <a:ext cx="3931920" cy="512064"/>
          </a:xfrm>
          <a:prstGeom prst="roundRect">
            <a:avLst>
              <a:gd name="adj" fmla="val 14286"/>
            </a:avLst>
          </a:prstGeom>
          <a:solidFill>
            <a:srgbClr val="FFFFFF"/>
          </a:solidFill>
          <a:ln w="12700">
            <a:solidFill>
              <a:srgbClr val="D0DCF0"/>
            </a:solidFill>
            <a:prstDash val="solid"/>
          </a:ln>
        </p:spPr>
      </p:sp>
      <p:sp>
        <p:nvSpPr>
          <p:cNvPr id="9" name="Text 7"/>
          <p:cNvSpPr/>
          <p:nvPr/>
        </p:nvSpPr>
        <p:spPr>
          <a:xfrm>
            <a:off x="548640" y="1216152"/>
            <a:ext cx="274320" cy="256032"/>
          </a:xfrm>
          <a:prstGeom prst="rect">
            <a:avLst/>
          </a:prstGeom>
          <a:noFill/>
          <a:ln/>
        </p:spPr>
        <p:txBody>
          <a:bodyPr wrap="square" rtlCol="0" anchor="ctr"/>
          <a:lstStyle/>
          <a:p>
            <a:pPr marL="0" indent="0">
              <a:buNone/>
            </a:pPr>
            <a:r>
              <a:rPr lang="en-US" sz="1200" dirty="0">
                <a:solidFill>
                  <a:srgbClr val="1A6ED8"/>
                </a:solidFill>
                <a:latin typeface="Calibri" pitchFamily="34" charset="0"/>
                <a:ea typeface="Calibri" pitchFamily="34" charset="-122"/>
                <a:cs typeface="Calibri" pitchFamily="34" charset="-120"/>
              </a:rPr>
              <a:t>⬡</a:t>
            </a:r>
            <a:endParaRPr lang="en-US" sz="1200" dirty="0"/>
          </a:p>
        </p:txBody>
      </p:sp>
      <p:sp>
        <p:nvSpPr>
          <p:cNvPr id="10" name="Text 8"/>
          <p:cNvSpPr/>
          <p:nvPr/>
        </p:nvSpPr>
        <p:spPr>
          <a:xfrm>
            <a:off x="859536" y="1216152"/>
            <a:ext cx="3383280" cy="201168"/>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test_agent.py</a:t>
            </a:r>
            <a:endParaRPr lang="en-US" sz="1100" dirty="0"/>
          </a:p>
        </p:txBody>
      </p:sp>
      <p:sp>
        <p:nvSpPr>
          <p:cNvPr id="11" name="Text 9"/>
          <p:cNvSpPr/>
          <p:nvPr/>
        </p:nvSpPr>
        <p:spPr>
          <a:xfrm>
            <a:off x="859536" y="1417320"/>
            <a:ext cx="3383280" cy="201168"/>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ReAct agent behavior &amp; tool selection</a:t>
            </a:r>
            <a:endParaRPr lang="en-US" sz="1000" dirty="0"/>
          </a:p>
        </p:txBody>
      </p:sp>
      <p:sp>
        <p:nvSpPr>
          <p:cNvPr id="12" name="Shape 10"/>
          <p:cNvSpPr/>
          <p:nvPr/>
        </p:nvSpPr>
        <p:spPr>
          <a:xfrm>
            <a:off x="457200" y="1764792"/>
            <a:ext cx="3931920" cy="512064"/>
          </a:xfrm>
          <a:prstGeom prst="roundRect">
            <a:avLst>
              <a:gd name="adj" fmla="val 14286"/>
            </a:avLst>
          </a:prstGeom>
          <a:solidFill>
            <a:srgbClr val="FFFFFF"/>
          </a:solidFill>
          <a:ln w="12700">
            <a:solidFill>
              <a:srgbClr val="D0DCF0"/>
            </a:solidFill>
            <a:prstDash val="solid"/>
          </a:ln>
        </p:spPr>
      </p:sp>
      <p:sp>
        <p:nvSpPr>
          <p:cNvPr id="13" name="Text 11"/>
          <p:cNvSpPr/>
          <p:nvPr/>
        </p:nvSpPr>
        <p:spPr>
          <a:xfrm>
            <a:off x="548640" y="1792224"/>
            <a:ext cx="274320" cy="256032"/>
          </a:xfrm>
          <a:prstGeom prst="rect">
            <a:avLst/>
          </a:prstGeom>
          <a:noFill/>
          <a:ln/>
        </p:spPr>
        <p:txBody>
          <a:bodyPr wrap="square" rtlCol="0" anchor="ctr"/>
          <a:lstStyle/>
          <a:p>
            <a:pPr marL="0" indent="0">
              <a:buNone/>
            </a:pPr>
            <a:r>
              <a:rPr lang="en-US" sz="1200" dirty="0">
                <a:solidFill>
                  <a:srgbClr val="1A6ED8"/>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859536" y="1792224"/>
            <a:ext cx="3383280" cy="201168"/>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test_tools.py</a:t>
            </a:r>
            <a:endParaRPr lang="en-US" sz="1100" dirty="0"/>
          </a:p>
        </p:txBody>
      </p:sp>
      <p:sp>
        <p:nvSpPr>
          <p:cNvPr id="15" name="Text 13"/>
          <p:cNvSpPr/>
          <p:nvPr/>
        </p:nvSpPr>
        <p:spPr>
          <a:xfrm>
            <a:off x="859536" y="1993392"/>
            <a:ext cx="3383280" cy="201168"/>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search_course_knowledge &amp; Tavily routing</a:t>
            </a:r>
            <a:endParaRPr lang="en-US" sz="1000" dirty="0"/>
          </a:p>
        </p:txBody>
      </p:sp>
      <p:sp>
        <p:nvSpPr>
          <p:cNvPr id="16" name="Shape 14"/>
          <p:cNvSpPr/>
          <p:nvPr/>
        </p:nvSpPr>
        <p:spPr>
          <a:xfrm>
            <a:off x="457200" y="2340864"/>
            <a:ext cx="3931920" cy="512064"/>
          </a:xfrm>
          <a:prstGeom prst="roundRect">
            <a:avLst>
              <a:gd name="adj" fmla="val 14286"/>
            </a:avLst>
          </a:prstGeom>
          <a:solidFill>
            <a:srgbClr val="FFFFFF"/>
          </a:solidFill>
          <a:ln w="12700">
            <a:solidFill>
              <a:srgbClr val="D0DCF0"/>
            </a:solidFill>
            <a:prstDash val="solid"/>
          </a:ln>
        </p:spPr>
      </p:sp>
      <p:sp>
        <p:nvSpPr>
          <p:cNvPr id="17" name="Text 15"/>
          <p:cNvSpPr/>
          <p:nvPr/>
        </p:nvSpPr>
        <p:spPr>
          <a:xfrm>
            <a:off x="548640" y="2368296"/>
            <a:ext cx="274320" cy="256032"/>
          </a:xfrm>
          <a:prstGeom prst="rect">
            <a:avLst/>
          </a:prstGeom>
          <a:noFill/>
          <a:ln/>
        </p:spPr>
        <p:txBody>
          <a:bodyPr wrap="square" rtlCol="0" anchor="ctr"/>
          <a:lstStyle/>
          <a:p>
            <a:pPr marL="0" indent="0">
              <a:buNone/>
            </a:pPr>
            <a:r>
              <a:rPr lang="en-US" sz="1200" dirty="0">
                <a:solidFill>
                  <a:srgbClr val="1A6ED8"/>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859536" y="2368296"/>
            <a:ext cx="3383280" cy="201168"/>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test_prompts.py</a:t>
            </a:r>
            <a:endParaRPr lang="en-US" sz="1100" dirty="0"/>
          </a:p>
        </p:txBody>
      </p:sp>
      <p:sp>
        <p:nvSpPr>
          <p:cNvPr id="19" name="Text 17"/>
          <p:cNvSpPr/>
          <p:nvPr/>
        </p:nvSpPr>
        <p:spPr>
          <a:xfrm>
            <a:off x="859536" y="2569464"/>
            <a:ext cx="3383280" cy="201168"/>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Prompt template rendering &amp; edge cases</a:t>
            </a:r>
            <a:endParaRPr lang="en-US" sz="1000" dirty="0"/>
          </a:p>
        </p:txBody>
      </p:sp>
      <p:sp>
        <p:nvSpPr>
          <p:cNvPr id="20" name="Shape 18"/>
          <p:cNvSpPr/>
          <p:nvPr/>
        </p:nvSpPr>
        <p:spPr>
          <a:xfrm>
            <a:off x="457200" y="2916936"/>
            <a:ext cx="3931920" cy="512064"/>
          </a:xfrm>
          <a:prstGeom prst="roundRect">
            <a:avLst>
              <a:gd name="adj" fmla="val 14286"/>
            </a:avLst>
          </a:prstGeom>
          <a:solidFill>
            <a:srgbClr val="FFFFFF"/>
          </a:solidFill>
          <a:ln w="12700">
            <a:solidFill>
              <a:srgbClr val="D0DCF0"/>
            </a:solidFill>
            <a:prstDash val="solid"/>
          </a:ln>
        </p:spPr>
      </p:sp>
      <p:sp>
        <p:nvSpPr>
          <p:cNvPr id="21" name="Text 19"/>
          <p:cNvSpPr/>
          <p:nvPr/>
        </p:nvSpPr>
        <p:spPr>
          <a:xfrm>
            <a:off x="548640" y="2944368"/>
            <a:ext cx="274320" cy="256032"/>
          </a:xfrm>
          <a:prstGeom prst="rect">
            <a:avLst/>
          </a:prstGeom>
          <a:noFill/>
          <a:ln/>
        </p:spPr>
        <p:txBody>
          <a:bodyPr wrap="square" rtlCol="0" anchor="ctr"/>
          <a:lstStyle/>
          <a:p>
            <a:pPr marL="0" indent="0">
              <a:buNone/>
            </a:pPr>
            <a:r>
              <a:rPr lang="en-US" sz="1200" dirty="0">
                <a:solidFill>
                  <a:srgbClr val="1A6ED8"/>
                </a:solidFill>
                <a:latin typeface="Calibri" pitchFamily="34" charset="0"/>
                <a:ea typeface="Calibri" pitchFamily="34" charset="-122"/>
                <a:cs typeface="Calibri" pitchFamily="34" charset="-120"/>
              </a:rPr>
              <a:t>⬡</a:t>
            </a:r>
            <a:endParaRPr lang="en-US" sz="1200" dirty="0"/>
          </a:p>
        </p:txBody>
      </p:sp>
      <p:sp>
        <p:nvSpPr>
          <p:cNvPr id="22" name="Text 20"/>
          <p:cNvSpPr/>
          <p:nvPr/>
        </p:nvSpPr>
        <p:spPr>
          <a:xfrm>
            <a:off x="859536" y="2944368"/>
            <a:ext cx="3383280" cy="201168"/>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test_engines.py</a:t>
            </a:r>
            <a:endParaRPr lang="en-US" sz="1100" dirty="0"/>
          </a:p>
        </p:txBody>
      </p:sp>
      <p:sp>
        <p:nvSpPr>
          <p:cNvPr id="23" name="Text 21"/>
          <p:cNvSpPr/>
          <p:nvPr/>
        </p:nvSpPr>
        <p:spPr>
          <a:xfrm>
            <a:off x="859536" y="3145536"/>
            <a:ext cx="3383280" cy="201168"/>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STT, TTS, and Vision Engine behavior</a:t>
            </a:r>
            <a:endParaRPr lang="en-US" sz="1000" dirty="0"/>
          </a:p>
        </p:txBody>
      </p:sp>
      <p:sp>
        <p:nvSpPr>
          <p:cNvPr id="24" name="Shape 22"/>
          <p:cNvSpPr/>
          <p:nvPr/>
        </p:nvSpPr>
        <p:spPr>
          <a:xfrm>
            <a:off x="457200" y="3493008"/>
            <a:ext cx="3931920" cy="512064"/>
          </a:xfrm>
          <a:prstGeom prst="roundRect">
            <a:avLst>
              <a:gd name="adj" fmla="val 14286"/>
            </a:avLst>
          </a:prstGeom>
          <a:solidFill>
            <a:srgbClr val="FFFFFF"/>
          </a:solidFill>
          <a:ln w="12700">
            <a:solidFill>
              <a:srgbClr val="D0DCF0"/>
            </a:solidFill>
            <a:prstDash val="solid"/>
          </a:ln>
        </p:spPr>
      </p:sp>
      <p:sp>
        <p:nvSpPr>
          <p:cNvPr id="25" name="Text 23"/>
          <p:cNvSpPr/>
          <p:nvPr/>
        </p:nvSpPr>
        <p:spPr>
          <a:xfrm>
            <a:off x="548640" y="3520440"/>
            <a:ext cx="274320" cy="256032"/>
          </a:xfrm>
          <a:prstGeom prst="rect">
            <a:avLst/>
          </a:prstGeom>
          <a:noFill/>
          <a:ln/>
        </p:spPr>
        <p:txBody>
          <a:bodyPr wrap="square" rtlCol="0" anchor="ctr"/>
          <a:lstStyle/>
          <a:p>
            <a:pPr marL="0" indent="0">
              <a:buNone/>
            </a:pPr>
            <a:r>
              <a:rPr lang="en-US" sz="1200" dirty="0">
                <a:solidFill>
                  <a:srgbClr val="1A6ED8"/>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859536" y="3520440"/>
            <a:ext cx="3383280" cy="201168"/>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test_rag.py</a:t>
            </a:r>
            <a:endParaRPr lang="en-US" sz="1100" dirty="0"/>
          </a:p>
        </p:txBody>
      </p:sp>
      <p:sp>
        <p:nvSpPr>
          <p:cNvPr id="27" name="Text 25"/>
          <p:cNvSpPr/>
          <p:nvPr/>
        </p:nvSpPr>
        <p:spPr>
          <a:xfrm>
            <a:off x="859536" y="3721608"/>
            <a:ext cx="3383280" cy="201168"/>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Document processor &amp; vector store ops</a:t>
            </a:r>
            <a:endParaRPr lang="en-US" sz="1000" dirty="0"/>
          </a:p>
        </p:txBody>
      </p:sp>
      <p:sp>
        <p:nvSpPr>
          <p:cNvPr id="28" name="Shape 26"/>
          <p:cNvSpPr/>
          <p:nvPr/>
        </p:nvSpPr>
        <p:spPr>
          <a:xfrm>
            <a:off x="457200" y="4069080"/>
            <a:ext cx="3931920" cy="512064"/>
          </a:xfrm>
          <a:prstGeom prst="roundRect">
            <a:avLst>
              <a:gd name="adj" fmla="val 14286"/>
            </a:avLst>
          </a:prstGeom>
          <a:solidFill>
            <a:srgbClr val="FFFFFF"/>
          </a:solidFill>
          <a:ln w="12700">
            <a:solidFill>
              <a:srgbClr val="D0DCF0"/>
            </a:solidFill>
            <a:prstDash val="solid"/>
          </a:ln>
        </p:spPr>
      </p:sp>
      <p:sp>
        <p:nvSpPr>
          <p:cNvPr id="29" name="Text 27"/>
          <p:cNvSpPr/>
          <p:nvPr/>
        </p:nvSpPr>
        <p:spPr>
          <a:xfrm>
            <a:off x="548640" y="4096512"/>
            <a:ext cx="274320" cy="256032"/>
          </a:xfrm>
          <a:prstGeom prst="rect">
            <a:avLst/>
          </a:prstGeom>
          <a:noFill/>
          <a:ln/>
        </p:spPr>
        <p:txBody>
          <a:bodyPr wrap="square" rtlCol="0" anchor="ctr"/>
          <a:lstStyle/>
          <a:p>
            <a:pPr marL="0" indent="0">
              <a:buNone/>
            </a:pPr>
            <a:r>
              <a:rPr lang="en-US" sz="1200" dirty="0">
                <a:solidFill>
                  <a:srgbClr val="1A6ED8"/>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859536" y="4096512"/>
            <a:ext cx="3383280" cy="201168"/>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test_app.py</a:t>
            </a:r>
            <a:endParaRPr lang="en-US" sz="1100" dirty="0"/>
          </a:p>
        </p:txBody>
      </p:sp>
      <p:sp>
        <p:nvSpPr>
          <p:cNvPr id="31" name="Text 29"/>
          <p:cNvSpPr/>
          <p:nvPr/>
        </p:nvSpPr>
        <p:spPr>
          <a:xfrm>
            <a:off x="859536" y="4297680"/>
            <a:ext cx="3383280" cy="201168"/>
          </a:xfrm>
          <a:prstGeom prst="rect">
            <a:avLst/>
          </a:prstGeom>
          <a:noFill/>
          <a:ln/>
        </p:spPr>
        <p:txBody>
          <a:bodyPr wrap="square" rtlCol="0" anchor="ctr"/>
          <a:lstStyle/>
          <a:p>
            <a:pPr marL="0" indent="0">
              <a:buNone/>
            </a:pPr>
            <a:r>
              <a:rPr lang="en-US" sz="1000" dirty="0">
                <a:solidFill>
                  <a:srgbClr val="4A6080"/>
                </a:solidFill>
                <a:latin typeface="Calibri" pitchFamily="34" charset="0"/>
                <a:ea typeface="Calibri" pitchFamily="34" charset="-122"/>
                <a:cs typeface="Calibri" pitchFamily="34" charset="-120"/>
              </a:rPr>
              <a:t>Streamlit AppTest — UI flows end-to-end</a:t>
            </a:r>
            <a:endParaRPr lang="en-US" sz="1000" dirty="0"/>
          </a:p>
        </p:txBody>
      </p:sp>
      <p:sp>
        <p:nvSpPr>
          <p:cNvPr id="32" name="Text 30"/>
          <p:cNvSpPr/>
          <p:nvPr/>
        </p:nvSpPr>
        <p:spPr>
          <a:xfrm>
            <a:off x="4663440" y="960120"/>
            <a:ext cx="4023360" cy="201168"/>
          </a:xfrm>
          <a:prstGeom prst="rect">
            <a:avLst/>
          </a:prstGeom>
          <a:noFill/>
          <a:ln/>
        </p:spPr>
        <p:txBody>
          <a:bodyPr wrap="square" rtlCol="0" anchor="ctr"/>
          <a:lstStyle/>
          <a:p>
            <a:pPr marL="0" indent="0">
              <a:buNone/>
            </a:pPr>
            <a:r>
              <a:rPr lang="en-US" sz="900" b="1" kern="0" spc="100" dirty="0">
                <a:solidFill>
                  <a:srgbClr val="00C2CB"/>
                </a:solidFill>
                <a:latin typeface="Calibri" pitchFamily="34" charset="0"/>
                <a:ea typeface="Calibri" pitchFamily="34" charset="-122"/>
                <a:cs typeface="Calibri" pitchFamily="34" charset="-120"/>
              </a:rPr>
              <a:t>KEY TEST CASES</a:t>
            </a:r>
            <a:endParaRPr lang="en-US" sz="900" dirty="0"/>
          </a:p>
        </p:txBody>
      </p:sp>
      <p:sp>
        <p:nvSpPr>
          <p:cNvPr id="33" name="Shape 31"/>
          <p:cNvSpPr/>
          <p:nvPr/>
        </p:nvSpPr>
        <p:spPr>
          <a:xfrm>
            <a:off x="4663440" y="1188720"/>
            <a:ext cx="4023360" cy="320040"/>
          </a:xfrm>
          <a:prstGeom prst="roundRect">
            <a:avLst>
              <a:gd name="adj" fmla="val 20000"/>
            </a:avLst>
          </a:prstGeom>
          <a:solidFill>
            <a:srgbClr val="FFFFFF"/>
          </a:solidFill>
          <a:ln w="12700">
            <a:solidFill>
              <a:srgbClr val="D0DCF0"/>
            </a:solidFill>
            <a:prstDash val="solid"/>
          </a:ln>
        </p:spPr>
      </p:sp>
      <p:sp>
        <p:nvSpPr>
          <p:cNvPr id="34" name="Text 32"/>
          <p:cNvSpPr/>
          <p:nvPr/>
        </p:nvSpPr>
        <p:spPr>
          <a:xfrm>
            <a:off x="4754880" y="1216152"/>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Internal course question retrieval</a:t>
            </a:r>
            <a:endParaRPr lang="en-US" sz="1000" dirty="0"/>
          </a:p>
        </p:txBody>
      </p:sp>
      <p:sp>
        <p:nvSpPr>
          <p:cNvPr id="35" name="Shape 33"/>
          <p:cNvSpPr/>
          <p:nvPr/>
        </p:nvSpPr>
        <p:spPr>
          <a:xfrm>
            <a:off x="4663440" y="1545336"/>
            <a:ext cx="4023360" cy="320040"/>
          </a:xfrm>
          <a:prstGeom prst="roundRect">
            <a:avLst>
              <a:gd name="adj" fmla="val 20000"/>
            </a:avLst>
          </a:prstGeom>
          <a:solidFill>
            <a:srgbClr val="FFFFFF"/>
          </a:solidFill>
          <a:ln w="12700">
            <a:solidFill>
              <a:srgbClr val="D0DCF0"/>
            </a:solidFill>
            <a:prstDash val="solid"/>
          </a:ln>
        </p:spPr>
      </p:sp>
      <p:sp>
        <p:nvSpPr>
          <p:cNvPr id="36" name="Text 34"/>
          <p:cNvSpPr/>
          <p:nvPr/>
        </p:nvSpPr>
        <p:spPr>
          <a:xfrm>
            <a:off x="4754880" y="1572768"/>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Follow-up with maintained context</a:t>
            </a:r>
            <a:endParaRPr lang="en-US" sz="1000" dirty="0"/>
          </a:p>
        </p:txBody>
      </p:sp>
      <p:sp>
        <p:nvSpPr>
          <p:cNvPr id="37" name="Shape 35"/>
          <p:cNvSpPr/>
          <p:nvPr/>
        </p:nvSpPr>
        <p:spPr>
          <a:xfrm>
            <a:off x="4663440" y="1901952"/>
            <a:ext cx="4023360" cy="320040"/>
          </a:xfrm>
          <a:prstGeom prst="roundRect">
            <a:avLst>
              <a:gd name="adj" fmla="val 20000"/>
            </a:avLst>
          </a:prstGeom>
          <a:solidFill>
            <a:srgbClr val="FFFFFF"/>
          </a:solidFill>
          <a:ln w="12700">
            <a:solidFill>
              <a:srgbClr val="D0DCF0"/>
            </a:solidFill>
            <a:prstDash val="solid"/>
          </a:ln>
        </p:spPr>
      </p:sp>
      <p:sp>
        <p:nvSpPr>
          <p:cNvPr id="38" name="Text 36"/>
          <p:cNvSpPr/>
          <p:nvPr/>
        </p:nvSpPr>
        <p:spPr>
          <a:xfrm>
            <a:off x="4754880" y="1929384"/>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Off-topic question → redirect response</a:t>
            </a:r>
            <a:endParaRPr lang="en-US" sz="1000" dirty="0"/>
          </a:p>
        </p:txBody>
      </p:sp>
      <p:sp>
        <p:nvSpPr>
          <p:cNvPr id="39" name="Shape 37"/>
          <p:cNvSpPr/>
          <p:nvPr/>
        </p:nvSpPr>
        <p:spPr>
          <a:xfrm>
            <a:off x="4663440" y="2258568"/>
            <a:ext cx="4023360" cy="320040"/>
          </a:xfrm>
          <a:prstGeom prst="roundRect">
            <a:avLst>
              <a:gd name="adj" fmla="val 20000"/>
            </a:avLst>
          </a:prstGeom>
          <a:solidFill>
            <a:srgbClr val="FFFFFF"/>
          </a:solidFill>
          <a:ln w="12700">
            <a:solidFill>
              <a:srgbClr val="D0DCF0"/>
            </a:solidFill>
            <a:prstDash val="solid"/>
          </a:ln>
        </p:spPr>
      </p:sp>
      <p:sp>
        <p:nvSpPr>
          <p:cNvPr id="40" name="Text 38"/>
          <p:cNvSpPr/>
          <p:nvPr/>
        </p:nvSpPr>
        <p:spPr>
          <a:xfrm>
            <a:off x="4754880" y="2286000"/>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Empty retrieval fallback behavior</a:t>
            </a:r>
            <a:endParaRPr lang="en-US" sz="1000" dirty="0"/>
          </a:p>
        </p:txBody>
      </p:sp>
      <p:sp>
        <p:nvSpPr>
          <p:cNvPr id="41" name="Shape 39"/>
          <p:cNvSpPr/>
          <p:nvPr/>
        </p:nvSpPr>
        <p:spPr>
          <a:xfrm>
            <a:off x="4663440" y="2615184"/>
            <a:ext cx="4023360" cy="320040"/>
          </a:xfrm>
          <a:prstGeom prst="roundRect">
            <a:avLst>
              <a:gd name="adj" fmla="val 20000"/>
            </a:avLst>
          </a:prstGeom>
          <a:solidFill>
            <a:srgbClr val="FFFFFF"/>
          </a:solidFill>
          <a:ln w="12700">
            <a:solidFill>
              <a:srgbClr val="D0DCF0"/>
            </a:solidFill>
            <a:prstDash val="solid"/>
          </a:ln>
        </p:spPr>
      </p:sp>
      <p:sp>
        <p:nvSpPr>
          <p:cNvPr id="42" name="Text 40"/>
          <p:cNvSpPr/>
          <p:nvPr/>
        </p:nvSpPr>
        <p:spPr>
          <a:xfrm>
            <a:off x="4754880" y="2642616"/>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Invalid metadata filter handling</a:t>
            </a:r>
            <a:endParaRPr lang="en-US" sz="1000" dirty="0"/>
          </a:p>
        </p:txBody>
      </p:sp>
      <p:sp>
        <p:nvSpPr>
          <p:cNvPr id="43" name="Shape 41"/>
          <p:cNvSpPr/>
          <p:nvPr/>
        </p:nvSpPr>
        <p:spPr>
          <a:xfrm>
            <a:off x="4663440" y="2971800"/>
            <a:ext cx="4023360" cy="320040"/>
          </a:xfrm>
          <a:prstGeom prst="roundRect">
            <a:avLst>
              <a:gd name="adj" fmla="val 20000"/>
            </a:avLst>
          </a:prstGeom>
          <a:solidFill>
            <a:srgbClr val="FFFFFF"/>
          </a:solidFill>
          <a:ln w="12700">
            <a:solidFill>
              <a:srgbClr val="D0DCF0"/>
            </a:solidFill>
            <a:prstDash val="solid"/>
          </a:ln>
        </p:spPr>
      </p:sp>
      <p:sp>
        <p:nvSpPr>
          <p:cNvPr id="44" name="Text 42"/>
          <p:cNvSpPr/>
          <p:nvPr/>
        </p:nvSpPr>
        <p:spPr>
          <a:xfrm>
            <a:off x="4754880" y="2999232"/>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Multimodal image input flow</a:t>
            </a:r>
            <a:endParaRPr lang="en-US" sz="1000" dirty="0"/>
          </a:p>
        </p:txBody>
      </p:sp>
      <p:sp>
        <p:nvSpPr>
          <p:cNvPr id="45" name="Shape 43"/>
          <p:cNvSpPr/>
          <p:nvPr/>
        </p:nvSpPr>
        <p:spPr>
          <a:xfrm>
            <a:off x="4663440" y="3328416"/>
            <a:ext cx="4023360" cy="320040"/>
          </a:xfrm>
          <a:prstGeom prst="roundRect">
            <a:avLst>
              <a:gd name="adj" fmla="val 20000"/>
            </a:avLst>
          </a:prstGeom>
          <a:solidFill>
            <a:srgbClr val="FFFFFF"/>
          </a:solidFill>
          <a:ln w="12700">
            <a:solidFill>
              <a:srgbClr val="D0DCF0"/>
            </a:solidFill>
            <a:prstDash val="solid"/>
          </a:ln>
        </p:spPr>
      </p:sp>
      <p:sp>
        <p:nvSpPr>
          <p:cNvPr id="46" name="Text 44"/>
          <p:cNvSpPr/>
          <p:nvPr/>
        </p:nvSpPr>
        <p:spPr>
          <a:xfrm>
            <a:off x="4754880" y="3355848"/>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TTS / STT behavior with mocked API</a:t>
            </a:r>
            <a:endParaRPr lang="en-US" sz="1000" dirty="0"/>
          </a:p>
        </p:txBody>
      </p:sp>
      <p:sp>
        <p:nvSpPr>
          <p:cNvPr id="47" name="Shape 45"/>
          <p:cNvSpPr/>
          <p:nvPr/>
        </p:nvSpPr>
        <p:spPr>
          <a:xfrm>
            <a:off x="4663440" y="3685032"/>
            <a:ext cx="4023360" cy="320040"/>
          </a:xfrm>
          <a:prstGeom prst="roundRect">
            <a:avLst>
              <a:gd name="adj" fmla="val 20000"/>
            </a:avLst>
          </a:prstGeom>
          <a:solidFill>
            <a:srgbClr val="FFFFFF"/>
          </a:solidFill>
          <a:ln w="12700">
            <a:solidFill>
              <a:srgbClr val="D0DCF0"/>
            </a:solidFill>
            <a:prstDash val="solid"/>
          </a:ln>
        </p:spPr>
      </p:sp>
      <p:sp>
        <p:nvSpPr>
          <p:cNvPr id="48" name="Text 46"/>
          <p:cNvSpPr/>
          <p:nvPr/>
        </p:nvSpPr>
        <p:spPr>
          <a:xfrm>
            <a:off x="4754880" y="3712464"/>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Source aggregation from metadata</a:t>
            </a:r>
            <a:endParaRPr lang="en-US" sz="1000" dirty="0"/>
          </a:p>
        </p:txBody>
      </p:sp>
      <p:sp>
        <p:nvSpPr>
          <p:cNvPr id="49" name="Shape 47"/>
          <p:cNvSpPr/>
          <p:nvPr/>
        </p:nvSpPr>
        <p:spPr>
          <a:xfrm>
            <a:off x="4663440" y="4041648"/>
            <a:ext cx="4023360" cy="320040"/>
          </a:xfrm>
          <a:prstGeom prst="roundRect">
            <a:avLst>
              <a:gd name="adj" fmla="val 20000"/>
            </a:avLst>
          </a:prstGeom>
          <a:solidFill>
            <a:srgbClr val="FFFFFF"/>
          </a:solidFill>
          <a:ln w="12700">
            <a:solidFill>
              <a:srgbClr val="D0DCF0"/>
            </a:solidFill>
            <a:prstDash val="solid"/>
          </a:ln>
        </p:spPr>
      </p:sp>
      <p:sp>
        <p:nvSpPr>
          <p:cNvPr id="50" name="Text 48"/>
          <p:cNvSpPr/>
          <p:nvPr/>
        </p:nvSpPr>
        <p:spPr>
          <a:xfrm>
            <a:off x="4754880" y="4069080"/>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Sliding-window memory (10 turns)</a:t>
            </a:r>
            <a:endParaRPr lang="en-US" sz="1000" dirty="0"/>
          </a:p>
        </p:txBody>
      </p:sp>
      <p:sp>
        <p:nvSpPr>
          <p:cNvPr id="51" name="Shape 49"/>
          <p:cNvSpPr/>
          <p:nvPr/>
        </p:nvSpPr>
        <p:spPr>
          <a:xfrm>
            <a:off x="4663440" y="4398264"/>
            <a:ext cx="4023360" cy="320040"/>
          </a:xfrm>
          <a:prstGeom prst="roundRect">
            <a:avLst>
              <a:gd name="adj" fmla="val 20000"/>
            </a:avLst>
          </a:prstGeom>
          <a:solidFill>
            <a:srgbClr val="FFFFFF"/>
          </a:solidFill>
          <a:ln w="12700">
            <a:solidFill>
              <a:srgbClr val="D0DCF0"/>
            </a:solidFill>
            <a:prstDash val="solid"/>
          </a:ln>
        </p:spPr>
      </p:sp>
      <p:sp>
        <p:nvSpPr>
          <p:cNvPr id="52" name="Text 50"/>
          <p:cNvSpPr/>
          <p:nvPr/>
        </p:nvSpPr>
        <p:spPr>
          <a:xfrm>
            <a:off x="4754880" y="4425696"/>
            <a:ext cx="3840480" cy="256032"/>
          </a:xfrm>
          <a:prstGeom prst="rect">
            <a:avLst/>
          </a:prstGeom>
          <a:noFill/>
          <a:ln/>
        </p:spPr>
        <p:txBody>
          <a:bodyPr wrap="square" rtlCol="0" anchor="ctr"/>
          <a:lstStyle/>
          <a:p>
            <a:pPr marL="0" indent="0">
              <a:buNone/>
            </a:pPr>
            <a:r>
              <a:rPr lang="en-US" sz="1000" dirty="0">
                <a:solidFill>
                  <a:srgbClr val="0A1628"/>
                </a:solidFill>
                <a:latin typeface="Calibri" pitchFamily="34" charset="0"/>
                <a:ea typeface="Calibri" pitchFamily="34" charset="-122"/>
                <a:cs typeface="Calibri" pitchFamily="34" charset="-120"/>
              </a:rPr>
              <a:t>✅ Starter questions on session start</a:t>
            </a:r>
            <a:endParaRPr lang="en-US" sz="1000" dirty="0"/>
          </a:p>
        </p:txBody>
      </p:sp>
      <p:sp>
        <p:nvSpPr>
          <p:cNvPr id="54" name="Text 52"/>
          <p:cNvSpPr/>
          <p:nvPr/>
        </p:nvSpPr>
        <p:spPr>
          <a:xfrm>
            <a:off x="640080" y="4663440"/>
            <a:ext cx="7863840" cy="292608"/>
          </a:xfrm>
          <a:prstGeom prst="rect">
            <a:avLst/>
          </a:prstGeom>
          <a:noFill/>
          <a:ln/>
        </p:spPr>
        <p:txBody>
          <a:bodyPr wrap="square" rtlCol="0" anchor="ctr"/>
          <a:lstStyle/>
          <a:p>
            <a:pPr marL="0" indent="0" algn="l">
              <a:buNone/>
            </a:pPr>
            <a:endParaRPr lang="en-US" sz="1000" dirty="0"/>
          </a:p>
        </p:txBody>
      </p:sp>
      <p:sp>
        <p:nvSpPr>
          <p:cNvPr id="55" name="Text 53"/>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0B4CC"/>
                </a:solidFill>
                <a:latin typeface="Calibri" pitchFamily="34" charset="0"/>
                <a:ea typeface="Calibri" pitchFamily="34" charset="-122"/>
                <a:cs typeface="Calibri" pitchFamily="34" charset="-120"/>
              </a:rPr>
              <a:t>10 / 13</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0588"/>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Text 2"/>
          <p:cNvSpPr/>
          <p:nvPr/>
        </p:nvSpPr>
        <p:spPr>
          <a:xfrm>
            <a:off x="457200" y="73152"/>
            <a:ext cx="8229600" cy="201168"/>
          </a:xfrm>
          <a:prstGeom prst="rect">
            <a:avLst/>
          </a:prstGeom>
          <a:noFill/>
          <a:ln/>
        </p:spPr>
        <p:txBody>
          <a:bodyPr wrap="square" rtlCol="0" anchor="ctr"/>
          <a:lstStyle/>
          <a:p>
            <a:pPr marL="0" indent="0" algn="l">
              <a:buNone/>
            </a:pPr>
            <a:r>
              <a:rPr lang="en-US" sz="900" b="1" kern="0" spc="200" dirty="0">
                <a:solidFill>
                  <a:srgbClr val="00C2CB"/>
                </a:solidFill>
                <a:latin typeface="Calibri" pitchFamily="34" charset="0"/>
                <a:ea typeface="Calibri" pitchFamily="34" charset="-122"/>
                <a:cs typeface="Calibri" pitchFamily="34" charset="-120"/>
              </a:rPr>
              <a:t>DEMO SCRIPT · 3–5 MIN</a:t>
            </a:r>
            <a:endParaRPr lang="en-US" sz="900" dirty="0"/>
          </a:p>
        </p:txBody>
      </p:sp>
      <p:sp>
        <p:nvSpPr>
          <p:cNvPr id="5" name="Text 3"/>
          <p:cNvSpPr/>
          <p:nvPr/>
        </p:nvSpPr>
        <p:spPr>
          <a:xfrm>
            <a:off x="457200" y="256032"/>
            <a:ext cx="8229600" cy="4114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Live Demo Walkthrough</a:t>
            </a:r>
            <a:endParaRPr lang="en-US" sz="2800" dirty="0"/>
          </a:p>
        </p:txBody>
      </p:sp>
      <p:sp>
        <p:nvSpPr>
          <p:cNvPr id="6" name="Shape 4"/>
          <p:cNvSpPr/>
          <p:nvPr/>
        </p:nvSpPr>
        <p:spPr>
          <a:xfrm>
            <a:off x="365760" y="804672"/>
            <a:ext cx="8412480" cy="621792"/>
          </a:xfrm>
          <a:prstGeom prst="roundRect">
            <a:avLst>
              <a:gd name="adj" fmla="val 11765"/>
            </a:avLst>
          </a:prstGeom>
          <a:solidFill>
            <a:srgbClr val="112240"/>
          </a:solidFill>
          <a:ln w="12700">
            <a:solidFill>
              <a:srgbClr val="1E3A5F"/>
            </a:solidFill>
            <a:prstDash val="solid"/>
          </a:ln>
        </p:spPr>
      </p:sp>
      <p:sp>
        <p:nvSpPr>
          <p:cNvPr id="7" name="Shape 5"/>
          <p:cNvSpPr/>
          <p:nvPr/>
        </p:nvSpPr>
        <p:spPr>
          <a:xfrm>
            <a:off x="411480" y="914400"/>
            <a:ext cx="804672" cy="201168"/>
          </a:xfrm>
          <a:prstGeom prst="roundRect">
            <a:avLst>
              <a:gd name="adj" fmla="val 27273"/>
            </a:avLst>
          </a:prstGeom>
          <a:solidFill>
            <a:srgbClr val="00C2CB"/>
          </a:solidFill>
          <a:ln w="12700">
            <a:solidFill>
              <a:srgbClr val="00C2CB"/>
            </a:solidFill>
            <a:prstDash val="solid"/>
          </a:ln>
        </p:spPr>
      </p:sp>
      <p:sp>
        <p:nvSpPr>
          <p:cNvPr id="8" name="Text 6"/>
          <p:cNvSpPr/>
          <p:nvPr/>
        </p:nvSpPr>
        <p:spPr>
          <a:xfrm>
            <a:off x="411480" y="914400"/>
            <a:ext cx="804672" cy="201168"/>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0:00–0:30</a:t>
            </a:r>
            <a:endParaRPr lang="en-US" sz="800" dirty="0"/>
          </a:p>
        </p:txBody>
      </p:sp>
      <p:sp>
        <p:nvSpPr>
          <p:cNvPr id="9" name="Text 7"/>
          <p:cNvSpPr/>
          <p:nvPr/>
        </p:nvSpPr>
        <p:spPr>
          <a:xfrm>
            <a:off x="1298448" y="859536"/>
            <a:ext cx="2926080" cy="219456"/>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Open Streamlit App</a:t>
            </a:r>
            <a:endParaRPr lang="en-US" sz="1000" dirty="0"/>
          </a:p>
        </p:txBody>
      </p:sp>
      <p:sp>
        <p:nvSpPr>
          <p:cNvPr id="10" name="Text 8"/>
          <p:cNvSpPr/>
          <p:nvPr/>
        </p:nvSpPr>
        <p:spPr>
          <a:xfrm>
            <a:off x="1298448" y="1115568"/>
            <a:ext cx="2926080" cy="256032"/>
          </a:xfrm>
          <a:prstGeom prst="rect">
            <a:avLst/>
          </a:prstGeom>
          <a:noFill/>
          <a:ln/>
        </p:spPr>
        <p:txBody>
          <a:bodyPr wrap="square" rtlCol="0" anchor="ctr"/>
          <a:lstStyle/>
          <a:p>
            <a:pPr marL="0" indent="0">
              <a:buNone/>
            </a:pPr>
            <a:r>
              <a:rPr lang="en-US" sz="900" dirty="0">
                <a:solidFill>
                  <a:srgbClr val="A0B4CC"/>
                </a:solidFill>
                <a:latin typeface="Calibri" pitchFamily="34" charset="0"/>
                <a:ea typeface="Calibri" pitchFamily="34" charset="-122"/>
                <a:cs typeface="Calibri" pitchFamily="34" charset="-120"/>
              </a:rPr>
              <a:t>👁 Starter questions shown — "What is Assignment 10 about?"</a:t>
            </a:r>
            <a:endParaRPr lang="en-US" sz="900" dirty="0"/>
          </a:p>
        </p:txBody>
      </p:sp>
      <p:sp>
        <p:nvSpPr>
          <p:cNvPr id="11" name="Shape 9"/>
          <p:cNvSpPr/>
          <p:nvPr/>
        </p:nvSpPr>
        <p:spPr>
          <a:xfrm>
            <a:off x="4297680" y="877824"/>
            <a:ext cx="0" cy="475488"/>
          </a:xfrm>
          <a:prstGeom prst="line">
            <a:avLst/>
          </a:prstGeom>
          <a:noFill/>
          <a:ln w="12700">
            <a:solidFill>
              <a:srgbClr val="2A4060"/>
            </a:solidFill>
            <a:prstDash val="solid"/>
          </a:ln>
        </p:spPr>
      </p:sp>
      <p:sp>
        <p:nvSpPr>
          <p:cNvPr id="12" name="Text 10"/>
          <p:cNvSpPr/>
          <p:nvPr/>
        </p:nvSpPr>
        <p:spPr>
          <a:xfrm>
            <a:off x="4407408" y="896112"/>
            <a:ext cx="4206240" cy="457200"/>
          </a:xfrm>
          <a:prstGeom prst="rect">
            <a:avLst/>
          </a:prstGeom>
          <a:noFill/>
          <a:ln/>
        </p:spPr>
        <p:txBody>
          <a:bodyPr wrap="square" rtlCol="0" anchor="ctr"/>
          <a:lstStyle/>
          <a:p>
            <a:pPr marL="0" indent="0">
              <a:buNone/>
            </a:pPr>
            <a:r>
              <a:rPr lang="en-US" sz="1000" i="1" dirty="0">
                <a:solidFill>
                  <a:srgbClr val="00C2CB"/>
                </a:solidFill>
                <a:latin typeface="Calibri" pitchFamily="34" charset="0"/>
                <a:ea typeface="Calibri" pitchFamily="34" charset="-122"/>
                <a:cs typeface="Calibri" pitchFamily="34" charset="-120"/>
              </a:rPr>
              <a:t>💬 Zero friction — the assistant suggests where to start.</a:t>
            </a:r>
            <a:endParaRPr lang="en-US" sz="1000" dirty="0"/>
          </a:p>
        </p:txBody>
      </p:sp>
      <p:sp>
        <p:nvSpPr>
          <p:cNvPr id="13" name="Shape 11"/>
          <p:cNvSpPr/>
          <p:nvPr/>
        </p:nvSpPr>
        <p:spPr>
          <a:xfrm>
            <a:off x="365760" y="1490472"/>
            <a:ext cx="8412480" cy="621792"/>
          </a:xfrm>
          <a:prstGeom prst="roundRect">
            <a:avLst>
              <a:gd name="adj" fmla="val 11765"/>
            </a:avLst>
          </a:prstGeom>
          <a:solidFill>
            <a:srgbClr val="112240"/>
          </a:solidFill>
          <a:ln w="12700">
            <a:solidFill>
              <a:srgbClr val="1E3A5F"/>
            </a:solidFill>
            <a:prstDash val="solid"/>
          </a:ln>
        </p:spPr>
      </p:sp>
      <p:sp>
        <p:nvSpPr>
          <p:cNvPr id="14" name="Shape 12"/>
          <p:cNvSpPr/>
          <p:nvPr/>
        </p:nvSpPr>
        <p:spPr>
          <a:xfrm>
            <a:off x="411480" y="1600200"/>
            <a:ext cx="804672" cy="201168"/>
          </a:xfrm>
          <a:prstGeom prst="roundRect">
            <a:avLst>
              <a:gd name="adj" fmla="val 27273"/>
            </a:avLst>
          </a:prstGeom>
          <a:solidFill>
            <a:srgbClr val="00C2CB"/>
          </a:solidFill>
          <a:ln w="12700">
            <a:solidFill>
              <a:srgbClr val="00C2CB"/>
            </a:solidFill>
            <a:prstDash val="solid"/>
          </a:ln>
        </p:spPr>
      </p:sp>
      <p:sp>
        <p:nvSpPr>
          <p:cNvPr id="15" name="Text 13"/>
          <p:cNvSpPr/>
          <p:nvPr/>
        </p:nvSpPr>
        <p:spPr>
          <a:xfrm>
            <a:off x="411480" y="1600200"/>
            <a:ext cx="804672" cy="201168"/>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0:30–1:15</a:t>
            </a:r>
            <a:endParaRPr lang="en-US" sz="800" dirty="0"/>
          </a:p>
        </p:txBody>
      </p:sp>
      <p:sp>
        <p:nvSpPr>
          <p:cNvPr id="16" name="Text 14"/>
          <p:cNvSpPr/>
          <p:nvPr/>
        </p:nvSpPr>
        <p:spPr>
          <a:xfrm>
            <a:off x="1298448" y="1545336"/>
            <a:ext cx="2926080" cy="219456"/>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Ask: "Assignment 10 yêu cầu cấu hình Pinecone như thế nào?"</a:t>
            </a:r>
            <a:endParaRPr lang="en-US" sz="1000" dirty="0"/>
          </a:p>
        </p:txBody>
      </p:sp>
      <p:sp>
        <p:nvSpPr>
          <p:cNvPr id="17" name="Text 15"/>
          <p:cNvSpPr/>
          <p:nvPr/>
        </p:nvSpPr>
        <p:spPr>
          <a:xfrm>
            <a:off x="1298448" y="1801368"/>
            <a:ext cx="2926080" cy="256032"/>
          </a:xfrm>
          <a:prstGeom prst="rect">
            <a:avLst/>
          </a:prstGeom>
          <a:noFill/>
          <a:ln/>
        </p:spPr>
        <p:txBody>
          <a:bodyPr wrap="square" rtlCol="0" anchor="ctr"/>
          <a:lstStyle/>
          <a:p>
            <a:pPr marL="0" indent="0">
              <a:buNone/>
            </a:pPr>
            <a:r>
              <a:rPr lang="en-US" sz="900" dirty="0">
                <a:solidFill>
                  <a:srgbClr val="A0B4CC"/>
                </a:solidFill>
                <a:latin typeface="Calibri" pitchFamily="34" charset="0"/>
                <a:ea typeface="Calibri" pitchFamily="34" charset="-122"/>
                <a:cs typeface="Calibri" pitchFamily="34" charset="-120"/>
              </a:rPr>
              <a:t>👁 Execution Steps &amp; Tool Calls panel → answer + filename + page number</a:t>
            </a:r>
            <a:endParaRPr lang="en-US" sz="900" dirty="0"/>
          </a:p>
        </p:txBody>
      </p:sp>
      <p:sp>
        <p:nvSpPr>
          <p:cNvPr id="18" name="Shape 16"/>
          <p:cNvSpPr/>
          <p:nvPr/>
        </p:nvSpPr>
        <p:spPr>
          <a:xfrm>
            <a:off x="4297680" y="1563624"/>
            <a:ext cx="0" cy="475488"/>
          </a:xfrm>
          <a:prstGeom prst="line">
            <a:avLst/>
          </a:prstGeom>
          <a:noFill/>
          <a:ln w="12700">
            <a:solidFill>
              <a:srgbClr val="2A4060"/>
            </a:solidFill>
            <a:prstDash val="solid"/>
          </a:ln>
        </p:spPr>
      </p:sp>
      <p:sp>
        <p:nvSpPr>
          <p:cNvPr id="19" name="Text 17"/>
          <p:cNvSpPr/>
          <p:nvPr/>
        </p:nvSpPr>
        <p:spPr>
          <a:xfrm>
            <a:off x="4407408" y="1581912"/>
            <a:ext cx="4206240" cy="457200"/>
          </a:xfrm>
          <a:prstGeom prst="rect">
            <a:avLst/>
          </a:prstGeom>
          <a:noFill/>
          <a:ln/>
        </p:spPr>
        <p:txBody>
          <a:bodyPr wrap="square" rtlCol="0" anchor="ctr"/>
          <a:lstStyle/>
          <a:p>
            <a:pPr marL="0" indent="0">
              <a:buNone/>
            </a:pPr>
            <a:r>
              <a:rPr lang="en-US" sz="1000" i="1" dirty="0">
                <a:solidFill>
                  <a:srgbClr val="00C2CB"/>
                </a:solidFill>
                <a:latin typeface="Calibri" pitchFamily="34" charset="0"/>
                <a:ea typeface="Calibri" pitchFamily="34" charset="-122"/>
                <a:cs typeface="Calibri" pitchFamily="34" charset="-120"/>
              </a:rPr>
              <a:t>💬 Every answer is traceable to a source. No hallucination.</a:t>
            </a:r>
            <a:endParaRPr lang="en-US" sz="1000" dirty="0"/>
          </a:p>
        </p:txBody>
      </p:sp>
      <p:sp>
        <p:nvSpPr>
          <p:cNvPr id="20" name="Shape 18"/>
          <p:cNvSpPr/>
          <p:nvPr/>
        </p:nvSpPr>
        <p:spPr>
          <a:xfrm>
            <a:off x="365760" y="2176272"/>
            <a:ext cx="8412480" cy="621792"/>
          </a:xfrm>
          <a:prstGeom prst="roundRect">
            <a:avLst>
              <a:gd name="adj" fmla="val 11765"/>
            </a:avLst>
          </a:prstGeom>
          <a:solidFill>
            <a:srgbClr val="112240"/>
          </a:solidFill>
          <a:ln w="12700">
            <a:solidFill>
              <a:srgbClr val="1E3A5F"/>
            </a:solidFill>
            <a:prstDash val="solid"/>
          </a:ln>
        </p:spPr>
      </p:sp>
      <p:sp>
        <p:nvSpPr>
          <p:cNvPr id="21" name="Shape 19"/>
          <p:cNvSpPr/>
          <p:nvPr/>
        </p:nvSpPr>
        <p:spPr>
          <a:xfrm>
            <a:off x="411480" y="2286000"/>
            <a:ext cx="804672" cy="201168"/>
          </a:xfrm>
          <a:prstGeom prst="roundRect">
            <a:avLst>
              <a:gd name="adj" fmla="val 27273"/>
            </a:avLst>
          </a:prstGeom>
          <a:solidFill>
            <a:srgbClr val="00C2CB"/>
          </a:solidFill>
          <a:ln w="12700">
            <a:solidFill>
              <a:srgbClr val="00C2CB"/>
            </a:solidFill>
            <a:prstDash val="solid"/>
          </a:ln>
        </p:spPr>
      </p:sp>
      <p:sp>
        <p:nvSpPr>
          <p:cNvPr id="22" name="Text 20"/>
          <p:cNvSpPr/>
          <p:nvPr/>
        </p:nvSpPr>
        <p:spPr>
          <a:xfrm>
            <a:off x="411480" y="2286000"/>
            <a:ext cx="804672" cy="201168"/>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1:15–1:45</a:t>
            </a:r>
            <a:endParaRPr lang="en-US" sz="800" dirty="0"/>
          </a:p>
        </p:txBody>
      </p:sp>
      <p:sp>
        <p:nvSpPr>
          <p:cNvPr id="23" name="Text 21"/>
          <p:cNvSpPr/>
          <p:nvPr/>
        </p:nvSpPr>
        <p:spPr>
          <a:xfrm>
            <a:off x="1298448" y="2231136"/>
            <a:ext cx="2926080" cy="219456"/>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Click a follow-up suggestion</a:t>
            </a:r>
            <a:endParaRPr lang="en-US" sz="1000" dirty="0"/>
          </a:p>
        </p:txBody>
      </p:sp>
      <p:sp>
        <p:nvSpPr>
          <p:cNvPr id="24" name="Text 22"/>
          <p:cNvSpPr/>
          <p:nvPr/>
        </p:nvSpPr>
        <p:spPr>
          <a:xfrm>
            <a:off x="1298448" y="2487168"/>
            <a:ext cx="2926080" cy="256032"/>
          </a:xfrm>
          <a:prstGeom prst="rect">
            <a:avLst/>
          </a:prstGeom>
          <a:noFill/>
          <a:ln/>
        </p:spPr>
        <p:txBody>
          <a:bodyPr wrap="square" rtlCol="0" anchor="ctr"/>
          <a:lstStyle/>
          <a:p>
            <a:pPr marL="0" indent="0">
              <a:buNone/>
            </a:pPr>
            <a:r>
              <a:rPr lang="en-US" sz="900" dirty="0">
                <a:solidFill>
                  <a:srgbClr val="A0B4CC"/>
                </a:solidFill>
                <a:latin typeface="Calibri" pitchFamily="34" charset="0"/>
                <a:ea typeface="Calibri" pitchFamily="34" charset="-122"/>
                <a:cs typeface="Calibri" pitchFamily="34" charset="-120"/>
              </a:rPr>
              <a:t>👁 Context maintained — no re-stating the question</a:t>
            </a:r>
            <a:endParaRPr lang="en-US" sz="900" dirty="0"/>
          </a:p>
        </p:txBody>
      </p:sp>
      <p:sp>
        <p:nvSpPr>
          <p:cNvPr id="25" name="Shape 23"/>
          <p:cNvSpPr/>
          <p:nvPr/>
        </p:nvSpPr>
        <p:spPr>
          <a:xfrm>
            <a:off x="4297680" y="2249424"/>
            <a:ext cx="0" cy="475488"/>
          </a:xfrm>
          <a:prstGeom prst="line">
            <a:avLst/>
          </a:prstGeom>
          <a:noFill/>
          <a:ln w="12700">
            <a:solidFill>
              <a:srgbClr val="2A4060"/>
            </a:solidFill>
            <a:prstDash val="solid"/>
          </a:ln>
        </p:spPr>
      </p:sp>
      <p:sp>
        <p:nvSpPr>
          <p:cNvPr id="26" name="Text 24"/>
          <p:cNvSpPr/>
          <p:nvPr/>
        </p:nvSpPr>
        <p:spPr>
          <a:xfrm>
            <a:off x="4407408" y="2267712"/>
            <a:ext cx="4206240" cy="457200"/>
          </a:xfrm>
          <a:prstGeom prst="rect">
            <a:avLst/>
          </a:prstGeom>
          <a:noFill/>
          <a:ln/>
        </p:spPr>
        <p:txBody>
          <a:bodyPr wrap="square" rtlCol="0" anchor="ctr"/>
          <a:lstStyle/>
          <a:p>
            <a:pPr marL="0" indent="0">
              <a:buNone/>
            </a:pPr>
            <a:r>
              <a:rPr lang="en-US" sz="1000" i="1" dirty="0">
                <a:solidFill>
                  <a:srgbClr val="00C2CB"/>
                </a:solidFill>
                <a:latin typeface="Calibri" pitchFamily="34" charset="0"/>
                <a:ea typeface="Calibri" pitchFamily="34" charset="-122"/>
                <a:cs typeface="Calibri" pitchFamily="34" charset="-120"/>
              </a:rPr>
              <a:t>💬 Sliding-window memory keeps the conversation natural.</a:t>
            </a:r>
            <a:endParaRPr lang="en-US" sz="1000" dirty="0"/>
          </a:p>
        </p:txBody>
      </p:sp>
      <p:sp>
        <p:nvSpPr>
          <p:cNvPr id="27" name="Shape 25"/>
          <p:cNvSpPr/>
          <p:nvPr/>
        </p:nvSpPr>
        <p:spPr>
          <a:xfrm>
            <a:off x="365760" y="2862072"/>
            <a:ext cx="8412480" cy="621792"/>
          </a:xfrm>
          <a:prstGeom prst="roundRect">
            <a:avLst>
              <a:gd name="adj" fmla="val 11765"/>
            </a:avLst>
          </a:prstGeom>
          <a:solidFill>
            <a:srgbClr val="112240"/>
          </a:solidFill>
          <a:ln w="12700">
            <a:solidFill>
              <a:srgbClr val="1E3A5F"/>
            </a:solidFill>
            <a:prstDash val="solid"/>
          </a:ln>
        </p:spPr>
      </p:sp>
      <p:sp>
        <p:nvSpPr>
          <p:cNvPr id="28" name="Shape 26"/>
          <p:cNvSpPr/>
          <p:nvPr/>
        </p:nvSpPr>
        <p:spPr>
          <a:xfrm>
            <a:off x="411480" y="2971800"/>
            <a:ext cx="804672" cy="201168"/>
          </a:xfrm>
          <a:prstGeom prst="roundRect">
            <a:avLst>
              <a:gd name="adj" fmla="val 27273"/>
            </a:avLst>
          </a:prstGeom>
          <a:solidFill>
            <a:srgbClr val="00C2CB"/>
          </a:solidFill>
          <a:ln w="12700">
            <a:solidFill>
              <a:srgbClr val="00C2CB"/>
            </a:solidFill>
            <a:prstDash val="solid"/>
          </a:ln>
        </p:spPr>
      </p:sp>
      <p:sp>
        <p:nvSpPr>
          <p:cNvPr id="29" name="Text 27"/>
          <p:cNvSpPr/>
          <p:nvPr/>
        </p:nvSpPr>
        <p:spPr>
          <a:xfrm>
            <a:off x="411480" y="2971800"/>
            <a:ext cx="804672" cy="201168"/>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1:45–2:30</a:t>
            </a:r>
            <a:endParaRPr lang="en-US" sz="800" dirty="0"/>
          </a:p>
        </p:txBody>
      </p:sp>
      <p:sp>
        <p:nvSpPr>
          <p:cNvPr id="30" name="Text 28"/>
          <p:cNvSpPr/>
          <p:nvPr/>
        </p:nvSpPr>
        <p:spPr>
          <a:xfrm>
            <a:off x="1298448" y="2916936"/>
            <a:ext cx="2926080" cy="219456"/>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Upload a screenshot of an error / architecture diagram</a:t>
            </a:r>
            <a:endParaRPr lang="en-US" sz="1000" dirty="0"/>
          </a:p>
        </p:txBody>
      </p:sp>
      <p:sp>
        <p:nvSpPr>
          <p:cNvPr id="31" name="Text 29"/>
          <p:cNvSpPr/>
          <p:nvPr/>
        </p:nvSpPr>
        <p:spPr>
          <a:xfrm>
            <a:off x="1298448" y="3172968"/>
            <a:ext cx="2926080" cy="256032"/>
          </a:xfrm>
          <a:prstGeom prst="rect">
            <a:avLst/>
          </a:prstGeom>
          <a:noFill/>
          <a:ln/>
        </p:spPr>
        <p:txBody>
          <a:bodyPr wrap="square" rtlCol="0" anchor="ctr"/>
          <a:lstStyle/>
          <a:p>
            <a:pPr marL="0" indent="0">
              <a:buNone/>
            </a:pPr>
            <a:r>
              <a:rPr lang="en-US" sz="900" dirty="0">
                <a:solidFill>
                  <a:srgbClr val="A0B4CC"/>
                </a:solidFill>
                <a:latin typeface="Calibri" pitchFamily="34" charset="0"/>
                <a:ea typeface="Calibri" pitchFamily="34" charset="-122"/>
                <a:cs typeface="Calibri" pitchFamily="34" charset="-120"/>
              </a:rPr>
              <a:t>👁 Vision Engine analysis appears in the reply</a:t>
            </a:r>
            <a:endParaRPr lang="en-US" sz="900" dirty="0"/>
          </a:p>
        </p:txBody>
      </p:sp>
      <p:sp>
        <p:nvSpPr>
          <p:cNvPr id="32" name="Shape 30"/>
          <p:cNvSpPr/>
          <p:nvPr/>
        </p:nvSpPr>
        <p:spPr>
          <a:xfrm>
            <a:off x="4297680" y="2935224"/>
            <a:ext cx="0" cy="475488"/>
          </a:xfrm>
          <a:prstGeom prst="line">
            <a:avLst/>
          </a:prstGeom>
          <a:noFill/>
          <a:ln w="12700">
            <a:solidFill>
              <a:srgbClr val="2A4060"/>
            </a:solidFill>
            <a:prstDash val="solid"/>
          </a:ln>
        </p:spPr>
      </p:sp>
      <p:sp>
        <p:nvSpPr>
          <p:cNvPr id="33" name="Text 31"/>
          <p:cNvSpPr/>
          <p:nvPr/>
        </p:nvSpPr>
        <p:spPr>
          <a:xfrm>
            <a:off x="4407408" y="2953512"/>
            <a:ext cx="4206240" cy="457200"/>
          </a:xfrm>
          <a:prstGeom prst="rect">
            <a:avLst/>
          </a:prstGeom>
          <a:noFill/>
          <a:ln/>
        </p:spPr>
        <p:txBody>
          <a:bodyPr wrap="square" rtlCol="0" anchor="ctr"/>
          <a:lstStyle/>
          <a:p>
            <a:pPr marL="0" indent="0">
              <a:buNone/>
            </a:pPr>
            <a:r>
              <a:rPr lang="en-US" sz="1000" i="1" dirty="0">
                <a:solidFill>
                  <a:srgbClr val="00C2CB"/>
                </a:solidFill>
                <a:latin typeface="Calibri" pitchFamily="34" charset="0"/>
                <a:ea typeface="Calibri" pitchFamily="34" charset="-122"/>
                <a:cs typeface="Calibri" pitchFamily="34" charset="-120"/>
              </a:rPr>
              <a:t>💬 Multimodal — students can share what they actually see.</a:t>
            </a:r>
            <a:endParaRPr lang="en-US" sz="1000" dirty="0"/>
          </a:p>
        </p:txBody>
      </p:sp>
      <p:sp>
        <p:nvSpPr>
          <p:cNvPr id="34" name="Shape 32"/>
          <p:cNvSpPr/>
          <p:nvPr/>
        </p:nvSpPr>
        <p:spPr>
          <a:xfrm>
            <a:off x="365760" y="3547872"/>
            <a:ext cx="8412480" cy="621792"/>
          </a:xfrm>
          <a:prstGeom prst="roundRect">
            <a:avLst>
              <a:gd name="adj" fmla="val 11765"/>
            </a:avLst>
          </a:prstGeom>
          <a:solidFill>
            <a:srgbClr val="112240"/>
          </a:solidFill>
          <a:ln w="12700">
            <a:solidFill>
              <a:srgbClr val="1E3A5F"/>
            </a:solidFill>
            <a:prstDash val="solid"/>
          </a:ln>
        </p:spPr>
      </p:sp>
      <p:sp>
        <p:nvSpPr>
          <p:cNvPr id="35" name="Shape 33"/>
          <p:cNvSpPr/>
          <p:nvPr/>
        </p:nvSpPr>
        <p:spPr>
          <a:xfrm>
            <a:off x="411480" y="3657600"/>
            <a:ext cx="804672" cy="201168"/>
          </a:xfrm>
          <a:prstGeom prst="roundRect">
            <a:avLst>
              <a:gd name="adj" fmla="val 27273"/>
            </a:avLst>
          </a:prstGeom>
          <a:solidFill>
            <a:srgbClr val="00C2CB"/>
          </a:solidFill>
          <a:ln w="12700">
            <a:solidFill>
              <a:srgbClr val="00C2CB"/>
            </a:solidFill>
            <a:prstDash val="solid"/>
          </a:ln>
        </p:spPr>
      </p:sp>
      <p:sp>
        <p:nvSpPr>
          <p:cNvPr id="36" name="Text 34"/>
          <p:cNvSpPr/>
          <p:nvPr/>
        </p:nvSpPr>
        <p:spPr>
          <a:xfrm>
            <a:off x="411480" y="3657600"/>
            <a:ext cx="804672" cy="201168"/>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2:30–3:00</a:t>
            </a:r>
            <a:endParaRPr lang="en-US" sz="800" dirty="0"/>
          </a:p>
        </p:txBody>
      </p:sp>
      <p:sp>
        <p:nvSpPr>
          <p:cNvPr id="37" name="Text 35"/>
          <p:cNvSpPr/>
          <p:nvPr/>
        </p:nvSpPr>
        <p:spPr>
          <a:xfrm>
            <a:off x="1298448" y="3602736"/>
            <a:ext cx="2926080" cy="219456"/>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Ask via microphone (if environment supports)</a:t>
            </a:r>
            <a:endParaRPr lang="en-US" sz="1000" dirty="0"/>
          </a:p>
        </p:txBody>
      </p:sp>
      <p:sp>
        <p:nvSpPr>
          <p:cNvPr id="38" name="Text 36"/>
          <p:cNvSpPr/>
          <p:nvPr/>
        </p:nvSpPr>
        <p:spPr>
          <a:xfrm>
            <a:off x="1298448" y="3858768"/>
            <a:ext cx="2926080" cy="256032"/>
          </a:xfrm>
          <a:prstGeom prst="rect">
            <a:avLst/>
          </a:prstGeom>
          <a:noFill/>
          <a:ln/>
        </p:spPr>
        <p:txBody>
          <a:bodyPr wrap="square" rtlCol="0" anchor="ctr"/>
          <a:lstStyle/>
          <a:p>
            <a:pPr marL="0" indent="0">
              <a:buNone/>
            </a:pPr>
            <a:r>
              <a:rPr lang="en-US" sz="900" dirty="0">
                <a:solidFill>
                  <a:srgbClr val="A0B4CC"/>
                </a:solidFill>
                <a:latin typeface="Calibri" pitchFamily="34" charset="0"/>
                <a:ea typeface="Calibri" pitchFamily="34" charset="-122"/>
                <a:cs typeface="Calibri" pitchFamily="34" charset="-120"/>
              </a:rPr>
              <a:t>👁 STT transcription → answer → TTS audio output</a:t>
            </a:r>
            <a:endParaRPr lang="en-US" sz="900" dirty="0"/>
          </a:p>
        </p:txBody>
      </p:sp>
      <p:sp>
        <p:nvSpPr>
          <p:cNvPr id="39" name="Shape 37"/>
          <p:cNvSpPr/>
          <p:nvPr/>
        </p:nvSpPr>
        <p:spPr>
          <a:xfrm>
            <a:off x="4297680" y="3621024"/>
            <a:ext cx="0" cy="475488"/>
          </a:xfrm>
          <a:prstGeom prst="line">
            <a:avLst/>
          </a:prstGeom>
          <a:noFill/>
          <a:ln w="12700">
            <a:solidFill>
              <a:srgbClr val="2A4060"/>
            </a:solidFill>
            <a:prstDash val="solid"/>
          </a:ln>
        </p:spPr>
      </p:sp>
      <p:sp>
        <p:nvSpPr>
          <p:cNvPr id="40" name="Text 38"/>
          <p:cNvSpPr/>
          <p:nvPr/>
        </p:nvSpPr>
        <p:spPr>
          <a:xfrm>
            <a:off x="4407408" y="3639312"/>
            <a:ext cx="4206240" cy="457200"/>
          </a:xfrm>
          <a:prstGeom prst="rect">
            <a:avLst/>
          </a:prstGeom>
          <a:noFill/>
          <a:ln/>
        </p:spPr>
        <p:txBody>
          <a:bodyPr wrap="square" rtlCol="0" anchor="ctr"/>
          <a:lstStyle/>
          <a:p>
            <a:pPr marL="0" indent="0">
              <a:buNone/>
            </a:pPr>
            <a:r>
              <a:rPr lang="en-US" sz="1000" i="1" dirty="0">
                <a:solidFill>
                  <a:srgbClr val="00C2CB"/>
                </a:solidFill>
                <a:latin typeface="Calibri" pitchFamily="34" charset="0"/>
                <a:ea typeface="Calibri" pitchFamily="34" charset="-122"/>
                <a:cs typeface="Calibri" pitchFamily="34" charset="-120"/>
              </a:rPr>
              <a:t>💬 Voice-first learning support in Vietnamese &amp; English.</a:t>
            </a:r>
            <a:endParaRPr lang="en-US" sz="1000" dirty="0"/>
          </a:p>
        </p:txBody>
      </p:sp>
      <p:sp>
        <p:nvSpPr>
          <p:cNvPr id="41" name="Shape 39"/>
          <p:cNvSpPr/>
          <p:nvPr/>
        </p:nvSpPr>
        <p:spPr>
          <a:xfrm>
            <a:off x="365760" y="4233672"/>
            <a:ext cx="8412480" cy="621792"/>
          </a:xfrm>
          <a:prstGeom prst="roundRect">
            <a:avLst>
              <a:gd name="adj" fmla="val 11765"/>
            </a:avLst>
          </a:prstGeom>
          <a:solidFill>
            <a:srgbClr val="112240"/>
          </a:solidFill>
          <a:ln w="12700">
            <a:solidFill>
              <a:srgbClr val="1E3A5F"/>
            </a:solidFill>
            <a:prstDash val="solid"/>
          </a:ln>
        </p:spPr>
      </p:sp>
      <p:sp>
        <p:nvSpPr>
          <p:cNvPr id="42" name="Shape 40"/>
          <p:cNvSpPr/>
          <p:nvPr/>
        </p:nvSpPr>
        <p:spPr>
          <a:xfrm>
            <a:off x="411480" y="4343400"/>
            <a:ext cx="804672" cy="201168"/>
          </a:xfrm>
          <a:prstGeom prst="roundRect">
            <a:avLst>
              <a:gd name="adj" fmla="val 27273"/>
            </a:avLst>
          </a:prstGeom>
          <a:solidFill>
            <a:srgbClr val="00C2CB"/>
          </a:solidFill>
          <a:ln w="12700">
            <a:solidFill>
              <a:srgbClr val="00C2CB"/>
            </a:solidFill>
            <a:prstDash val="solid"/>
          </a:ln>
        </p:spPr>
      </p:sp>
      <p:sp>
        <p:nvSpPr>
          <p:cNvPr id="43" name="Text 41"/>
          <p:cNvSpPr/>
          <p:nvPr/>
        </p:nvSpPr>
        <p:spPr>
          <a:xfrm>
            <a:off x="411480" y="4343400"/>
            <a:ext cx="804672" cy="201168"/>
          </a:xfrm>
          <a:prstGeom prst="rect">
            <a:avLst/>
          </a:prstGeom>
          <a:noFill/>
          <a:ln/>
        </p:spPr>
        <p:txBody>
          <a:bodyPr wrap="square" lIns="0" tIns="0" rIns="0" bIns="0" rtlCol="0" anchor="ctr"/>
          <a:lstStyle/>
          <a:p>
            <a:pPr marL="0" indent="0" algn="ctr">
              <a:buNone/>
            </a:pPr>
            <a:r>
              <a:rPr lang="en-US" sz="800" b="1" dirty="0">
                <a:solidFill>
                  <a:srgbClr val="0A1628"/>
                </a:solidFill>
                <a:latin typeface="Calibri" pitchFamily="34" charset="0"/>
                <a:ea typeface="Calibri" pitchFamily="34" charset="-122"/>
                <a:cs typeface="Calibri" pitchFamily="34" charset="-120"/>
              </a:rPr>
              <a:t>3:00–3:30</a:t>
            </a:r>
            <a:endParaRPr lang="en-US" sz="800" dirty="0"/>
          </a:p>
        </p:txBody>
      </p:sp>
      <p:sp>
        <p:nvSpPr>
          <p:cNvPr id="44" name="Text 42"/>
          <p:cNvSpPr/>
          <p:nvPr/>
        </p:nvSpPr>
        <p:spPr>
          <a:xfrm>
            <a:off x="1298448" y="4288536"/>
            <a:ext cx="2926080" cy="219456"/>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Ask an off-topic question (e.g. stock prices)</a:t>
            </a:r>
            <a:endParaRPr lang="en-US" sz="1000" dirty="0"/>
          </a:p>
        </p:txBody>
      </p:sp>
      <p:sp>
        <p:nvSpPr>
          <p:cNvPr id="45" name="Text 43"/>
          <p:cNvSpPr/>
          <p:nvPr/>
        </p:nvSpPr>
        <p:spPr>
          <a:xfrm>
            <a:off x="1298448" y="4544568"/>
            <a:ext cx="2926080" cy="256032"/>
          </a:xfrm>
          <a:prstGeom prst="rect">
            <a:avLst/>
          </a:prstGeom>
          <a:noFill/>
          <a:ln/>
        </p:spPr>
        <p:txBody>
          <a:bodyPr wrap="square" rtlCol="0" anchor="ctr"/>
          <a:lstStyle/>
          <a:p>
            <a:pPr marL="0" indent="0">
              <a:buNone/>
            </a:pPr>
            <a:r>
              <a:rPr lang="en-US" sz="900" dirty="0">
                <a:solidFill>
                  <a:srgbClr val="A0B4CC"/>
                </a:solidFill>
                <a:latin typeface="Calibri" pitchFamily="34" charset="0"/>
                <a:ea typeface="Calibri" pitchFamily="34" charset="-122"/>
                <a:cs typeface="Calibri" pitchFamily="34" charset="-120"/>
              </a:rPr>
              <a:t>👁 Graceful redirect response with course-related suggestion</a:t>
            </a:r>
            <a:endParaRPr lang="en-US" sz="900" dirty="0"/>
          </a:p>
        </p:txBody>
      </p:sp>
      <p:sp>
        <p:nvSpPr>
          <p:cNvPr id="46" name="Shape 44"/>
          <p:cNvSpPr/>
          <p:nvPr/>
        </p:nvSpPr>
        <p:spPr>
          <a:xfrm>
            <a:off x="4297680" y="4306824"/>
            <a:ext cx="0" cy="475488"/>
          </a:xfrm>
          <a:prstGeom prst="line">
            <a:avLst/>
          </a:prstGeom>
          <a:noFill/>
          <a:ln w="12700">
            <a:solidFill>
              <a:srgbClr val="2A4060"/>
            </a:solidFill>
            <a:prstDash val="solid"/>
          </a:ln>
        </p:spPr>
      </p:sp>
      <p:sp>
        <p:nvSpPr>
          <p:cNvPr id="47" name="Text 45"/>
          <p:cNvSpPr/>
          <p:nvPr/>
        </p:nvSpPr>
        <p:spPr>
          <a:xfrm>
            <a:off x="4407408" y="4325112"/>
            <a:ext cx="4206240" cy="457200"/>
          </a:xfrm>
          <a:prstGeom prst="rect">
            <a:avLst/>
          </a:prstGeom>
          <a:noFill/>
          <a:ln/>
        </p:spPr>
        <p:txBody>
          <a:bodyPr wrap="square" rtlCol="0" anchor="ctr"/>
          <a:lstStyle/>
          <a:p>
            <a:pPr marL="0" indent="0">
              <a:buNone/>
            </a:pPr>
            <a:r>
              <a:rPr lang="en-US" sz="1000" i="1" dirty="0">
                <a:solidFill>
                  <a:srgbClr val="00C2CB"/>
                </a:solidFill>
                <a:latin typeface="Calibri" pitchFamily="34" charset="0"/>
                <a:ea typeface="Calibri" pitchFamily="34" charset="-122"/>
                <a:cs typeface="Calibri" pitchFamily="34" charset="-120"/>
              </a:rPr>
              <a:t>💬 Production quality — the assistant knows its scope.</a:t>
            </a:r>
            <a:endParaRPr lang="en-US" sz="1000" dirty="0"/>
          </a:p>
        </p:txBody>
      </p:sp>
      <p:sp>
        <p:nvSpPr>
          <p:cNvPr id="49" name="Text 47"/>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11 / 13</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9FF"/>
          </a:solidFill>
          <a:ln w="12700">
            <a:solidFill>
              <a:srgbClr val="F5F9FF"/>
            </a:solidFill>
            <a:prstDash val="solid"/>
          </a:ln>
        </p:spPr>
      </p:sp>
      <p:sp>
        <p:nvSpPr>
          <p:cNvPr id="3" name="Shape 1"/>
          <p:cNvSpPr/>
          <p:nvPr/>
        </p:nvSpPr>
        <p:spPr>
          <a:xfrm>
            <a:off x="0" y="0"/>
            <a:ext cx="9144000" cy="868680"/>
          </a:xfrm>
          <a:prstGeom prst="rect">
            <a:avLst/>
          </a:prstGeom>
          <a:solidFill>
            <a:srgbClr val="0A1628"/>
          </a:solidFill>
          <a:ln w="12700">
            <a:solidFill>
              <a:srgbClr val="0A1628"/>
            </a:solidFill>
            <a:prstDash val="solid"/>
          </a:ln>
        </p:spPr>
      </p:sp>
      <p:sp>
        <p:nvSpPr>
          <p:cNvPr id="4" name="Shape 2"/>
          <p:cNvSpPr/>
          <p:nvPr/>
        </p:nvSpPr>
        <p:spPr>
          <a:xfrm>
            <a:off x="0" y="0"/>
            <a:ext cx="54864" cy="5143500"/>
          </a:xfrm>
          <a:prstGeom prst="rect">
            <a:avLst/>
          </a:prstGeom>
          <a:solidFill>
            <a:srgbClr val="00C2CB"/>
          </a:solidFill>
          <a:ln w="12700">
            <a:solidFill>
              <a:srgbClr val="00C2CB"/>
            </a:solidFill>
            <a:prstDash val="solid"/>
          </a:ln>
        </p:spPr>
      </p:sp>
      <p:sp>
        <p:nvSpPr>
          <p:cNvPr id="5" name="Text 3"/>
          <p:cNvSpPr/>
          <p:nvPr/>
        </p:nvSpPr>
        <p:spPr>
          <a:xfrm>
            <a:off x="457200" y="118872"/>
            <a:ext cx="4572000" cy="228600"/>
          </a:xfrm>
          <a:prstGeom prst="rect">
            <a:avLst/>
          </a:prstGeom>
          <a:noFill/>
          <a:ln/>
        </p:spPr>
        <p:txBody>
          <a:bodyPr wrap="square" rtlCol="0" anchor="ctr"/>
          <a:lstStyle/>
          <a:p>
            <a:pPr marL="0" indent="0">
              <a:buNone/>
            </a:pPr>
            <a:r>
              <a:rPr lang="en-US" sz="900" b="1" kern="0" spc="200" dirty="0">
                <a:solidFill>
                  <a:srgbClr val="00C2CB"/>
                </a:solidFill>
                <a:latin typeface="Calibri" pitchFamily="34" charset="0"/>
                <a:ea typeface="Calibri" pitchFamily="34" charset="-122"/>
                <a:cs typeface="Calibri" pitchFamily="34" charset="-120"/>
              </a:rPr>
              <a:t>DEPLOYMENT &amp; ROADMAP</a:t>
            </a:r>
            <a:endParaRPr lang="en-US" sz="900" dirty="0"/>
          </a:p>
        </p:txBody>
      </p:sp>
      <p:sp>
        <p:nvSpPr>
          <p:cNvPr id="6" name="Text 4"/>
          <p:cNvSpPr/>
          <p:nvPr/>
        </p:nvSpPr>
        <p:spPr>
          <a:xfrm>
            <a:off x="457200" y="411480"/>
            <a:ext cx="8229600" cy="365760"/>
          </a:xfrm>
          <a:prstGeom prst="rect">
            <a:avLst/>
          </a:prstGeom>
          <a:noFill/>
          <a:ln/>
        </p:spPr>
        <p:txBody>
          <a:bodyPr wrap="square"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Status, Limitations &amp; What's Next</a:t>
            </a:r>
            <a:endParaRPr lang="en-US" sz="2300" dirty="0"/>
          </a:p>
        </p:txBody>
      </p:sp>
      <p:sp>
        <p:nvSpPr>
          <p:cNvPr id="7" name="Shape 5"/>
          <p:cNvSpPr/>
          <p:nvPr/>
        </p:nvSpPr>
        <p:spPr>
          <a:xfrm>
            <a:off x="457200" y="987552"/>
            <a:ext cx="4114800" cy="2331720"/>
          </a:xfrm>
          <a:prstGeom prst="roundRect">
            <a:avLst>
              <a:gd name="adj" fmla="val 3922"/>
            </a:avLst>
          </a:prstGeom>
          <a:solidFill>
            <a:srgbClr val="FFFFFF"/>
          </a:solidFill>
          <a:ln w="12700">
            <a:solidFill>
              <a:srgbClr val="D0DCF0"/>
            </a:solidFill>
            <a:prstDash val="solid"/>
          </a:ln>
        </p:spPr>
      </p:sp>
      <p:sp>
        <p:nvSpPr>
          <p:cNvPr id="8" name="Text 6"/>
          <p:cNvSpPr/>
          <p:nvPr/>
        </p:nvSpPr>
        <p:spPr>
          <a:xfrm>
            <a:off x="640080" y="1078992"/>
            <a:ext cx="3749040" cy="256032"/>
          </a:xfrm>
          <a:prstGeom prst="rect">
            <a:avLst/>
          </a:prstGeom>
          <a:noFill/>
          <a:ln/>
        </p:spPr>
        <p:txBody>
          <a:bodyPr wrap="square" rtlCol="0" anchor="ctr"/>
          <a:lstStyle/>
          <a:p>
            <a:pPr marL="0" indent="0">
              <a:buNone/>
            </a:pPr>
            <a:r>
              <a:rPr lang="en-US" sz="1400" b="1" dirty="0">
                <a:solidFill>
                  <a:srgbClr val="0A1628"/>
                </a:solidFill>
                <a:latin typeface="Cambria" pitchFamily="34" charset="0"/>
                <a:ea typeface="Cambria" pitchFamily="34" charset="-122"/>
                <a:cs typeface="Cambria" pitchFamily="34" charset="-120"/>
              </a:rPr>
              <a:t>Current Status</a:t>
            </a:r>
            <a:endParaRPr lang="en-US" sz="1400" dirty="0"/>
          </a:p>
        </p:txBody>
      </p:sp>
      <p:sp>
        <p:nvSpPr>
          <p:cNvPr id="9" name="Shape 7"/>
          <p:cNvSpPr/>
          <p:nvPr/>
        </p:nvSpPr>
        <p:spPr>
          <a:xfrm>
            <a:off x="621792" y="1444752"/>
            <a:ext cx="164592" cy="164592"/>
          </a:xfrm>
          <a:prstGeom prst="ellipse">
            <a:avLst/>
          </a:prstGeom>
          <a:solidFill>
            <a:srgbClr val="00C07A"/>
          </a:solidFill>
          <a:ln w="12700">
            <a:solidFill>
              <a:srgbClr val="00C07A"/>
            </a:solidFill>
            <a:prstDash val="solid"/>
          </a:ln>
        </p:spPr>
      </p:sp>
      <p:sp>
        <p:nvSpPr>
          <p:cNvPr id="10" name="Text 8"/>
          <p:cNvSpPr/>
          <p:nvPr/>
        </p:nvSpPr>
        <p:spPr>
          <a:xfrm>
            <a:off x="859536" y="1389888"/>
            <a:ext cx="3474720"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In source code</a:t>
            </a:r>
            <a:endParaRPr lang="en-US" sz="1100" dirty="0"/>
          </a:p>
        </p:txBody>
      </p:sp>
      <p:sp>
        <p:nvSpPr>
          <p:cNvPr id="11" name="Text 9"/>
          <p:cNvSpPr/>
          <p:nvPr/>
        </p:nvSpPr>
        <p:spPr>
          <a:xfrm>
            <a:off x="859536" y="1609344"/>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All 22 features implemented</a:t>
            </a:r>
            <a:endParaRPr lang="en-US" sz="950" dirty="0"/>
          </a:p>
        </p:txBody>
      </p:sp>
      <p:sp>
        <p:nvSpPr>
          <p:cNvPr id="12" name="Text 10"/>
          <p:cNvSpPr/>
          <p:nvPr/>
        </p:nvSpPr>
        <p:spPr>
          <a:xfrm>
            <a:off x="859536" y="1792224"/>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document_processor.py, vector_store.py, agent_runner.py, tools.py, vision_engine.py, stt_engine.py, tts_engine.py</a:t>
            </a:r>
            <a:endParaRPr lang="en-US" sz="950" dirty="0"/>
          </a:p>
        </p:txBody>
      </p:sp>
      <p:sp>
        <p:nvSpPr>
          <p:cNvPr id="13" name="Shape 11"/>
          <p:cNvSpPr/>
          <p:nvPr/>
        </p:nvSpPr>
        <p:spPr>
          <a:xfrm>
            <a:off x="621792" y="2066544"/>
            <a:ext cx="164592" cy="164592"/>
          </a:xfrm>
          <a:prstGeom prst="ellipse">
            <a:avLst/>
          </a:prstGeom>
          <a:solidFill>
            <a:srgbClr val="E6B800"/>
          </a:solidFill>
          <a:ln w="12700">
            <a:solidFill>
              <a:srgbClr val="E6B800"/>
            </a:solidFill>
            <a:prstDash val="solid"/>
          </a:ln>
        </p:spPr>
      </p:sp>
      <p:sp>
        <p:nvSpPr>
          <p:cNvPr id="14" name="Text 12"/>
          <p:cNvSpPr/>
          <p:nvPr/>
        </p:nvSpPr>
        <p:spPr>
          <a:xfrm>
            <a:off x="859536" y="2011680"/>
            <a:ext cx="3474720"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Test status</a:t>
            </a:r>
            <a:endParaRPr lang="en-US" sz="1100" dirty="0"/>
          </a:p>
        </p:txBody>
      </p:sp>
      <p:sp>
        <p:nvSpPr>
          <p:cNvPr id="15" name="Text 13"/>
          <p:cNvSpPr/>
          <p:nvPr/>
        </p:nvSpPr>
        <p:spPr>
          <a:xfrm>
            <a:off x="859536" y="2231136"/>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Unit &amp; UI tests written</a:t>
            </a:r>
            <a:endParaRPr lang="en-US" sz="950" dirty="0"/>
          </a:p>
        </p:txBody>
      </p:sp>
      <p:sp>
        <p:nvSpPr>
          <p:cNvPr id="16" name="Text 14"/>
          <p:cNvSpPr/>
          <p:nvPr/>
        </p:nvSpPr>
        <p:spPr>
          <a:xfrm>
            <a:off x="859536" y="2414016"/>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Pass rate: [TO BE CONFIRMED after CI run]</a:t>
            </a:r>
            <a:endParaRPr lang="en-US" sz="950" dirty="0"/>
          </a:p>
        </p:txBody>
      </p:sp>
      <p:sp>
        <p:nvSpPr>
          <p:cNvPr id="17" name="Shape 15"/>
          <p:cNvSpPr/>
          <p:nvPr/>
        </p:nvSpPr>
        <p:spPr>
          <a:xfrm>
            <a:off x="621792" y="2688336"/>
            <a:ext cx="164592" cy="164592"/>
          </a:xfrm>
          <a:prstGeom prst="ellipse">
            <a:avLst/>
          </a:prstGeom>
          <a:solidFill>
            <a:srgbClr val="E05050"/>
          </a:solidFill>
          <a:ln w="12700">
            <a:solidFill>
              <a:srgbClr val="E05050"/>
            </a:solidFill>
            <a:prstDash val="solid"/>
          </a:ln>
        </p:spPr>
      </p:sp>
      <p:sp>
        <p:nvSpPr>
          <p:cNvPr id="18" name="Text 16"/>
          <p:cNvSpPr/>
          <p:nvPr/>
        </p:nvSpPr>
        <p:spPr>
          <a:xfrm>
            <a:off x="859536" y="2633472"/>
            <a:ext cx="3474720" cy="219456"/>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Not yet confirmed</a:t>
            </a:r>
            <a:endParaRPr lang="en-US" sz="1100" dirty="0"/>
          </a:p>
        </p:txBody>
      </p:sp>
      <p:sp>
        <p:nvSpPr>
          <p:cNvPr id="19" name="Text 17"/>
          <p:cNvSpPr/>
          <p:nvPr/>
        </p:nvSpPr>
        <p:spPr>
          <a:xfrm>
            <a:off x="859536" y="2852928"/>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Production deployment URL</a:t>
            </a:r>
            <a:endParaRPr lang="en-US" sz="950" dirty="0"/>
          </a:p>
        </p:txBody>
      </p:sp>
      <p:sp>
        <p:nvSpPr>
          <p:cNvPr id="20" name="Text 18"/>
          <p:cNvSpPr/>
          <p:nvPr/>
        </p:nvSpPr>
        <p:spPr>
          <a:xfrm>
            <a:off x="859536" y="3035808"/>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Latency benchmarks</a:t>
            </a:r>
            <a:endParaRPr lang="en-US" sz="950" dirty="0"/>
          </a:p>
        </p:txBody>
      </p:sp>
      <p:sp>
        <p:nvSpPr>
          <p:cNvPr id="21" name="Text 19"/>
          <p:cNvSpPr/>
          <p:nvPr/>
        </p:nvSpPr>
        <p:spPr>
          <a:xfrm>
            <a:off x="859536" y="3218688"/>
            <a:ext cx="3474720" cy="182880"/>
          </a:xfrm>
          <a:prstGeom prst="rect">
            <a:avLst/>
          </a:prstGeom>
          <a:noFill/>
          <a:ln/>
        </p:spPr>
        <p:txBody>
          <a:bodyPr wrap="square" rtlCol="0" anchor="ctr"/>
          <a:lstStyle/>
          <a:p>
            <a:pPr marL="0" indent="0">
              <a:buNone/>
            </a:pPr>
            <a:r>
              <a:rPr lang="en-US" sz="950" dirty="0">
                <a:solidFill>
                  <a:srgbClr val="4A6080"/>
                </a:solidFill>
                <a:latin typeface="Calibri" pitchFamily="34" charset="0"/>
                <a:ea typeface="Calibri" pitchFamily="34" charset="-122"/>
                <a:cs typeface="Calibri" pitchFamily="34" charset="-120"/>
              </a:rPr>
              <a:t>· Accuracy metrics</a:t>
            </a:r>
            <a:endParaRPr lang="en-US" sz="950" dirty="0"/>
          </a:p>
        </p:txBody>
      </p:sp>
      <p:sp>
        <p:nvSpPr>
          <p:cNvPr id="22" name="Shape 20"/>
          <p:cNvSpPr/>
          <p:nvPr/>
        </p:nvSpPr>
        <p:spPr>
          <a:xfrm>
            <a:off x="4754880" y="987552"/>
            <a:ext cx="3931920" cy="1078992"/>
          </a:xfrm>
          <a:prstGeom prst="roundRect">
            <a:avLst>
              <a:gd name="adj" fmla="val 8475"/>
            </a:avLst>
          </a:prstGeom>
          <a:solidFill>
            <a:srgbClr val="FFFFFF"/>
          </a:solidFill>
          <a:ln w="12700">
            <a:solidFill>
              <a:srgbClr val="D0DCF0"/>
            </a:solidFill>
            <a:prstDash val="solid"/>
          </a:ln>
        </p:spPr>
      </p:sp>
      <p:sp>
        <p:nvSpPr>
          <p:cNvPr id="23" name="Text 21"/>
          <p:cNvSpPr/>
          <p:nvPr/>
        </p:nvSpPr>
        <p:spPr>
          <a:xfrm>
            <a:off x="4937760" y="1078992"/>
            <a:ext cx="3566160" cy="228600"/>
          </a:xfrm>
          <a:prstGeom prst="rect">
            <a:avLst/>
          </a:prstGeom>
          <a:noFill/>
          <a:ln/>
        </p:spPr>
        <p:txBody>
          <a:bodyPr wrap="square" rtlCol="0" anchor="ctr"/>
          <a:lstStyle/>
          <a:p>
            <a:pPr marL="0" indent="0">
              <a:buNone/>
            </a:pPr>
            <a:r>
              <a:rPr lang="en-US" sz="1300" b="1" dirty="0">
                <a:solidFill>
                  <a:srgbClr val="0A1628"/>
                </a:solidFill>
                <a:latin typeface="Cambria" pitchFamily="34" charset="0"/>
                <a:ea typeface="Cambria" pitchFamily="34" charset="-122"/>
                <a:cs typeface="Cambria" pitchFamily="34" charset="-120"/>
              </a:rPr>
              <a:t>Dependencies &amp; Config</a:t>
            </a:r>
            <a:endParaRPr lang="en-US" sz="1300" dirty="0"/>
          </a:p>
        </p:txBody>
      </p:sp>
      <p:sp>
        <p:nvSpPr>
          <p:cNvPr id="24" name="Text 22"/>
          <p:cNvSpPr/>
          <p:nvPr/>
        </p:nvSpPr>
        <p:spPr>
          <a:xfrm>
            <a:off x="4937760" y="1335024"/>
            <a:ext cx="3566160" cy="182880"/>
          </a:xfrm>
          <a:prstGeom prst="rect">
            <a:avLst/>
          </a:prstGeom>
          <a:noFill/>
          <a:ln/>
        </p:spPr>
        <p:txBody>
          <a:bodyPr wrap="square" rtlCol="0" anchor="ctr"/>
          <a:lstStyle/>
          <a:p>
            <a:pPr marL="0" indent="0">
              <a:buNone/>
            </a:pPr>
            <a:r>
              <a:rPr lang="en-US" sz="1000" dirty="0">
                <a:solidFill>
                  <a:srgbClr val="3A5070"/>
                </a:solidFill>
                <a:latin typeface="Calibri" pitchFamily="34" charset="0"/>
                <a:ea typeface="Calibri" pitchFamily="34" charset="-122"/>
                <a:cs typeface="Calibri" pitchFamily="34" charset="-120"/>
              </a:rPr>
              <a:t>🔑 OpenAI API (or custom gateway)</a:t>
            </a:r>
            <a:endParaRPr lang="en-US" sz="1000" dirty="0"/>
          </a:p>
        </p:txBody>
      </p:sp>
      <p:sp>
        <p:nvSpPr>
          <p:cNvPr id="25" name="Text 23"/>
          <p:cNvSpPr/>
          <p:nvPr/>
        </p:nvSpPr>
        <p:spPr>
          <a:xfrm>
            <a:off x="4937760" y="1536192"/>
            <a:ext cx="3566160" cy="182880"/>
          </a:xfrm>
          <a:prstGeom prst="rect">
            <a:avLst/>
          </a:prstGeom>
          <a:noFill/>
          <a:ln/>
        </p:spPr>
        <p:txBody>
          <a:bodyPr wrap="square" rtlCol="0" anchor="ctr"/>
          <a:lstStyle/>
          <a:p>
            <a:pPr marL="0" indent="0">
              <a:buNone/>
            </a:pPr>
            <a:r>
              <a:rPr lang="en-US" sz="1000" dirty="0">
                <a:solidFill>
                  <a:srgbClr val="3A5070"/>
                </a:solidFill>
                <a:latin typeface="Calibri" pitchFamily="34" charset="0"/>
                <a:ea typeface="Calibri" pitchFamily="34" charset="-122"/>
                <a:cs typeface="Calibri" pitchFamily="34" charset="-120"/>
              </a:rPr>
              <a:t>🔑 Pinecone API Key + Index</a:t>
            </a:r>
            <a:endParaRPr lang="en-US" sz="1000" dirty="0"/>
          </a:p>
        </p:txBody>
      </p:sp>
      <p:sp>
        <p:nvSpPr>
          <p:cNvPr id="26" name="Text 24"/>
          <p:cNvSpPr/>
          <p:nvPr/>
        </p:nvSpPr>
        <p:spPr>
          <a:xfrm>
            <a:off x="4937760" y="1737360"/>
            <a:ext cx="3566160" cy="182880"/>
          </a:xfrm>
          <a:prstGeom prst="rect">
            <a:avLst/>
          </a:prstGeom>
          <a:noFill/>
          <a:ln/>
        </p:spPr>
        <p:txBody>
          <a:bodyPr wrap="square" rtlCol="0" anchor="ctr"/>
          <a:lstStyle/>
          <a:p>
            <a:pPr marL="0" indent="0">
              <a:buNone/>
            </a:pPr>
            <a:r>
              <a:rPr lang="en-US" sz="1000" dirty="0">
                <a:solidFill>
                  <a:srgbClr val="3A5070"/>
                </a:solidFill>
                <a:latin typeface="Calibri" pitchFamily="34" charset="0"/>
                <a:ea typeface="Calibri" pitchFamily="34" charset="-122"/>
                <a:cs typeface="Calibri" pitchFamily="34" charset="-120"/>
              </a:rPr>
              <a:t>🔑 Tavily API Key (web search)</a:t>
            </a:r>
            <a:endParaRPr lang="en-US" sz="1000" dirty="0"/>
          </a:p>
        </p:txBody>
      </p:sp>
      <p:sp>
        <p:nvSpPr>
          <p:cNvPr id="27" name="Text 25"/>
          <p:cNvSpPr/>
          <p:nvPr/>
        </p:nvSpPr>
        <p:spPr>
          <a:xfrm>
            <a:off x="4937760" y="1938528"/>
            <a:ext cx="3566160" cy="182880"/>
          </a:xfrm>
          <a:prstGeom prst="rect">
            <a:avLst/>
          </a:prstGeom>
          <a:noFill/>
          <a:ln/>
        </p:spPr>
        <p:txBody>
          <a:bodyPr wrap="square" rtlCol="0" anchor="ctr"/>
          <a:lstStyle/>
          <a:p>
            <a:pPr marL="0" indent="0">
              <a:buNone/>
            </a:pPr>
            <a:r>
              <a:rPr lang="en-US" sz="1000" dirty="0">
                <a:solidFill>
                  <a:srgbClr val="3A5070"/>
                </a:solidFill>
                <a:latin typeface="Calibri" pitchFamily="34" charset="0"/>
                <a:ea typeface="Calibri" pitchFamily="34" charset="-122"/>
                <a:cs typeface="Calibri" pitchFamily="34" charset="-120"/>
              </a:rPr>
              <a:t>🔑 Speech / Vision model (local or API)</a:t>
            </a:r>
            <a:endParaRPr lang="en-US" sz="1000" dirty="0"/>
          </a:p>
        </p:txBody>
      </p:sp>
      <p:sp>
        <p:nvSpPr>
          <p:cNvPr id="28" name="Text 26"/>
          <p:cNvSpPr/>
          <p:nvPr/>
        </p:nvSpPr>
        <p:spPr>
          <a:xfrm>
            <a:off x="4937760" y="2139696"/>
            <a:ext cx="3566160" cy="182880"/>
          </a:xfrm>
          <a:prstGeom prst="rect">
            <a:avLst/>
          </a:prstGeom>
          <a:noFill/>
          <a:ln/>
        </p:spPr>
        <p:txBody>
          <a:bodyPr wrap="square" rtlCol="0" anchor="ctr"/>
          <a:lstStyle/>
          <a:p>
            <a:pPr marL="0" indent="0">
              <a:buNone/>
            </a:pPr>
            <a:r>
              <a:rPr lang="en-US" sz="1000" dirty="0">
                <a:solidFill>
                  <a:srgbClr val="3A5070"/>
                </a:solidFill>
                <a:latin typeface="Calibri" pitchFamily="34" charset="0"/>
                <a:ea typeface="Calibri" pitchFamily="34" charset="-122"/>
                <a:cs typeface="Calibri" pitchFamily="34" charset="-120"/>
              </a:rPr>
              <a:t>🔑 .env environment variables</a:t>
            </a:r>
            <a:endParaRPr lang="en-US" sz="1000" dirty="0"/>
          </a:p>
        </p:txBody>
      </p:sp>
      <p:sp>
        <p:nvSpPr>
          <p:cNvPr id="29" name="Shape 27"/>
          <p:cNvSpPr/>
          <p:nvPr/>
        </p:nvSpPr>
        <p:spPr>
          <a:xfrm>
            <a:off x="4754880" y="2176272"/>
            <a:ext cx="3931920" cy="1234440"/>
          </a:xfrm>
          <a:prstGeom prst="roundRect">
            <a:avLst>
              <a:gd name="adj" fmla="val 7407"/>
            </a:avLst>
          </a:prstGeom>
          <a:solidFill>
            <a:srgbClr val="FFFFFF"/>
          </a:solidFill>
          <a:ln w="12700">
            <a:solidFill>
              <a:srgbClr val="D0DCF0"/>
            </a:solidFill>
            <a:prstDash val="solid"/>
          </a:ln>
        </p:spPr>
      </p:sp>
      <p:sp>
        <p:nvSpPr>
          <p:cNvPr id="30" name="Text 28"/>
          <p:cNvSpPr/>
          <p:nvPr/>
        </p:nvSpPr>
        <p:spPr>
          <a:xfrm>
            <a:off x="4937760" y="2249424"/>
            <a:ext cx="3566160" cy="228600"/>
          </a:xfrm>
          <a:prstGeom prst="rect">
            <a:avLst/>
          </a:prstGeom>
          <a:noFill/>
          <a:ln/>
        </p:spPr>
        <p:txBody>
          <a:bodyPr wrap="square" rtlCol="0" anchor="ctr"/>
          <a:lstStyle/>
          <a:p>
            <a:pPr marL="0" indent="0">
              <a:buNone/>
            </a:pPr>
            <a:r>
              <a:rPr lang="en-US" sz="1300" b="1" dirty="0">
                <a:solidFill>
                  <a:srgbClr val="0A1628"/>
                </a:solidFill>
                <a:latin typeface="Cambria" pitchFamily="34" charset="0"/>
                <a:ea typeface="Cambria" pitchFamily="34" charset="-122"/>
                <a:cs typeface="Cambria" pitchFamily="34" charset="-120"/>
              </a:rPr>
              <a:t>Future Roadmap</a:t>
            </a:r>
            <a:endParaRPr lang="en-US" sz="1300" dirty="0"/>
          </a:p>
        </p:txBody>
      </p:sp>
      <p:sp>
        <p:nvSpPr>
          <p:cNvPr id="31" name="Text 29"/>
          <p:cNvSpPr/>
          <p:nvPr/>
        </p:nvSpPr>
        <p:spPr>
          <a:xfrm>
            <a:off x="4937760" y="2496312"/>
            <a:ext cx="3520440" cy="182880"/>
          </a:xfrm>
          <a:prstGeom prst="rect">
            <a:avLst/>
          </a:prstGeom>
          <a:noFill/>
          <a:ln/>
        </p:spPr>
        <p:txBody>
          <a:bodyPr wrap="square" rtlCol="0" anchor="ctr"/>
          <a:lstStyle/>
          <a:p>
            <a:pPr marL="0" indent="0">
              <a:buNone/>
            </a:pPr>
            <a:r>
              <a:rPr lang="en-US" sz="950" dirty="0">
                <a:solidFill>
                  <a:srgbClr val="3A5070"/>
                </a:solidFill>
                <a:latin typeface="Calibri" pitchFamily="34" charset="0"/>
                <a:ea typeface="Calibri" pitchFamily="34" charset="-122"/>
                <a:cs typeface="Calibri" pitchFamily="34" charset="-120"/>
              </a:rPr>
              <a:t>🌍 Public deployment (Streamlit Cloud / HuggingFace)</a:t>
            </a:r>
            <a:endParaRPr lang="en-US" sz="950" dirty="0"/>
          </a:p>
        </p:txBody>
      </p:sp>
      <p:sp>
        <p:nvSpPr>
          <p:cNvPr id="32" name="Text 30"/>
          <p:cNvSpPr/>
          <p:nvPr/>
        </p:nvSpPr>
        <p:spPr>
          <a:xfrm>
            <a:off x="4937760" y="2679192"/>
            <a:ext cx="3520440" cy="182880"/>
          </a:xfrm>
          <a:prstGeom prst="rect">
            <a:avLst/>
          </a:prstGeom>
          <a:noFill/>
          <a:ln/>
        </p:spPr>
        <p:txBody>
          <a:bodyPr wrap="square" rtlCol="0" anchor="ctr"/>
          <a:lstStyle/>
          <a:p>
            <a:pPr marL="0" indent="0">
              <a:buNone/>
            </a:pPr>
            <a:r>
              <a:rPr lang="en-US" sz="950" dirty="0">
                <a:solidFill>
                  <a:srgbClr val="3A5070"/>
                </a:solidFill>
                <a:latin typeface="Calibri" pitchFamily="34" charset="0"/>
                <a:ea typeface="Calibri" pitchFamily="34" charset="-122"/>
                <a:cs typeface="Calibri" pitchFamily="34" charset="-120"/>
              </a:rPr>
              <a:t>📊 Observability: latency &amp; token metrics</a:t>
            </a:r>
            <a:endParaRPr lang="en-US" sz="950" dirty="0"/>
          </a:p>
        </p:txBody>
      </p:sp>
      <p:sp>
        <p:nvSpPr>
          <p:cNvPr id="33" name="Text 31"/>
          <p:cNvSpPr/>
          <p:nvPr/>
        </p:nvSpPr>
        <p:spPr>
          <a:xfrm>
            <a:off x="4937760" y="2862072"/>
            <a:ext cx="3520440" cy="182880"/>
          </a:xfrm>
          <a:prstGeom prst="rect">
            <a:avLst/>
          </a:prstGeom>
          <a:noFill/>
          <a:ln/>
        </p:spPr>
        <p:txBody>
          <a:bodyPr wrap="square" rtlCol="0" anchor="ctr"/>
          <a:lstStyle/>
          <a:p>
            <a:pPr marL="0" indent="0">
              <a:buNone/>
            </a:pPr>
            <a:r>
              <a:rPr lang="en-US" sz="950" dirty="0">
                <a:solidFill>
                  <a:srgbClr val="3A5070"/>
                </a:solidFill>
                <a:latin typeface="Calibri" pitchFamily="34" charset="0"/>
                <a:ea typeface="Calibri" pitchFamily="34" charset="-122"/>
                <a:cs typeface="Calibri" pitchFamily="34" charset="-120"/>
              </a:rPr>
              <a:t>🧪 Evaluation dataset for retrieval quality</a:t>
            </a:r>
            <a:endParaRPr lang="en-US" sz="950" dirty="0"/>
          </a:p>
        </p:txBody>
      </p:sp>
      <p:sp>
        <p:nvSpPr>
          <p:cNvPr id="34" name="Text 32"/>
          <p:cNvSpPr/>
          <p:nvPr/>
        </p:nvSpPr>
        <p:spPr>
          <a:xfrm>
            <a:off x="4937760" y="3044952"/>
            <a:ext cx="3520440" cy="182880"/>
          </a:xfrm>
          <a:prstGeom prst="rect">
            <a:avLst/>
          </a:prstGeom>
          <a:noFill/>
          <a:ln/>
        </p:spPr>
        <p:txBody>
          <a:bodyPr wrap="square" rtlCol="0" anchor="ctr"/>
          <a:lstStyle/>
          <a:p>
            <a:pPr marL="0" indent="0">
              <a:buNone/>
            </a:pPr>
            <a:r>
              <a:rPr lang="en-US" sz="950" dirty="0">
                <a:solidFill>
                  <a:srgbClr val="3A5070"/>
                </a:solidFill>
                <a:latin typeface="Calibri" pitchFamily="34" charset="0"/>
                <a:ea typeface="Calibri" pitchFamily="34" charset="-122"/>
                <a:cs typeface="Calibri" pitchFamily="34" charset="-120"/>
              </a:rPr>
              <a:t>⚡ Response caching &amp; reranker tuning</a:t>
            </a:r>
            <a:endParaRPr lang="en-US" sz="950" dirty="0"/>
          </a:p>
        </p:txBody>
      </p:sp>
      <p:sp>
        <p:nvSpPr>
          <p:cNvPr id="35" name="Text 33"/>
          <p:cNvSpPr/>
          <p:nvPr/>
        </p:nvSpPr>
        <p:spPr>
          <a:xfrm>
            <a:off x="4937760" y="3227832"/>
            <a:ext cx="3520440" cy="182880"/>
          </a:xfrm>
          <a:prstGeom prst="rect">
            <a:avLst/>
          </a:prstGeom>
          <a:noFill/>
          <a:ln/>
        </p:spPr>
        <p:txBody>
          <a:bodyPr wrap="square" rtlCol="0" anchor="ctr"/>
          <a:lstStyle/>
          <a:p>
            <a:pPr marL="0" indent="0">
              <a:buNone/>
            </a:pPr>
            <a:r>
              <a:rPr lang="en-US" sz="950" dirty="0">
                <a:solidFill>
                  <a:srgbClr val="3A5070"/>
                </a:solidFill>
                <a:latin typeface="Calibri" pitchFamily="34" charset="0"/>
                <a:ea typeface="Calibri" pitchFamily="34" charset="-122"/>
                <a:cs typeface="Calibri" pitchFamily="34" charset="-120"/>
              </a:rPr>
              <a:t>🔐 Authentication &amp; multi-user storage</a:t>
            </a:r>
            <a:endParaRPr lang="en-US" sz="950" dirty="0"/>
          </a:p>
        </p:txBody>
      </p:sp>
      <p:sp>
        <p:nvSpPr>
          <p:cNvPr id="36" name="Shape 34"/>
          <p:cNvSpPr/>
          <p:nvPr/>
        </p:nvSpPr>
        <p:spPr>
          <a:xfrm>
            <a:off x="457200" y="3547872"/>
            <a:ext cx="8229600" cy="896112"/>
          </a:xfrm>
          <a:prstGeom prst="roundRect">
            <a:avLst>
              <a:gd name="adj" fmla="val 10204"/>
            </a:avLst>
          </a:prstGeom>
          <a:solidFill>
            <a:srgbClr val="FFF3CD"/>
          </a:solidFill>
          <a:ln w="12700">
            <a:solidFill>
              <a:srgbClr val="E6B800"/>
            </a:solidFill>
            <a:prstDash val="solid"/>
          </a:ln>
        </p:spPr>
      </p:sp>
      <p:sp>
        <p:nvSpPr>
          <p:cNvPr id="37" name="Text 35"/>
          <p:cNvSpPr/>
          <p:nvPr/>
        </p:nvSpPr>
        <p:spPr>
          <a:xfrm>
            <a:off x="640080" y="3621024"/>
            <a:ext cx="3657600" cy="228600"/>
          </a:xfrm>
          <a:prstGeom prst="rect">
            <a:avLst/>
          </a:prstGeom>
          <a:noFill/>
          <a:ln/>
        </p:spPr>
        <p:txBody>
          <a:bodyPr wrap="square" rtlCol="0" anchor="ctr"/>
          <a:lstStyle/>
          <a:p>
            <a:pPr marL="0" indent="0">
              <a:buNone/>
            </a:pPr>
            <a:r>
              <a:rPr lang="en-US" sz="1200" b="1" dirty="0">
                <a:solidFill>
                  <a:srgbClr val="5A4000"/>
                </a:solidFill>
                <a:latin typeface="Cambria" pitchFamily="34" charset="0"/>
                <a:ea typeface="Cambria" pitchFamily="34" charset="-122"/>
                <a:cs typeface="Cambria" pitchFamily="34" charset="-120"/>
              </a:rPr>
              <a:t>⚠️  Known Limitations</a:t>
            </a:r>
            <a:endParaRPr lang="en-US" sz="1200" dirty="0"/>
          </a:p>
        </p:txBody>
      </p:sp>
      <p:sp>
        <p:nvSpPr>
          <p:cNvPr id="38" name="Text 36"/>
          <p:cNvSpPr/>
          <p:nvPr/>
        </p:nvSpPr>
        <p:spPr>
          <a:xfrm>
            <a:off x="640080" y="3867912"/>
            <a:ext cx="7772400" cy="182880"/>
          </a:xfrm>
          <a:prstGeom prst="rect">
            <a:avLst/>
          </a:prstGeom>
          <a:noFill/>
          <a:ln/>
        </p:spPr>
        <p:txBody>
          <a:bodyPr wrap="square" rtlCol="0" anchor="ctr"/>
          <a:lstStyle/>
          <a:p>
            <a:pPr marL="0" indent="0">
              <a:buNone/>
            </a:pPr>
            <a:r>
              <a:rPr lang="en-US" sz="1000" dirty="0">
                <a:solidFill>
                  <a:srgbClr val="5A4000"/>
                </a:solidFill>
                <a:latin typeface="Calibri" pitchFamily="34" charset="0"/>
                <a:ea typeface="Calibri" pitchFamily="34" charset="-122"/>
                <a:cs typeface="Calibri" pitchFamily="34" charset="-120"/>
              </a:rPr>
              <a:t>· Requires valid API keys and network connectivity at runtime.</a:t>
            </a:r>
            <a:endParaRPr lang="en-US" sz="1000" dirty="0"/>
          </a:p>
        </p:txBody>
      </p:sp>
      <p:sp>
        <p:nvSpPr>
          <p:cNvPr id="39" name="Text 37"/>
          <p:cNvSpPr/>
          <p:nvPr/>
        </p:nvSpPr>
        <p:spPr>
          <a:xfrm>
            <a:off x="640080" y="4050792"/>
            <a:ext cx="7772400" cy="182880"/>
          </a:xfrm>
          <a:prstGeom prst="rect">
            <a:avLst/>
          </a:prstGeom>
          <a:noFill/>
          <a:ln/>
        </p:spPr>
        <p:txBody>
          <a:bodyPr wrap="square" rtlCol="0" anchor="ctr"/>
          <a:lstStyle/>
          <a:p>
            <a:pPr marL="0" indent="0">
              <a:buNone/>
            </a:pPr>
            <a:r>
              <a:rPr lang="en-US" sz="1000" dirty="0">
                <a:solidFill>
                  <a:srgbClr val="5A4000"/>
                </a:solidFill>
                <a:latin typeface="Calibri" pitchFamily="34" charset="0"/>
                <a:ea typeface="Calibri" pitchFamily="34" charset="-122"/>
                <a:cs typeface="Calibri" pitchFamily="34" charset="-120"/>
              </a:rPr>
              <a:t>· STT model may require download time on first use.</a:t>
            </a:r>
            <a:endParaRPr lang="en-US" sz="1000" dirty="0"/>
          </a:p>
        </p:txBody>
      </p:sp>
      <p:sp>
        <p:nvSpPr>
          <p:cNvPr id="40" name="Text 38"/>
          <p:cNvSpPr/>
          <p:nvPr/>
        </p:nvSpPr>
        <p:spPr>
          <a:xfrm>
            <a:off x="640080" y="4233672"/>
            <a:ext cx="7772400" cy="182880"/>
          </a:xfrm>
          <a:prstGeom prst="rect">
            <a:avLst/>
          </a:prstGeom>
          <a:noFill/>
          <a:ln/>
        </p:spPr>
        <p:txBody>
          <a:bodyPr wrap="square" rtlCol="0" anchor="ctr"/>
          <a:lstStyle/>
          <a:p>
            <a:pPr marL="0" indent="0">
              <a:buNone/>
            </a:pPr>
            <a:r>
              <a:rPr lang="en-US" sz="1000" dirty="0">
                <a:solidFill>
                  <a:srgbClr val="5A4000"/>
                </a:solidFill>
                <a:latin typeface="Calibri" pitchFamily="34" charset="0"/>
                <a:ea typeface="Calibri" pitchFamily="34" charset="-122"/>
                <a:cs typeface="Calibri" pitchFamily="34" charset="-120"/>
              </a:rPr>
              <a:t>· Answer quality depends on document coverage and retrieval accuracy.</a:t>
            </a:r>
            <a:endParaRPr lang="en-US" sz="1000" dirty="0"/>
          </a:p>
        </p:txBody>
      </p:sp>
      <p:sp>
        <p:nvSpPr>
          <p:cNvPr id="41" name="Text 39"/>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0B4CC"/>
                </a:solidFill>
                <a:latin typeface="Calibri" pitchFamily="34" charset="0"/>
                <a:ea typeface="Calibri" pitchFamily="34" charset="-122"/>
                <a:cs typeface="Calibri" pitchFamily="34" charset="-120"/>
              </a:rPr>
              <a:t>12 / 13</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628"/>
          </a:solidFill>
          <a:ln w="12700">
            <a:solidFill>
              <a:srgbClr val="0A1628"/>
            </a:solidFill>
            <a:prstDash val="solid"/>
          </a:ln>
        </p:spPr>
      </p:sp>
      <p:sp>
        <p:nvSpPr>
          <p:cNvPr id="3" name="Shape 1"/>
          <p:cNvSpPr/>
          <p:nvPr/>
        </p:nvSpPr>
        <p:spPr>
          <a:xfrm>
            <a:off x="0" y="0"/>
            <a:ext cx="54864" cy="5143500"/>
          </a:xfrm>
          <a:prstGeom prst="rect">
            <a:avLst/>
          </a:prstGeom>
          <a:solidFill>
            <a:srgbClr val="00C2CB"/>
          </a:solidFill>
          <a:ln w="12700">
            <a:solidFill>
              <a:srgbClr val="00C2CB"/>
            </a:solidFill>
            <a:prstDash val="solid"/>
          </a:ln>
        </p:spPr>
      </p:sp>
      <p:sp>
        <p:nvSpPr>
          <p:cNvPr id="4" name="Text 2"/>
          <p:cNvSpPr/>
          <p:nvPr/>
        </p:nvSpPr>
        <p:spPr>
          <a:xfrm>
            <a:off x="457200" y="164592"/>
            <a:ext cx="8229600" cy="228600"/>
          </a:xfrm>
          <a:prstGeom prst="rect">
            <a:avLst/>
          </a:prstGeom>
          <a:noFill/>
          <a:ln/>
        </p:spPr>
        <p:txBody>
          <a:bodyPr wrap="square" rtlCol="0" anchor="ctr"/>
          <a:lstStyle/>
          <a:p>
            <a:pPr marL="0" indent="0" algn="ctr">
              <a:buNone/>
            </a:pPr>
            <a:r>
              <a:rPr lang="en-US" sz="900" b="1" kern="0" spc="200" dirty="0">
                <a:solidFill>
                  <a:srgbClr val="00C2CB"/>
                </a:solidFill>
                <a:latin typeface="Calibri" pitchFamily="34" charset="0"/>
                <a:ea typeface="Calibri" pitchFamily="34" charset="-122"/>
                <a:cs typeface="Calibri" pitchFamily="34" charset="-120"/>
              </a:rPr>
              <a:t>AI COURSE ASSISTANT · HACKATHON AI</a:t>
            </a:r>
            <a:endParaRPr lang="en-US" sz="900" dirty="0"/>
          </a:p>
        </p:txBody>
      </p:sp>
      <p:sp>
        <p:nvSpPr>
          <p:cNvPr id="5" name="Shape 3"/>
          <p:cNvSpPr/>
          <p:nvPr/>
        </p:nvSpPr>
        <p:spPr>
          <a:xfrm>
            <a:off x="365760" y="566928"/>
            <a:ext cx="2651760" cy="2926080"/>
          </a:xfrm>
          <a:prstGeom prst="roundRect">
            <a:avLst>
              <a:gd name="adj" fmla="val 4828"/>
            </a:avLst>
          </a:prstGeom>
          <a:solidFill>
            <a:srgbClr val="112240"/>
          </a:solidFill>
          <a:ln w="12700">
            <a:solidFill>
              <a:srgbClr val="1A6ED8"/>
            </a:solidFill>
            <a:prstDash val="solid"/>
          </a:ln>
        </p:spPr>
      </p:sp>
      <p:sp>
        <p:nvSpPr>
          <p:cNvPr id="6" name="Shape 4"/>
          <p:cNvSpPr/>
          <p:nvPr/>
        </p:nvSpPr>
        <p:spPr>
          <a:xfrm>
            <a:off x="1371600" y="713232"/>
            <a:ext cx="621792" cy="621792"/>
          </a:xfrm>
          <a:prstGeom prst="ellipse">
            <a:avLst/>
          </a:prstGeom>
          <a:solidFill>
            <a:srgbClr val="1A6ED8"/>
          </a:solidFill>
          <a:ln w="12700">
            <a:solidFill>
              <a:srgbClr val="1A6ED8"/>
            </a:solidFill>
            <a:prstDash val="solid"/>
          </a:ln>
        </p:spPr>
      </p:sp>
      <p:sp>
        <p:nvSpPr>
          <p:cNvPr id="7" name="Text 5"/>
          <p:cNvSpPr/>
          <p:nvPr/>
        </p:nvSpPr>
        <p:spPr>
          <a:xfrm>
            <a:off x="1371600" y="713232"/>
            <a:ext cx="621792" cy="621792"/>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475488" y="1426464"/>
            <a:ext cx="2450592" cy="475488"/>
          </a:xfrm>
          <a:prstGeom prst="rect">
            <a:avLst/>
          </a:prstGeom>
          <a:noFill/>
          <a:ln/>
        </p:spPr>
        <p:txBody>
          <a:bodyPr wrap="square" rtlCol="0" anchor="ctr"/>
          <a:lstStyle/>
          <a:p>
            <a:pPr marL="0" indent="0" algn="ctr">
              <a:buNone/>
            </a:pPr>
            <a:r>
              <a:rPr lang="en-US" sz="1400" b="1" dirty="0">
                <a:solidFill>
                  <a:srgbClr val="1A6ED8"/>
                </a:solidFill>
                <a:latin typeface="Cambria" pitchFamily="34" charset="0"/>
                <a:ea typeface="Cambria" pitchFamily="34" charset="-122"/>
                <a:cs typeface="Cambria" pitchFamily="34" charset="-120"/>
              </a:rPr>
              <a:t>Grounded Answers</a:t>
            </a:r>
            <a:endParaRPr lang="en-US" sz="1400" dirty="0"/>
          </a:p>
        </p:txBody>
      </p:sp>
      <p:sp>
        <p:nvSpPr>
          <p:cNvPr id="9" name="Text 7"/>
          <p:cNvSpPr/>
          <p:nvPr/>
        </p:nvSpPr>
        <p:spPr>
          <a:xfrm>
            <a:off x="502920" y="1956816"/>
            <a:ext cx="2395728" cy="146304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Every response traces back to a course document — source file and page number included.</a:t>
            </a:r>
            <a:endParaRPr lang="en-US" sz="1100" dirty="0"/>
          </a:p>
        </p:txBody>
      </p:sp>
      <p:sp>
        <p:nvSpPr>
          <p:cNvPr id="10" name="Shape 8"/>
          <p:cNvSpPr/>
          <p:nvPr/>
        </p:nvSpPr>
        <p:spPr>
          <a:xfrm>
            <a:off x="3218688" y="566928"/>
            <a:ext cx="2651760" cy="2926080"/>
          </a:xfrm>
          <a:prstGeom prst="roundRect">
            <a:avLst>
              <a:gd name="adj" fmla="val 4828"/>
            </a:avLst>
          </a:prstGeom>
          <a:solidFill>
            <a:srgbClr val="112240"/>
          </a:solidFill>
          <a:ln w="12700">
            <a:solidFill>
              <a:srgbClr val="00C2CB"/>
            </a:solidFill>
            <a:prstDash val="solid"/>
          </a:ln>
        </p:spPr>
      </p:sp>
      <p:sp>
        <p:nvSpPr>
          <p:cNvPr id="11" name="Shape 9"/>
          <p:cNvSpPr/>
          <p:nvPr/>
        </p:nvSpPr>
        <p:spPr>
          <a:xfrm>
            <a:off x="4224528" y="713232"/>
            <a:ext cx="621792" cy="621792"/>
          </a:xfrm>
          <a:prstGeom prst="ellipse">
            <a:avLst/>
          </a:prstGeom>
          <a:solidFill>
            <a:srgbClr val="00C2CB"/>
          </a:solidFill>
          <a:ln w="12700">
            <a:solidFill>
              <a:srgbClr val="00C2CB"/>
            </a:solidFill>
            <a:prstDash val="solid"/>
          </a:ln>
        </p:spPr>
      </p:sp>
      <p:sp>
        <p:nvSpPr>
          <p:cNvPr id="12" name="Text 10"/>
          <p:cNvSpPr/>
          <p:nvPr/>
        </p:nvSpPr>
        <p:spPr>
          <a:xfrm>
            <a:off x="4224528" y="713232"/>
            <a:ext cx="621792" cy="621792"/>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3328416" y="1426464"/>
            <a:ext cx="2450592" cy="475488"/>
          </a:xfrm>
          <a:prstGeom prst="rect">
            <a:avLst/>
          </a:prstGeom>
          <a:noFill/>
          <a:ln/>
        </p:spPr>
        <p:txBody>
          <a:bodyPr wrap="square" rtlCol="0" anchor="ctr"/>
          <a:lstStyle/>
          <a:p>
            <a:pPr marL="0" indent="0" algn="ctr">
              <a:buNone/>
            </a:pPr>
            <a:r>
              <a:rPr lang="en-US" sz="1400" b="1" dirty="0">
                <a:solidFill>
                  <a:srgbClr val="00C2CB"/>
                </a:solidFill>
                <a:latin typeface="Cambria" pitchFamily="34" charset="0"/>
                <a:ea typeface="Cambria" pitchFamily="34" charset="-122"/>
                <a:cs typeface="Cambria" pitchFamily="34" charset="-120"/>
              </a:rPr>
              <a:t>Multimodal Learning</a:t>
            </a:r>
            <a:endParaRPr lang="en-US" sz="1400" dirty="0"/>
          </a:p>
          <a:p>
            <a:pPr marL="0" indent="0" algn="ctr">
              <a:buNone/>
            </a:pPr>
            <a:r>
              <a:rPr lang="en-US" sz="1400" b="1" dirty="0">
                <a:solidFill>
                  <a:srgbClr val="00C2CB"/>
                </a:solidFill>
                <a:latin typeface="Cambria" pitchFamily="34" charset="0"/>
                <a:ea typeface="Cambria" pitchFamily="34" charset="-122"/>
                <a:cs typeface="Cambria" pitchFamily="34" charset="-120"/>
              </a:rPr>
              <a:t>Support</a:t>
            </a:r>
            <a:endParaRPr lang="en-US" sz="1400" dirty="0"/>
          </a:p>
        </p:txBody>
      </p:sp>
      <p:sp>
        <p:nvSpPr>
          <p:cNvPr id="14" name="Text 12"/>
          <p:cNvSpPr/>
          <p:nvPr/>
        </p:nvSpPr>
        <p:spPr>
          <a:xfrm>
            <a:off x="3355848" y="1956816"/>
            <a:ext cx="2395728" cy="146304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Text, voice, and image inputs — students learn the way they naturally work.</a:t>
            </a:r>
            <a:endParaRPr lang="en-US" sz="1100" dirty="0"/>
          </a:p>
        </p:txBody>
      </p:sp>
      <p:sp>
        <p:nvSpPr>
          <p:cNvPr id="15" name="Shape 13"/>
          <p:cNvSpPr/>
          <p:nvPr/>
        </p:nvSpPr>
        <p:spPr>
          <a:xfrm>
            <a:off x="6071616" y="566928"/>
            <a:ext cx="2651760" cy="2926080"/>
          </a:xfrm>
          <a:prstGeom prst="roundRect">
            <a:avLst>
              <a:gd name="adj" fmla="val 4828"/>
            </a:avLst>
          </a:prstGeom>
          <a:solidFill>
            <a:srgbClr val="112240"/>
          </a:solidFill>
          <a:ln w="12700">
            <a:solidFill>
              <a:srgbClr val="7B61FF"/>
            </a:solidFill>
            <a:prstDash val="solid"/>
          </a:ln>
        </p:spPr>
      </p:sp>
      <p:sp>
        <p:nvSpPr>
          <p:cNvPr id="16" name="Shape 14"/>
          <p:cNvSpPr/>
          <p:nvPr/>
        </p:nvSpPr>
        <p:spPr>
          <a:xfrm>
            <a:off x="7077456" y="713232"/>
            <a:ext cx="621792" cy="621792"/>
          </a:xfrm>
          <a:prstGeom prst="ellipse">
            <a:avLst/>
          </a:prstGeom>
          <a:solidFill>
            <a:srgbClr val="7B61FF"/>
          </a:solidFill>
          <a:ln w="12700">
            <a:solidFill>
              <a:srgbClr val="7B61FF"/>
            </a:solidFill>
            <a:prstDash val="solid"/>
          </a:ln>
        </p:spPr>
      </p:sp>
      <p:sp>
        <p:nvSpPr>
          <p:cNvPr id="17" name="Text 15"/>
          <p:cNvSpPr/>
          <p:nvPr/>
        </p:nvSpPr>
        <p:spPr>
          <a:xfrm>
            <a:off x="7077456" y="713232"/>
            <a:ext cx="621792" cy="621792"/>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6181344" y="1426464"/>
            <a:ext cx="2450592" cy="475488"/>
          </a:xfrm>
          <a:prstGeom prst="rect">
            <a:avLst/>
          </a:prstGeom>
          <a:noFill/>
          <a:ln/>
        </p:spPr>
        <p:txBody>
          <a:bodyPr wrap="square" rtlCol="0" anchor="ctr"/>
          <a:lstStyle/>
          <a:p>
            <a:pPr marL="0" indent="0" algn="ctr">
              <a:buNone/>
            </a:pPr>
            <a:r>
              <a:rPr lang="en-US" sz="1400" b="1" dirty="0">
                <a:solidFill>
                  <a:srgbClr val="7B61FF"/>
                </a:solidFill>
                <a:latin typeface="Cambria" pitchFamily="34" charset="0"/>
                <a:ea typeface="Cambria" pitchFamily="34" charset="-122"/>
                <a:cs typeface="Cambria" pitchFamily="34" charset="-120"/>
              </a:rPr>
              <a:t>Actionable Next</a:t>
            </a:r>
            <a:endParaRPr lang="en-US" sz="1400" dirty="0"/>
          </a:p>
          <a:p>
            <a:pPr marL="0" indent="0" algn="ctr">
              <a:buNone/>
            </a:pPr>
            <a:r>
              <a:rPr lang="en-US" sz="1400" b="1" dirty="0">
                <a:solidFill>
                  <a:srgbClr val="7B61FF"/>
                </a:solidFill>
                <a:latin typeface="Cambria" pitchFamily="34" charset="0"/>
                <a:ea typeface="Cambria" pitchFamily="34" charset="-122"/>
                <a:cs typeface="Cambria" pitchFamily="34" charset="-120"/>
              </a:rPr>
              <a:t>Questions</a:t>
            </a:r>
            <a:endParaRPr lang="en-US" sz="1400" dirty="0"/>
          </a:p>
        </p:txBody>
      </p:sp>
      <p:sp>
        <p:nvSpPr>
          <p:cNvPr id="19" name="Text 17"/>
          <p:cNvSpPr/>
          <p:nvPr/>
        </p:nvSpPr>
        <p:spPr>
          <a:xfrm>
            <a:off x="6208776" y="1956816"/>
            <a:ext cx="2395728" cy="1463040"/>
          </a:xfrm>
          <a:prstGeom prst="rect">
            <a:avLst/>
          </a:prstGeom>
          <a:noFill/>
          <a:ln/>
        </p:spPr>
        <p:txBody>
          <a:bodyPr wrap="square" rtlCol="0" anchor="t"/>
          <a:lstStyle/>
          <a:p>
            <a:pPr marL="0" indent="0" algn="ctr">
              <a:buNone/>
            </a:pPr>
            <a:r>
              <a:rPr lang="en-US" sz="1100" dirty="0">
                <a:solidFill>
                  <a:srgbClr val="FFFFFF"/>
                </a:solidFill>
                <a:latin typeface="Calibri" pitchFamily="34" charset="0"/>
                <a:ea typeface="Calibri" pitchFamily="34" charset="-122"/>
                <a:cs typeface="Calibri" pitchFamily="34" charset="-120"/>
              </a:rPr>
              <a:t>Contextual follow-up suggestions keep exploration going without starting over.</a:t>
            </a:r>
            <a:endParaRPr lang="en-US" sz="1100" dirty="0"/>
          </a:p>
        </p:txBody>
      </p:sp>
      <p:sp>
        <p:nvSpPr>
          <p:cNvPr id="20" name="Shape 18"/>
          <p:cNvSpPr/>
          <p:nvPr/>
        </p:nvSpPr>
        <p:spPr>
          <a:xfrm>
            <a:off x="457200" y="3611880"/>
            <a:ext cx="8229600" cy="0"/>
          </a:xfrm>
          <a:prstGeom prst="line">
            <a:avLst/>
          </a:prstGeom>
          <a:noFill/>
          <a:ln w="12700">
            <a:solidFill>
              <a:srgbClr val="1E3A5F"/>
            </a:solidFill>
            <a:prstDash val="solid"/>
          </a:ln>
        </p:spPr>
      </p:sp>
      <p:sp>
        <p:nvSpPr>
          <p:cNvPr id="29" name="Text 27"/>
          <p:cNvSpPr/>
          <p:nvPr/>
        </p:nvSpPr>
        <p:spPr>
          <a:xfrm>
            <a:off x="374904" y="4160520"/>
            <a:ext cx="8229600" cy="182880"/>
          </a:xfrm>
          <a:prstGeom prst="rect">
            <a:avLst/>
          </a:prstGeom>
          <a:noFill/>
          <a:ln/>
        </p:spPr>
        <p:txBody>
          <a:bodyPr wrap="square" rtlCol="0" anchor="ctr"/>
          <a:lstStyle/>
          <a:p>
            <a:pPr marL="0" indent="0" algn="ctr">
              <a:buNone/>
            </a:pPr>
            <a:r>
              <a:rPr lang="en-US" sz="1100" dirty="0">
                <a:solidFill>
                  <a:srgbClr val="A0B4CC"/>
                </a:solidFill>
                <a:latin typeface="Calibri" pitchFamily="34" charset="0"/>
                <a:ea typeface="Calibri" pitchFamily="34" charset="-122"/>
                <a:cs typeface="Calibri" pitchFamily="34" charset="-120"/>
              </a:rPr>
              <a:t>Thank you</a:t>
            </a:r>
            <a:endParaRPr lang="en-US" sz="1100" dirty="0"/>
          </a:p>
        </p:txBody>
      </p:sp>
      <p:sp>
        <p:nvSpPr>
          <p:cNvPr id="30" name="Text 28"/>
          <p:cNvSpPr/>
          <p:nvPr/>
        </p:nvSpPr>
        <p:spPr>
          <a:xfrm>
            <a:off x="8412480" y="4892040"/>
            <a:ext cx="640080" cy="182880"/>
          </a:xfrm>
          <a:prstGeom prst="rect">
            <a:avLst/>
          </a:prstGeom>
          <a:noFill/>
          <a:ln/>
        </p:spPr>
        <p:txBody>
          <a:bodyPr wrap="square" rtlCol="0" anchor="ctr"/>
          <a:lstStyle/>
          <a:p>
            <a:pPr marL="0" indent="0" algn="r">
              <a:buNone/>
            </a:pPr>
            <a:r>
              <a:rPr lang="en-US" sz="800" dirty="0">
                <a:solidFill>
                  <a:srgbClr val="AABBCC"/>
                </a:solidFill>
                <a:latin typeface="Calibri" pitchFamily="34" charset="0"/>
                <a:ea typeface="Calibri" pitchFamily="34" charset="-122"/>
                <a:cs typeface="Calibri" pitchFamily="34" charset="-120"/>
              </a:rPr>
              <a:t>13 / 13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2263</Words>
  <Application>Microsoft Office PowerPoint</Application>
  <PresentationFormat>On-screen Show (16:9)</PresentationFormat>
  <Paragraphs>392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Viet Nguyen</cp:lastModifiedBy>
  <cp:revision>2</cp:revision>
  <dcterms:created xsi:type="dcterms:W3CDTF">2026-09-05T06:32:00Z</dcterms:created>
  <dcterms:modified xsi:type="dcterms:W3CDTF">2026-09-05T06:45:57Z</dcterms:modified>
</cp:coreProperties>
</file>