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D215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2926080" cy="2926080"/>
          </a:xfrm>
          <a:prstGeom prst="ellipse">
            <a:avLst/>
          </a:prstGeom>
          <a:solidFill>
            <a:srgbClr val="00C2A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4480560"/>
            <a:ext cx="1463040" cy="1463040"/>
          </a:xfrm>
          <a:prstGeom prst="ellipse">
            <a:avLst/>
          </a:prstGeom>
          <a:solidFill>
            <a:srgbClr val="FF6B5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Course Assistant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Two-Stage RAG &amp; ReAct Agent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 Agent  •  Pinecone Two-Stage Retrieval  •  Multimodal Vision  •  Tavily Web Search  •  Voice Output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Engineer Course  |  Demo Session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Chatbot to Autonomous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answered questions. Workshop 4 reasons, retrieves, sees, and speaks.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502920" cy="502920"/>
          </a:xfrm>
          <a:prstGeom prst="ellipse">
            <a:avLst/>
          </a:prstGeom>
          <a:solidFill>
            <a:srgbClr val="D8E4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600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ChromaDB, basic ingestion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1965960"/>
            <a:ext cx="502920" cy="0"/>
          </a:xfrm>
          <a:prstGeom prst="line">
            <a:avLst/>
          </a:prstGeom>
          <a:noFill/>
          <a:ln w="25400">
            <a:solidFill>
              <a:srgbClr val="FF6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6002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Serverless + metadata filtering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569464"/>
            <a:ext cx="502920" cy="502920"/>
          </a:xfrm>
          <a:prstGeom prst="ellipse">
            <a:avLst/>
          </a:prstGeom>
          <a:solidFill>
            <a:srgbClr val="EAF7F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9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1371600" y="249631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dense search (top-5)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2862072"/>
            <a:ext cx="502920" cy="0"/>
          </a:xfrm>
          <a:prstGeom prst="line">
            <a:avLst/>
          </a:prstGeom>
          <a:noFill/>
          <a:ln w="25400">
            <a:solidFill>
              <a:srgbClr val="FF6B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49631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Two-stage: retrieve (k=15) → re-rank (top-5)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502920" cy="502920"/>
          </a:xfrm>
          <a:prstGeom prst="ellipse">
            <a:avLst/>
          </a:prstGeom>
          <a:solidFill>
            <a:srgbClr val="D8E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1371600" y="3392424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392424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tool-calling loop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3758184"/>
            <a:ext cx="502920" cy="0"/>
          </a:xfrm>
          <a:prstGeom prst="line">
            <a:avLst/>
          </a:prstGeom>
          <a:noFill/>
          <a:ln w="25400">
            <a:solidFill>
              <a:srgbClr val="FF6B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392424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 Agent (autonomous)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361688"/>
            <a:ext cx="502920" cy="502920"/>
          </a:xfrm>
          <a:prstGeom prst="ellipse">
            <a:avLst/>
          </a:prstGeom>
          <a:solidFill>
            <a:srgbClr val="EAF7F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61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1371600" y="4288536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6160" y="4288536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internal docs only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06640" y="4654296"/>
            <a:ext cx="502920" cy="0"/>
          </a:xfrm>
          <a:prstGeom prst="line">
            <a:avLst/>
          </a:prstGeom>
          <a:noFill/>
          <a:ln w="25400">
            <a:solidFill>
              <a:srgbClr val="FF6B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428853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Tavily web search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D8E4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1371600" y="51846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66160" y="518464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06640" y="5550408"/>
            <a:ext cx="502920" cy="0"/>
          </a:xfrm>
          <a:prstGeom prst="line">
            <a:avLst/>
          </a:prstGeom>
          <a:noFill/>
          <a:ln w="25400">
            <a:solidFill>
              <a:srgbClr val="FF6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518464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screenshot / diagram (Vision)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Assistant — Workshop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→ Vision / Agent → Tools → Knowledge Sources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663440" y="141732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D8E4FF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0" y="1490472"/>
            <a:ext cx="26517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(Text / Image)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0" y="1938528"/>
            <a:ext cx="274320" cy="256032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2212848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2286000"/>
            <a:ext cx="3566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 —  src/app.py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743200"/>
            <a:ext cx="274320" cy="256032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2743200"/>
            <a:ext cx="274320" cy="256032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30175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00C2A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30906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32735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diagram OCR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30175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6B5B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30906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CourseAgentRunner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32735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 loop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7800" y="3273552"/>
            <a:ext cx="320040" cy="20116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52958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3703320"/>
            <a:ext cx="274320" cy="256032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3703320"/>
            <a:ext cx="274320" cy="256032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39776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D215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4050792"/>
            <a:ext cx="3108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search_course_knowledge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39776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D215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21040" y="4050792"/>
            <a:ext cx="3017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Web Search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599432"/>
            <a:ext cx="274320" cy="256032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489204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252A66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496519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Retrieval  (k = 15)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5468112"/>
            <a:ext cx="274320" cy="256032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5742432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252A66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581558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bge-reranker-v2-m3  (top = 5)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892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PDFs: Assignments · Workshops · Guidelines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Assistant — Workshop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Retrieval: Retrieve &amp; Re-Rank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src/rag/vector_store.py — Pinecone Serverless + native inference re-ranking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37560" cy="2880360"/>
          </a:xfrm>
          <a:prstGeom prst="roundRect">
            <a:avLst>
              <a:gd name="adj" fmla="val 3175"/>
            </a:avLst>
          </a:prstGeom>
          <a:solidFill>
            <a:srgbClr val="D8E4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416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Chunk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parses PDFs/slides; VisionEngine (gpt-4o-mini) transcribes embedded screenshots. RecursiveCharacterTextSplitter chunks text, then headers (Document / Category / Code) are injected post-split.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13632" y="2930652"/>
            <a:ext cx="256032" cy="219456"/>
          </a:xfrm>
          <a:prstGeom prst="rightArrow">
            <a:avLst/>
          </a:prstGeom>
          <a:solidFill>
            <a:srgbClr val="FF6B5B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1600200"/>
            <a:ext cx="3337560" cy="2880360"/>
          </a:xfrm>
          <a:prstGeom prst="roundRect">
            <a:avLst>
              <a:gd name="adj" fmla="val 3175"/>
            </a:avLst>
          </a:prstGeom>
          <a:solidFill>
            <a:srgbClr val="EAF7F4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1828800"/>
            <a:ext cx="502920" cy="502920"/>
          </a:xfrm>
          <a:prstGeom prst="ellipse">
            <a:avLst/>
          </a:prstGeom>
          <a:solidFill>
            <a:srgbClr val="14163A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34840" y="2468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Retrieval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292608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Self-querying agent extracts query + optional category / doc_code. Pinecone dense vector search fetches an expanded candidate pool — fetch_k = 15 — to maximize recall.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71232" y="2930652"/>
            <a:ext cx="256032" cy="219456"/>
          </a:xfrm>
          <a:prstGeom prst="rightArrow">
            <a:avLst/>
          </a:prstGeom>
          <a:solidFill>
            <a:srgbClr val="FF6B5B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1600200"/>
            <a:ext cx="3337560" cy="2880360"/>
          </a:xfrm>
          <a:prstGeom prst="roundRect">
            <a:avLst>
              <a:gd name="adj" fmla="val 3175"/>
            </a:avLst>
          </a:prstGeom>
          <a:solidFill>
            <a:srgbClr val="FFE9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092440" y="1828800"/>
            <a:ext cx="502920" cy="502920"/>
          </a:xfrm>
          <a:prstGeom prst="ellipse">
            <a:avLst/>
          </a:prstGeom>
          <a:solidFill>
            <a:srgbClr val="14163A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92440" y="2468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Re-Rank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92440" y="292608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pc.inference.rerank applies the bge-reranker-v2-m3 cross-encoder over all 15 candidates, scoring true query–passage relevance and returning the Top 5 chunks.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precise, cross-document-safe context — grounded in the exact chunks the LLM cross-attended to.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Assistant — Workshop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ReAct Agent — Reasoning +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src/agent/agent_runner.py + tools.py — LangGraph create_react_agent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D215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what info is missing and which tool can supply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D2158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843784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843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7706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0906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search_course_knowledge (internal) or TavilySearch (external / live).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66674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D215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831336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581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07822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tool output — retrieved chunks or search snippets.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654296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D215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81888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74573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0657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a grounded reply and attaches source citations.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205740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1F2358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1671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search_course_knowledge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24963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Self-querying: query (English), category (all / assignments / workshops / guidelines), doc_code (e.g. assignment_10). Returns Top-5 re-ranked chunks.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10896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1F2358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2186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TavilySearch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35478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search for library changes, external docs, current events not covered internally. Optional — enabled only if TAVILY_API_KEY is set.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42519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00C2A8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389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  Bounded Sliding-Window Memory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473659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most recent 10 conversation turns — enough context for multi-turn follow-ups without runaway token cost.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Assistant — Workshop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Text: Vision &amp; Voice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src/engines/vision_engine.py  &amp;  src/engines/tts_engine.py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D8E4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Vision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091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a screenshot (error traceback, code, architecture diagram).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inspects the image with a Pydantic structured-output schema.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clean text description — debugging notes or diagram summary.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A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is appended to the user's prompt as augmented context before the agent runs.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EAF7F4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31520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Output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7091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synthesizes the agent's final answer into spoken audio.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 auto-detects the response language (EN / VI) for natural pronunciation.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filenames stay in the citation panel — never read aloud — for clean audio.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Auto-play toggle in the sidebar lets presenters hear responses hands-free.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Assistant — Workshop 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Experience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src/app.py — what the user actually sees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6949440" cy="365760"/>
          </a:xfrm>
          <a:prstGeom prst="roundRect">
            <a:avLst>
              <a:gd name="adj" fmla="val 20000"/>
            </a:avLst>
          </a:prstGeom>
          <a:solidFill>
            <a:srgbClr val="E4E7F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73352"/>
            <a:ext cx="128016" cy="12801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673352"/>
            <a:ext cx="128016" cy="128016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8" name="Shape 6"/>
          <p:cNvSpPr/>
          <p:nvPr/>
        </p:nvSpPr>
        <p:spPr>
          <a:xfrm>
            <a:off x="1335024" y="1673352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AI Application Engineer – Smart Assistant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0" y="2514600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D8E4FF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Assignment 10 requirements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F2F3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461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10 asks you to use Pinecone to embed a product catalog and retrieve the Top 3 most similar records for a query item using cosine similarity...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EAF7F4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Referenced Course Materials 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6583680" cy="502920"/>
          </a:xfrm>
          <a:prstGeom prst="roundRect">
            <a:avLst>
              <a:gd name="adj" fmla="val 50909"/>
            </a:avLst>
          </a:prstGeom>
          <a:solidFill>
            <a:srgbClr val="F2F3FA"/>
          </a:solidFill>
          <a:ln w="12700">
            <a:solidFill>
              <a:srgbClr val="D5D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07492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assignments, workshops, code errors, or external topics…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1600200"/>
            <a:ext cx="502920" cy="502920"/>
          </a:xfrm>
          <a:prstGeom prst="ellipse">
            <a:avLst/>
          </a:prstGeom>
          <a:solidFill>
            <a:srgbClr val="1F2358"/>
          </a:solidFill>
          <a:ln/>
        </p:spPr>
      </p:sp>
      <p:sp>
        <p:nvSpPr>
          <p:cNvPr id="19" name="Text 17"/>
          <p:cNvSpPr/>
          <p:nvPr/>
        </p:nvSpPr>
        <p:spPr>
          <a:xfrm>
            <a:off x="78181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8458200" y="15819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chat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18928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session state with sliding-window memory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18120" y="2496312"/>
            <a:ext cx="502920" cy="502920"/>
          </a:xfrm>
          <a:prstGeom prst="ellipse">
            <a:avLst/>
          </a:prstGeom>
          <a:solidFill>
            <a:srgbClr val="1F2358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8458200" y="247802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58200" y="2788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uploader for screenshots &amp; diagrams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18120" y="3392424"/>
            <a:ext cx="502920" cy="502920"/>
          </a:xfrm>
          <a:prstGeom prst="ellipse">
            <a:avLst/>
          </a:prstGeom>
          <a:solidFill>
            <a:srgbClr val="1F2358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8458200" y="33741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36850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panel with file + page numbers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18120" y="4288536"/>
            <a:ext cx="502920" cy="502920"/>
          </a:xfrm>
          <a:prstGeom prst="ellipse">
            <a:avLst/>
          </a:prstGeom>
          <a:solidFill>
            <a:srgbClr val="1F2358"/>
          </a:solidFill>
          <a:ln/>
        </p:spPr>
      </p:sp>
      <p:sp>
        <p:nvSpPr>
          <p:cNvPr id="31" name="Text 29"/>
          <p:cNvSpPr/>
          <p:nvPr/>
        </p:nvSpPr>
        <p:spPr>
          <a:xfrm>
            <a:off x="781812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8458200" y="42702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58200" y="458114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TTS + auto-play from the sidebar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18120" y="5184648"/>
            <a:ext cx="502920" cy="502920"/>
          </a:xfrm>
          <a:prstGeom prst="ellipse">
            <a:avLst/>
          </a:prstGeom>
          <a:solidFill>
            <a:srgbClr val="1F2358"/>
          </a:solidFill>
          <a:ln/>
        </p:spPr>
      </p:sp>
      <p:sp>
        <p:nvSpPr>
          <p:cNvPr id="35" name="Text 33"/>
          <p:cNvSpPr/>
          <p:nvPr/>
        </p:nvSpPr>
        <p:spPr>
          <a:xfrm>
            <a:off x="781812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210" dirty="0"/>
          </a:p>
        </p:txBody>
      </p:sp>
      <p:sp>
        <p:nvSpPr>
          <p:cNvPr id="36" name="Text 34"/>
          <p:cNvSpPr/>
          <p:nvPr/>
        </p:nvSpPr>
        <p:spPr>
          <a:xfrm>
            <a:off x="8458200" y="5166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58200" y="54772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Pinecone index &amp; retrieval pipeline state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Assistant — Workshop 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— core dependencies powering the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E3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96265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 &amp; chains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01421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 loop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langchain-tavily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506577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tool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E3D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0" y="196596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FF6B5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965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2651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296265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vision &amp; embeddings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703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0" y="401421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bge-reranker-v2-m3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0" y="506577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E3D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196596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6B6FD6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965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Retrieval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2651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Serverless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37960" y="296265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+ inference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3703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401421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slide parsing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506577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89720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E3D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418320" y="196596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1E9E86"/>
          </a:solidFill>
          <a:ln/>
        </p:spPr>
      </p:sp>
      <p:sp>
        <p:nvSpPr>
          <p:cNvPr id="33" name="Text 31"/>
          <p:cNvSpPr/>
          <p:nvPr/>
        </p:nvSpPr>
        <p:spPr>
          <a:xfrm>
            <a:off x="9418320" y="1965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18320" y="2651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418320" y="296265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18320" y="3703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+ langdetect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418320" y="401421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output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1832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pytest-mock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418320" y="506577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e2e tests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Assistant — Workshop 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Script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scenarios showing every capability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1D215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deliverables for Assignment 10?”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search_course_knowledge → Pinecone retrieve (k=15) → re-rank (top=5) → cites source PDF + page.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1D2158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180136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4231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changed in the latest LangGraph release?”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recognizes internal docs won't help → falls back to TavilySearch for current info.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1D215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6B6FD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Vision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8006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Python traceback screenshot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2120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VisionEngine (gpt-4o-mini) reads the error → augments the prompt → agent explains the fix.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977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1D215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0" y="417880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+ Voice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48006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 referencing the previous answer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52120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memory keeps last 10 turns; final answer is read aloud via gTTS.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Assistant — Workshop 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1D215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280160"/>
            <a:ext cx="3840480" cy="3840480"/>
          </a:xfrm>
          <a:prstGeom prst="ellipse">
            <a:avLst/>
          </a:prstGeom>
          <a:solidFill>
            <a:srgbClr val="00C2A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the Workshop 4 Team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contributors, one autonomous course assistant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F235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83080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GiapHN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07568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&amp; document/OCR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F2358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783080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CuongTQ7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207568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 agent runner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F2358"/>
          </a:solidFill>
          <a:ln/>
        </p:spPr>
      </p:sp>
      <p:sp>
        <p:nvSpPr>
          <p:cNvPr id="13" name="Text 11"/>
          <p:cNvSpPr/>
          <p:nvPr/>
        </p:nvSpPr>
        <p:spPr>
          <a:xfrm>
            <a:off x="8339328" y="1783080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DungPQ6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39328" y="207568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Vision engine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F235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743200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AnNPH5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303580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2651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F2358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2743200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LocNTH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44568" y="303580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 &amp; self-querying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0" y="2651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F2358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2743200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ThangTP3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39328" y="303580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 &amp; demo questions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F2358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703320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TrucNLT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399592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e2e QA &amp; conversation logs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36118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F2358"/>
          </a:solidFill>
          <a:ln/>
        </p:spPr>
      </p:sp>
      <p:sp>
        <p:nvSpPr>
          <p:cNvPr id="28" name="Text 26"/>
          <p:cNvSpPr/>
          <p:nvPr/>
        </p:nvSpPr>
        <p:spPr>
          <a:xfrm>
            <a:off x="4544568" y="3703320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VietNQ32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44568" y="399592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slides &amp; presentation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36118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F2358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3703320"/>
            <a:ext cx="316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ThanhVD7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9328" y="3995928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integration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800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&amp; Live Demo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Assistant — Workshop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2026-08-23T08:49:42Z</dcterms:created>
  <dcterms:modified xsi:type="dcterms:W3CDTF">2026-08-23T08:49:42Z</dcterms:modified>
</cp:coreProperties>
</file>